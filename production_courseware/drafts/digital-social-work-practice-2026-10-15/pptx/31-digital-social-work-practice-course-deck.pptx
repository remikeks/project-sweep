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56be8f1e804afb" /><Relationship Type="http://schemas.openxmlformats.org/officeDocument/2006/relationships/extended-properties" Target="/docProps/app.xml" Id="Rd805175ae46b4df6" /><Relationship Type="http://schemas.openxmlformats.org/officeDocument/2006/relationships/officeDocument" Target="/ppt/presentation.xml" Id="R2a0473d42e5e4211" /></Relationships>
</file>

<file path=ppt/presentation.xml><?xml version="1.0" encoding="utf-8"?>
<p:presentation xmlns:p="http://schemas.openxmlformats.org/presentationml/2006/main">
  <p:sldMasterIdLst>
    <p:sldMasterId xmlns:r="http://schemas.openxmlformats.org/officeDocument/2006/relationships" id="2147483648" r:id="R6dbcbb131d3a4a06"/>
  </p:sldMasterIdLst>
  <p:notesMasterIdLst>
    <p:notesMasterId xmlns:r="http://schemas.openxmlformats.org/officeDocument/2006/relationships" r:id="R1c6e617e9c3e44fe"/>
  </p:notesMasterIdLst>
  <p:sldIdLst>
    <p:sldId xmlns:r="http://schemas.openxmlformats.org/officeDocument/2006/relationships" id="256" r:id="Rba05d75d6bc84e24"/>
    <p:sldId xmlns:r="http://schemas.openxmlformats.org/officeDocument/2006/relationships" id="257" r:id="R7f2d55329a7e4b3d"/>
    <p:sldId xmlns:r="http://schemas.openxmlformats.org/officeDocument/2006/relationships" id="258" r:id="Rf266ebb0a5c44390"/>
    <p:sldId xmlns:r="http://schemas.openxmlformats.org/officeDocument/2006/relationships" id="259" r:id="R3d90cd157819410c"/>
    <p:sldId xmlns:r="http://schemas.openxmlformats.org/officeDocument/2006/relationships" id="260" r:id="R3a3ed402df0e48b2"/>
    <p:sldId xmlns:r="http://schemas.openxmlformats.org/officeDocument/2006/relationships" id="261" r:id="R2c6cd9b5abd14e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01c6a7e6194b85" /><Relationship Type="http://schemas.openxmlformats.org/officeDocument/2006/relationships/slideMaster" Target="/ppt/slideMasters/slideMaster1.xml" Id="R6dbcbb131d3a4a06" /><Relationship Type="http://schemas.openxmlformats.org/officeDocument/2006/relationships/notesMaster" Target="/ppt/notesMasters/notesMaster1.xml" Id="R1c6e617e9c3e44fe" /><Relationship Type="http://schemas.openxmlformats.org/officeDocument/2006/relationships/presProps" Target="/ppt/presProps.xml" Id="R8b441034d03a482c" /><Relationship Type="http://schemas.openxmlformats.org/officeDocument/2006/relationships/tableStyles" Target="/ppt/tableStyles.xml" Id="R4622c3f730154d97" /><Relationship Type="http://schemas.openxmlformats.org/officeDocument/2006/relationships/slide" Target="/ppt/slides/slide1.xml" Id="Rba05d75d6bc84e24" /><Relationship Type="http://schemas.openxmlformats.org/officeDocument/2006/relationships/slide" Target="/ppt/slides/slide2.xml" Id="R7f2d55329a7e4b3d" /><Relationship Type="http://schemas.openxmlformats.org/officeDocument/2006/relationships/slide" Target="/ppt/slides/slide3.xml" Id="Rf266ebb0a5c44390" /><Relationship Type="http://schemas.openxmlformats.org/officeDocument/2006/relationships/slide" Target="/ppt/slides/slide4.xml" Id="R3d90cd157819410c" /><Relationship Type="http://schemas.openxmlformats.org/officeDocument/2006/relationships/slide" Target="/ppt/slides/slide5.xml" Id="R3a3ed402df0e48b2" /><Relationship Type="http://schemas.openxmlformats.org/officeDocument/2006/relationships/slide" Target="/ppt/slides/slide6.xml" Id="R2c6cd9b5abd14e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958b2191af4d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a4cd1e52e44c2d" /><Relationship Type="http://schemas.openxmlformats.org/officeDocument/2006/relationships/notesMaster" Target="/ppt/notesMasters/notesMaster1.xml" Id="Rf4ea3a0a30c94a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2e8953c7664e32" /><Relationship Type="http://schemas.openxmlformats.org/officeDocument/2006/relationships/notesMaster" Target="/ppt/notesMasters/notesMaster1.xml" Id="Rc0b8dc9c64fd4d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c3ca4e2051401e" /><Relationship Type="http://schemas.openxmlformats.org/officeDocument/2006/relationships/notesMaster" Target="/ppt/notesMasters/notesMaster1.xml" Id="R00fbfcee5c8e43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7ea23ff97c4a1a" /><Relationship Type="http://schemas.openxmlformats.org/officeDocument/2006/relationships/notesMaster" Target="/ppt/notesMasters/notesMaster1.xml" Id="R01f1ed51b44d40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0bab4ab5714027" /><Relationship Type="http://schemas.openxmlformats.org/officeDocument/2006/relationships/notesMaster" Target="/ppt/notesMasters/notesMaster1.xml" Id="Rdf4302f63d7d40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8206a18c9f4511" /><Relationship Type="http://schemas.openxmlformats.org/officeDocument/2006/relationships/notesMaster" Target="/ppt/notesMasters/notesMaster1.xml" Id="R0d5ec7029fe140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23455d54a446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4379e8fe1149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05fe11559b49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8c69e3de3c44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719543645547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a59f59efab48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E372E1-69A5-46AC-9BC1-41533145E4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0E0250-D0F5-4DC4-AC1D-7F11E58E1B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778F72-5905-4E62-AD03-BEE678F570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59CCDC-BC20-4F34-B3A9-4ACAF79583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ED444A-B449-485B-B117-48A4538EAC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5D61D8-B702-4678-AA04-29815C9EEC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0759A7-56DA-410E-936F-0A174327BD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ECD9F1-4275-4ADB-9213-C1954FF971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FB017C-5945-4DCF-8B37-501FC04648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C99C02-FD6E-464D-9DBD-7F0D64A511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11125b1bfc4a8b" /><Relationship Type="http://schemas.openxmlformats.org/officeDocument/2006/relationships/slideLayout" Target="/ppt/slideLayouts/slideLayout1.xml" Id="R4f43f1d15e9340c5" /><Relationship Type="http://schemas.openxmlformats.org/officeDocument/2006/relationships/slideLayout" Target="/ppt/slideLayouts/slideLayout2.xml" Id="R34f5a365aa7c4899" /><Relationship Type="http://schemas.openxmlformats.org/officeDocument/2006/relationships/slideLayout" Target="/ppt/slideLayouts/slideLayout3.xml" Id="R4abfbf3f9e3f4a31" /><Relationship Type="http://schemas.openxmlformats.org/officeDocument/2006/relationships/slideLayout" Target="/ppt/slideLayouts/slideLayout4.xml" Id="R7ffa8c08683a4aa5" /><Relationship Type="http://schemas.openxmlformats.org/officeDocument/2006/relationships/slideLayout" Target="/ppt/slideLayouts/slideLayout5.xml" Id="Rbc4ab3ffdeee4ee7" /><Relationship Type="http://schemas.openxmlformats.org/officeDocument/2006/relationships/slideLayout" Target="/ppt/slideLayouts/slideLayout6.xml" Id="Rca7083c5b37a48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43f1d15e9340c5"/>
    <p:sldLayoutId xmlns:r="http://schemas.openxmlformats.org/officeDocument/2006/relationships" id="2147483650" r:id="R34f5a365aa7c4899"/>
    <p:sldLayoutId xmlns:r="http://schemas.openxmlformats.org/officeDocument/2006/relationships" id="2147483651" r:id="R4abfbf3f9e3f4a31"/>
    <p:sldLayoutId xmlns:r="http://schemas.openxmlformats.org/officeDocument/2006/relationships" id="2147483652" r:id="R7ffa8c08683a4aa5"/>
    <p:sldLayoutId xmlns:r="http://schemas.openxmlformats.org/officeDocument/2006/relationships" id="2147483653" r:id="Rbc4ab3ffdeee4ee7"/>
    <p:sldLayoutId xmlns:r="http://schemas.openxmlformats.org/officeDocument/2006/relationships" id="2147483654" r:id="Rca7083c5b37a48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ae5bde94944089" /><Relationship Type="http://schemas.openxmlformats.org/officeDocument/2006/relationships/image" Target="/ppt/media/image.png" Id="Rb5af9e89ee484c32" /><Relationship Type="http://schemas.openxmlformats.org/officeDocument/2006/relationships/notesSlide" Target="/ppt/notesSlides/notesSlide1.xml" Id="Re7dfa1c31a7b42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d63bcec20146f7" /><Relationship Type="http://schemas.openxmlformats.org/officeDocument/2006/relationships/notesSlide" Target="/ppt/notesSlides/notesSlide2.xml" Id="R0b831f514a0243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0d7c192ae04192" /><Relationship Type="http://schemas.openxmlformats.org/officeDocument/2006/relationships/notesSlide" Target="/ppt/notesSlides/notesSlide3.xml" Id="Ra793159314ef4c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45fc1879274651" /><Relationship Type="http://schemas.openxmlformats.org/officeDocument/2006/relationships/notesSlide" Target="/ppt/notesSlides/notesSlide4.xml" Id="R74566deced4446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9772b003ff437b" /><Relationship Type="http://schemas.openxmlformats.org/officeDocument/2006/relationships/notesSlide" Target="/ppt/notesSlides/notesSlide5.xml" Id="Rbeec9f6d26744e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d0e44893be4418" /><Relationship Type="http://schemas.openxmlformats.org/officeDocument/2006/relationships/notesSlide" Target="/ppt/notesSlides/notesSlide6.xml" Id="R33f5c56fe1a44e54"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E972C10-8E37-4A9A-B519-8741917CF7B7}"/>
              </a:ext>
            </a:extLst>
          </p:cNvPr>
          <p:cNvPicPr>
            <a:picLocks xmlns:a="http://schemas.openxmlformats.org/drawingml/2006/main" noChangeAspect="1"/>
          </p:cNvPicPr>
          <p:nvPr/>
        </p:nvPicPr>
        <p:blipFill>
          <a:blip xmlns:r="http://schemas.openxmlformats.org/officeDocument/2006/relationships" xmlns:a="http://schemas.openxmlformats.org/drawingml/2006/main" r:embed="Rb5af9e89ee484c3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C3D263-6B6D-4FF7-94E0-3D625C1A6D21}"/>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Digital Social Work Practice</a:t>
            </a:r>
          </a:p>
        </p:txBody>
      </p:sp>
      <p:sp>
        <p:nvSpPr>
          <p:cNvPr id="3" name="">
            <a:extLst xmlns:a="http://schemas.openxmlformats.org/drawingml/2006/main">
              <a:ext uri="{FF2B5EF4-FFF2-40B4-BE49-F238E27FC236}">
                <a16:creationId xmlns:a16="http://schemas.microsoft.com/office/drawing/2014/main" id="{DABE0E97-B433-4931-A865-078D928E792A}"/>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FFFFFF"/>
                </a:solidFill>
                <a:latin typeface="Arial"/>
                <a:ea typeface="Arial"/>
                <a:cs typeface="Arial"/>
              </a:defRPr>
            </a:defPPr>
          </a:lstStyle>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Community &amp; Macro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SWP-031</a:t>
            </a:r>
          </a:p>
        </p:txBody>
      </p:sp>
      <p:sp>
        <p:nvSpPr>
          <p:cNvPr id="4" name="">
            <a:extLst xmlns:a="http://schemas.openxmlformats.org/drawingml/2006/main">
              <a:ext uri="{FF2B5EF4-FFF2-40B4-BE49-F238E27FC236}">
                <a16:creationId xmlns:a16="http://schemas.microsoft.com/office/drawing/2014/main" id="{18E5DAE3-FACD-4BEF-AFA6-B5A8A67897D3}"/>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559359923"/>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640DDB-BDA6-410F-91A6-AF7C403E48CA}"/>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defPPr>
              <a:defRPr sz="2850" b="1">
                <a:solidFill>
                  <a:srgbClr val="0B2C7A"/>
                </a:solidFill>
                <a:latin typeface="Arial"/>
                <a:ea typeface="Arial"/>
                <a:cs typeface="Arial"/>
              </a:defRPr>
            </a:defPPr>
          </a:lstStyle>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2246C61A-1726-4B1A-86B7-A8A703585533}"/>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400" b="1">
                <a:solidFill>
                  <a:srgbClr val="17223B"/>
                </a:solidFill>
                <a:latin typeface="Arial"/>
                <a:ea typeface="Arial"/>
                <a:cs typeface="Arial"/>
              </a:defRPr>
            </a:defPPr>
          </a:lstStyle>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Use digital tools and digital service channels in ways that advance access, protect privacy, and preserve accountable human professional judgement.</a:t>
            </a:r>
          </a:p>
        </p:txBody>
      </p:sp>
      <p:sp>
        <p:nvSpPr>
          <p:cNvPr id="3" name="">
            <a:extLst xmlns:a="http://schemas.openxmlformats.org/drawingml/2006/main">
              <a:ext uri="{FF2B5EF4-FFF2-40B4-BE49-F238E27FC236}">
                <a16:creationId xmlns:a16="http://schemas.microsoft.com/office/drawing/2014/main" id="{CDC294A9-6802-4D1C-A2C5-C8F8B5858235}"/>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01C59C2D-911B-4BCE-83BA-DC5DFBC7C2FC}"/>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a:solidFill>
                  <a:srgbClr val="17223B"/>
                </a:solidFill>
                <a:latin typeface="Arial"/>
                <a:ea typeface="Arial"/>
                <a:cs typeface="Arial"/>
              </a:defRPr>
            </a:defPPr>
          </a:lstStyle>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7BCE8FCE-47F0-4062-B16B-56784015255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SWP-031   SWEEP Academy</a:t>
            </a:r>
          </a:p>
        </p:txBody>
      </p:sp>
      <p:sp>
        <p:nvSpPr>
          <p:cNvPr id="6" name="">
            <a:extLst xmlns:a="http://schemas.openxmlformats.org/drawingml/2006/main">
              <a:ext uri="{FF2B5EF4-FFF2-40B4-BE49-F238E27FC236}">
                <a16:creationId xmlns:a16="http://schemas.microsoft.com/office/drawing/2014/main" id="{157B81CA-ABC0-4D6B-8212-F304E1716B2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494997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481BAD-3195-4ADA-97AD-43CAF565881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2C7D9B2C-CC98-4FF0-820C-0F5594B54E26}"/>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Digital inclusion and service design</a:t>
            </a:r>
          </a:p>
        </p:txBody>
      </p:sp>
      <p:sp>
        <p:nvSpPr>
          <p:cNvPr id="3" name="">
            <a:extLst xmlns:a="http://schemas.openxmlformats.org/drawingml/2006/main">
              <a:ext uri="{FF2B5EF4-FFF2-40B4-BE49-F238E27FC236}">
                <a16:creationId xmlns:a16="http://schemas.microsoft.com/office/drawing/2014/main" id="{3E133589-E197-4827-AFCC-66D58E0D4395}"/>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digital exclusion, accessibility, participation, community co-design, device and connectivity constraints, and non-digital alternatives</a:t>
            </a:r>
          </a:p>
        </p:txBody>
      </p:sp>
      <p:sp>
        <p:nvSpPr>
          <p:cNvPr id="4" name="">
            <a:extLst xmlns:a="http://schemas.openxmlformats.org/drawingml/2006/main">
              <a:ext uri="{FF2B5EF4-FFF2-40B4-BE49-F238E27FC236}">
                <a16:creationId xmlns:a16="http://schemas.microsoft.com/office/drawing/2014/main" id="{CF4FD9DD-5C8F-467C-B87B-ACF33353DFA2}"/>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digital exclusion, accessibility, participation, community co-design, device and connectivity constraints, and non-digital alternatives.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0740F79D-9611-48FE-8C4D-C406559F32F2}"/>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27A92240-75E6-4543-9E80-D54625FA4A6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SWP-031   SWEEP Academy</a:t>
            </a:r>
          </a:p>
        </p:txBody>
      </p:sp>
      <p:sp>
        <p:nvSpPr>
          <p:cNvPr id="7" name="">
            <a:extLst xmlns:a="http://schemas.openxmlformats.org/drawingml/2006/main">
              <a:ext uri="{FF2B5EF4-FFF2-40B4-BE49-F238E27FC236}">
                <a16:creationId xmlns:a16="http://schemas.microsoft.com/office/drawing/2014/main" id="{CC6D0F5E-B293-4616-BD2C-FCD2CD2510A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8085164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7EE0EA-E087-4D0A-B30D-370D2DF2D7F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5FD98185-C7FA-46A7-8201-9AB63B1964A2}"/>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Information governance and secure practice</a:t>
            </a:r>
          </a:p>
        </p:txBody>
      </p:sp>
      <p:sp>
        <p:nvSpPr>
          <p:cNvPr id="3" name="">
            <a:extLst xmlns:a="http://schemas.openxmlformats.org/drawingml/2006/main">
              <a:ext uri="{FF2B5EF4-FFF2-40B4-BE49-F238E27FC236}">
                <a16:creationId xmlns:a16="http://schemas.microsoft.com/office/drawing/2014/main" id="{067187A9-8BBB-480F-B1C9-C37AFBCACFF5}"/>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purpose limitation, informed consent, minimum necessary information, secure communication, records, retention, incident reporting, and local legal requirements</a:t>
            </a:r>
          </a:p>
        </p:txBody>
      </p:sp>
      <p:sp>
        <p:nvSpPr>
          <p:cNvPr id="4" name="">
            <a:extLst xmlns:a="http://schemas.openxmlformats.org/drawingml/2006/main">
              <a:ext uri="{FF2B5EF4-FFF2-40B4-BE49-F238E27FC236}">
                <a16:creationId xmlns:a16="http://schemas.microsoft.com/office/drawing/2014/main" id="{40378398-219B-45F2-836E-3917E61FCB6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purpose limitation, informed consent, minimum necessary information, secure communication, records, retention, incident reporting, and local legal requirements.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0CBA579-D614-4177-BC7D-03FEF8411D62}"/>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2C87A622-AC6B-4291-965E-015C72E93D5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SWP-031   SWEEP Academy</a:t>
            </a:r>
          </a:p>
        </p:txBody>
      </p:sp>
      <p:sp>
        <p:nvSpPr>
          <p:cNvPr id="7" name="">
            <a:extLst xmlns:a="http://schemas.openxmlformats.org/drawingml/2006/main">
              <a:ext uri="{FF2B5EF4-FFF2-40B4-BE49-F238E27FC236}">
                <a16:creationId xmlns:a16="http://schemas.microsoft.com/office/drawing/2014/main" id="{E07FBAE7-EC36-460C-8D17-B095C385105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8600680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1A0B2E-2C7E-4D5E-8827-37397036DC0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6B4234B3-C998-4479-9DD9-80D93AA92AF5}"/>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Telepractice, AI, and professional accountability</a:t>
            </a:r>
          </a:p>
        </p:txBody>
      </p:sp>
      <p:sp>
        <p:nvSpPr>
          <p:cNvPr id="3" name="">
            <a:extLst xmlns:a="http://schemas.openxmlformats.org/drawingml/2006/main">
              <a:ext uri="{FF2B5EF4-FFF2-40B4-BE49-F238E27FC236}">
                <a16:creationId xmlns:a16="http://schemas.microsoft.com/office/drawing/2014/main" id="{BE56C7E8-F788-4A1A-B7ED-E706B2960B7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role and boundary setting, suitability and risk checks, bias and error awareness, human review, transparency, documentation, supervision, and escalation</a:t>
            </a:r>
          </a:p>
        </p:txBody>
      </p:sp>
      <p:sp>
        <p:nvSpPr>
          <p:cNvPr id="4" name="">
            <a:extLst xmlns:a="http://schemas.openxmlformats.org/drawingml/2006/main">
              <a:ext uri="{FF2B5EF4-FFF2-40B4-BE49-F238E27FC236}">
                <a16:creationId xmlns:a16="http://schemas.microsoft.com/office/drawing/2014/main" id="{AD4E8670-2228-4F27-B534-1F857F433051}"/>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role and boundary setting, suitability and risk checks, bias and error awareness, human review, transparency, documentation, supervision, and escalation.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A1818C4D-E275-42A8-84B6-DF9264112C1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B3076FC-E4BA-4081-91F6-0073190DFF6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SWP-031   SWEEP Academy</a:t>
            </a:r>
          </a:p>
        </p:txBody>
      </p:sp>
      <p:sp>
        <p:nvSpPr>
          <p:cNvPr id="7" name="">
            <a:extLst xmlns:a="http://schemas.openxmlformats.org/drawingml/2006/main">
              <a:ext uri="{FF2B5EF4-FFF2-40B4-BE49-F238E27FC236}">
                <a16:creationId xmlns:a16="http://schemas.microsoft.com/office/drawing/2014/main" id="{7A7B7608-1469-4F13-9123-BA91CE7F143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537048560"/>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64DD8D-B2BD-4A1E-BB2B-43B160BDC3F7}"/>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700" b="1">
                <a:solidFill>
                  <a:srgbClr val="0B2C7A"/>
                </a:solidFill>
                <a:latin typeface="Arial"/>
                <a:ea typeface="Arial"/>
                <a:cs typeface="Arial"/>
              </a:defRPr>
            </a:defPPr>
          </a:lstStyle>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C15DBA74-2056-4897-89E9-61FBB60DB387}"/>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17223B"/>
                </a:solidFill>
                <a:latin typeface="Arial"/>
                <a:ea typeface="Arial"/>
                <a:cs typeface="Arial"/>
              </a:defRPr>
            </a:defPPr>
          </a:lstStyle>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3D6737C4-9EDF-47F4-8F24-0870433D71CB}"/>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defPPr>
              <a:defRPr sz="1650" b="1">
                <a:solidFill>
                  <a:srgbClr val="4C8B1D"/>
                </a:solidFill>
                <a:latin typeface="Arial"/>
                <a:ea typeface="Arial"/>
                <a:cs typeface="Arial"/>
              </a:defRPr>
            </a:defPPr>
          </a:lstStyle>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F5A6349D-04CE-4D49-AD44-2A1F59FF48D5}"/>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974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digital inclusion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informed consent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minimum necessary information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secure communication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5. AI-assisted practice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6. human oversight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7. accountability</a:t>
            </a:r>
          </a:p>
        </p:txBody>
      </p:sp>
      <p:sp>
        <p:nvSpPr>
          <p:cNvPr id="5" name="">
            <a:extLst xmlns:a="http://schemas.openxmlformats.org/drawingml/2006/main">
              <a:ext uri="{FF2B5EF4-FFF2-40B4-BE49-F238E27FC236}">
                <a16:creationId xmlns:a16="http://schemas.microsoft.com/office/drawing/2014/main" id="{5304198D-D596-429B-8DA8-A4E1C885D649}"/>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1">
                <a:solidFill>
                  <a:srgbClr val="F5A400"/>
                </a:solidFill>
                <a:latin typeface="Arial"/>
                <a:ea typeface="Arial"/>
                <a:cs typeface="Arial"/>
              </a:defRPr>
            </a:defPPr>
          </a:lstStyle>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926A46FA-0EA1-4182-ADE5-E0E80E354E1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SWP-031   SWEEP Academy</a:t>
            </a:r>
          </a:p>
        </p:txBody>
      </p:sp>
      <p:sp>
        <p:nvSpPr>
          <p:cNvPr id="7" name="">
            <a:extLst xmlns:a="http://schemas.openxmlformats.org/drawingml/2006/main">
              <a:ext uri="{FF2B5EF4-FFF2-40B4-BE49-F238E27FC236}">
                <a16:creationId xmlns:a16="http://schemas.microsoft.com/office/drawing/2014/main" id="{30A2A2B8-462E-4298-BAD5-E4BE9A98FC7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513870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2026-10-15T11:18:01.3830000Z</dcterms:created>
  <dcterms:modified xsi:type="dcterms:W3CDTF">2026-10-15T11:18:01.3840000Z</dcterms:modified>
</coreProperties>
</file>