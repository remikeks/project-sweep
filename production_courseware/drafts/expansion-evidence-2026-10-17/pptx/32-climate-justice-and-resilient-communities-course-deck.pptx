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ccb0eac83c4336" /><Relationship Type="http://schemas.openxmlformats.org/officeDocument/2006/relationships/extended-properties" Target="/docProps/app.xml" Id="R5d0342b8a91e4e4d" /><Relationship Type="http://schemas.openxmlformats.org/officeDocument/2006/relationships/officeDocument" Target="/ppt/presentation.xml" Id="Rcbc152a0ac7a443f" /></Relationships>
</file>

<file path=ppt/presentation.xml><?xml version="1.0" encoding="utf-8"?>
<p:presentation xmlns:p="http://schemas.openxmlformats.org/presentationml/2006/main">
  <p:sldMasterIdLst>
    <p:sldMasterId xmlns:r="http://schemas.openxmlformats.org/officeDocument/2006/relationships" id="2147483648" r:id="R18a9bd6840ba4bc7"/>
  </p:sldMasterIdLst>
  <p:notesMasterIdLst>
    <p:notesMasterId xmlns:r="http://schemas.openxmlformats.org/officeDocument/2006/relationships" r:id="Ra74628fd524d4ebb"/>
  </p:notesMasterIdLst>
  <p:sldIdLst>
    <p:sldId xmlns:r="http://schemas.openxmlformats.org/officeDocument/2006/relationships" id="256" r:id="R8188d074e53641c2"/>
    <p:sldId xmlns:r="http://schemas.openxmlformats.org/officeDocument/2006/relationships" id="257" r:id="R5a1e77e91c804d40"/>
    <p:sldId xmlns:r="http://schemas.openxmlformats.org/officeDocument/2006/relationships" id="258" r:id="R9d85a54cd7ae42fa"/>
    <p:sldId xmlns:r="http://schemas.openxmlformats.org/officeDocument/2006/relationships" id="259" r:id="R602afa74b1cb4103"/>
    <p:sldId xmlns:r="http://schemas.openxmlformats.org/officeDocument/2006/relationships" id="260" r:id="Re45e7de90d214e93"/>
    <p:sldId xmlns:r="http://schemas.openxmlformats.org/officeDocument/2006/relationships" id="261" r:id="Rdd3b15e15b4e4c18"/>
    <p:sldId xmlns:r="http://schemas.openxmlformats.org/officeDocument/2006/relationships" id="262" r:id="R0e76bce65f344572"/>
    <p:sldId xmlns:r="http://schemas.openxmlformats.org/officeDocument/2006/relationships" id="263" r:id="Rb67340eabe474e89"/>
    <p:sldId xmlns:r="http://schemas.openxmlformats.org/officeDocument/2006/relationships" id="264" r:id="Rd795ede6de4846e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1ff219c7584b1f" /><Relationship Type="http://schemas.openxmlformats.org/officeDocument/2006/relationships/slideMaster" Target="/ppt/slideMasters/slideMaster1.xml" Id="R18a9bd6840ba4bc7" /><Relationship Type="http://schemas.openxmlformats.org/officeDocument/2006/relationships/notesMaster" Target="/ppt/notesMasters/notesMaster1.xml" Id="Ra74628fd524d4ebb" /><Relationship Type="http://schemas.openxmlformats.org/officeDocument/2006/relationships/presProps" Target="/ppt/presProps.xml" Id="R9ffd775d156b4331" /><Relationship Type="http://schemas.openxmlformats.org/officeDocument/2006/relationships/tableStyles" Target="/ppt/tableStyles.xml" Id="Raf08af51cf97405d" /><Relationship Type="http://schemas.openxmlformats.org/officeDocument/2006/relationships/slide" Target="/ppt/slides/slide1.xml" Id="R8188d074e53641c2" /><Relationship Type="http://schemas.openxmlformats.org/officeDocument/2006/relationships/slide" Target="/ppt/slides/slide2.xml" Id="R5a1e77e91c804d40" /><Relationship Type="http://schemas.openxmlformats.org/officeDocument/2006/relationships/slide" Target="/ppt/slides/slide3.xml" Id="R9d85a54cd7ae42fa" /><Relationship Type="http://schemas.openxmlformats.org/officeDocument/2006/relationships/slide" Target="/ppt/slides/slide4.xml" Id="R602afa74b1cb4103" /><Relationship Type="http://schemas.openxmlformats.org/officeDocument/2006/relationships/slide" Target="/ppt/slides/slide5.xml" Id="Re45e7de90d214e93" /><Relationship Type="http://schemas.openxmlformats.org/officeDocument/2006/relationships/slide" Target="/ppt/slides/slide6.xml" Id="Rdd3b15e15b4e4c18" /><Relationship Type="http://schemas.openxmlformats.org/officeDocument/2006/relationships/slide" Target="/ppt/slides/slide7.xml" Id="R0e76bce65f344572" /><Relationship Type="http://schemas.openxmlformats.org/officeDocument/2006/relationships/slide" Target="/ppt/slides/slide8.xml" Id="Rb67340eabe474e89" /><Relationship Type="http://schemas.openxmlformats.org/officeDocument/2006/relationships/slide" Target="/ppt/slides/slide9.xml" Id="Rd795ede6de4846e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5028d56234a47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71fb8ffb57b4d77" /><Relationship Type="http://schemas.openxmlformats.org/officeDocument/2006/relationships/notesMaster" Target="/ppt/notesMasters/notesMaster1.xml" Id="R268ab4e351fc42b3"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2bf2df70974bc6" /><Relationship Type="http://schemas.openxmlformats.org/officeDocument/2006/relationships/notesMaster" Target="/ppt/notesMasters/notesMaster1.xml" Id="Re324bc50d6e041a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19d1b61f8b84db8" /><Relationship Type="http://schemas.openxmlformats.org/officeDocument/2006/relationships/notesMaster" Target="/ppt/notesMasters/notesMaster1.xml" Id="R4e9a84490dc14d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b2d13745c547e4" /><Relationship Type="http://schemas.openxmlformats.org/officeDocument/2006/relationships/notesMaster" Target="/ppt/notesMasters/notesMaster1.xml" Id="R76e6b52ba8b44b71" /></Relationships>
</file>

<file path=ppt/notesSlides/_rels/notesSlide5.xml.rels>&#65279;<?xml version="1.0" encoding="utf-8"?><Relationships xmlns="http://schemas.openxmlformats.org/package/2006/relationships"><Relationship Type="http://schemas.openxmlformats.org/officeDocument/2006/relationships/slide" Target="/ppt/slides/slide5.xml" Id="Re06f491375ac496f" /><Relationship Type="http://schemas.openxmlformats.org/officeDocument/2006/relationships/notesMaster" Target="/ppt/notesMasters/notesMaster1.xml" Id="R1a449fe5f8a445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452e14ac8842f5" /><Relationship Type="http://schemas.openxmlformats.org/officeDocument/2006/relationships/notesMaster" Target="/ppt/notesMasters/notesMaster1.xml" Id="Rea1618177aa84866" /></Relationships>
</file>

<file path=ppt/notesSlides/_rels/notesSlide7.xml.rels>&#65279;<?xml version="1.0" encoding="utf-8"?><Relationships xmlns="http://schemas.openxmlformats.org/package/2006/relationships"><Relationship Type="http://schemas.openxmlformats.org/officeDocument/2006/relationships/slide" Target="/ppt/slides/slide7.xml" Id="R9259dc692e074eee" /><Relationship Type="http://schemas.openxmlformats.org/officeDocument/2006/relationships/notesMaster" Target="/ppt/notesMasters/notesMaster1.xml" Id="Rd77cc0b073064d36" /></Relationships>
</file>

<file path=ppt/notesSlides/_rels/notesSlide8.xml.rels>&#65279;<?xml version="1.0" encoding="utf-8"?><Relationships xmlns="http://schemas.openxmlformats.org/package/2006/relationships"><Relationship Type="http://schemas.openxmlformats.org/officeDocument/2006/relationships/slide" Target="/ppt/slides/slide8.xml" Id="R2535d42078294a3b" /><Relationship Type="http://schemas.openxmlformats.org/officeDocument/2006/relationships/notesMaster" Target="/ppt/notesMasters/notesMaster1.xml" Id="R7661e456b63140e7" /></Relationships>
</file>

<file path=ppt/notesSlides/_rels/notesSlide9.xml.rels>&#65279;<?xml version="1.0" encoding="utf-8"?><Relationships xmlns="http://schemas.openxmlformats.org/package/2006/relationships"><Relationship Type="http://schemas.openxmlformats.org/officeDocument/2006/relationships/slide" Target="/ppt/slides/slide9.xml" Id="Rc5930f5ffa5b4292" /><Relationship Type="http://schemas.openxmlformats.org/officeDocument/2006/relationships/notesMaster" Target="/ppt/notesMasters/notesMaster1.xml" Id="R849c952e7b74422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the physical hazard from who or what is exposed and the conditions that affect people's ability to respond. A flood map can help locate exposure but does not reveal every barrier to evacuation, income security or access to care. Combine appropriate technical information with residents' accounts. Record the source, date and uncertainty of each statement. Do not attribute a particular event to climate change without suitable specialist evidence.</a:t>
            </a:r>
          </a:p>
          <a:p xmlns:a="http://schemas.openxmlformats.org/drawingml/2006/main">
            <a:r>
              <a:t/>
            </a:r>
          </a:p>
          <a:p xmlns:a="http://schemas.openxmlformats.org/drawingml/2006/main">
            <a:r>
              <a:t>Map strengths alongside constraints: neighbours, local organisations, transport arrangements and knowledge can inform planning. Ask whose views are missing from meetings and offer accessible ways to contribute before choices are fixed. If relocation is discussed, investigate effects on livelihoods, services and relationships, as well as physical safety. Moving people is not in itself evidence that a fair or workable outcome has been achieved.</a:t>
            </a:r>
          </a:p>
          <a:p xmlns:a="http://schemas.openxmlformats.org/drawingml/2006/main">
            <a:r>
              <a:t/>
            </a:r>
          </a:p>
          <a:p xmlns:a="http://schemas.openxmlformats.org/drawingml/2006/main">
            <a:r>
              <a:t>A hazard map does not fully describe social risk: exposure, housing, livelihood dependence and capacity to respond can differ within the same area.</a:t>
            </a:r>
          </a:p>
          <a:p xmlns:a="http://schemas.openxmlformats.org/drawingml/2006/main">
            <a:r>
              <a:t/>
            </a:r>
          </a:p>
          <a:p xmlns:a="http://schemas.openxmlformats.org/drawingml/2006/main">
            <a:r>
              <a:t>Do not describe communities only through deficits; identify local knowledge, mutual support and resources alongside constraints.</a:t>
            </a:r>
          </a:p>
          <a:p xmlns:a="http://schemas.openxmlformats.org/drawingml/2006/main">
            <a:r>
              <a:t/>
            </a:r>
          </a:p>
          <a:p xmlns:a="http://schemas.openxmlformats.org/drawingml/2006/main">
            <a:r>
              <a:t>Displacement-related planning must consider access to livelihoods, services, relationships and meaningful participation; moving people is not itself proof of a just outcome.</a:t>
            </a:r>
          </a:p>
          <a:p xmlns:a="http://schemas.openxmlformats.org/drawingml/2006/main">
            <a:r>
              <a:t/>
            </a:r>
          </a:p>
          <a:p xmlns:a="http://schemas.openxmlformats.org/drawingml/2006/main">
            <a:r>
              <a:t>Participation records should identify whose perspectives are missing, not equate attendance with representation.</a:t>
            </a:r>
          </a:p>
          <a:p xmlns:a="http://schemas.openxmlformats.org/drawingml/2006/main">
            <a:r>
              <a:t/>
            </a:r>
          </a:p>
          <a:p xmlns:a="http://schemas.openxmlformats.org/drawingml/2006/main">
            <a:r>
              <a:t>Separate observed local impacts from explanations that need specialist evidence; avoid attributing every individual event to climate change without support.</a:t>
            </a:r>
          </a:p>
          <a:p xmlns:a="http://schemas.openxmlformats.org/drawingml/2006/main">
            <a:r>
              <a:t/>
            </a:r>
          </a:p>
          <a:p xmlns:a="http://schemas.openxmlformats.org/drawingml/2006/main">
            <a:r>
              <a:t>Cwikel, J. (2025). Social work for a greener planet: reframing social work skills and education to mitigate the climate crisis. Cogent Social Sciences. https://doi.org/10.1080/23311886.2024.2444469 Used for curricular relevance only, not evidence that a particular adaptation intervention works.</a:t>
            </a:r>
          </a:p>
          <a:p xmlns:a="http://schemas.openxmlformats.org/drawingml/2006/main">
            <a:r>
              <a:t/>
            </a:r>
          </a:p>
          <a:p xmlns:a="http://schemas.openxmlformats.org/drawingml/2006/main">
            <a:r>
              <a:t>IPCC (2023). AR6 Synthesis Report Summary for Policymakers. https://www.ipcc.ch/report/ar6/syr/summary-for-policymakers/ Not site-specific engineering advice or attribution of an individual local event.</a:t>
            </a:r>
          </a:p>
          <a:p xmlns:a="http://schemas.openxmlformats.org/drawingml/2006/main">
            <a:r>
              <a:t/>
            </a:r>
          </a:p>
          <a:p xmlns:a="http://schemas.openxmlformats.org/drawingml/2006/main">
            <a:r>
              <a:t>IFSW (2018). Global Social Work Statement of Ethical Principles. https://www.ifsw.org/global-social-work-statement-of-ethical-principles/ 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worked example: the project map shows two streets with similar flood exposure. Residents identify different transport access and work schedules. Planners record these differences and invite missing groups to discuss options rather than treating a single meeting as representative.</a:t>
            </a:r>
          </a:p>
          <a:p xmlns:a="http://schemas.openxmlformats.org/drawingml/2006/main">
            <a:r>
              <a:t/>
            </a:r>
          </a:p>
          <a:p xmlns:a="http://schemas.openxmlformats.org/drawingml/2006/main">
            <a:r>
              <a:t>The map includes both capacities and barriers, missing voices and source uncertainty. It avoids unsupported event attribution and does not equate attendance with representation.</a:t>
            </a:r>
          </a:p>
          <a:p xmlns:a="http://schemas.openxmlformats.org/drawingml/2006/main">
            <a:r>
              <a:t/>
            </a:r>
          </a:p>
          <a:p xmlns:a="http://schemas.openxmlformats.org/drawingml/2006/main">
            <a:r>
              <a:t>Separate the physical hazard from who or what is exposed and the conditions that affect people's ability to respond. A flood map can help locate exposure but does not reveal every barrier to evacuation, income security or access to care. Combine appropriate technical information with residents' accounts. Record the source, date and uncertainty of each statement. Do not attribute a particular event to climate change without suitable specialist evidence.</a:t>
            </a:r>
          </a:p>
          <a:p xmlns:a="http://schemas.openxmlformats.org/drawingml/2006/main">
            <a:r>
              <a:t/>
            </a:r>
          </a:p>
          <a:p xmlns:a="http://schemas.openxmlformats.org/drawingml/2006/main">
            <a:r>
              <a:t>Map strengths alongside constraints: neighbours, local organisations, transport arrangements and knowledge can inform planning. Ask whose views are missing from meetings and offer accessible ways to contribute before choices are fixed. If relocation is discussed, investigate effects on livelihoods, services and relationships, as well as physical safety. Moving people is not in itself evidence that a fair or workable outcome has been achieved.</a:t>
            </a:r>
          </a:p>
          <a:p xmlns:a="http://schemas.openxmlformats.org/drawingml/2006/main">
            <a:r>
              <a:t/>
            </a:r>
          </a:p>
          <a:p xmlns:a="http://schemas.openxmlformats.org/drawingml/2006/main">
            <a:r>
              <a:t>A hazard map does not fully describe social risk: exposure, housing, livelihood dependence and capacity to respond can differ within the same area.</a:t>
            </a:r>
          </a:p>
          <a:p xmlns:a="http://schemas.openxmlformats.org/drawingml/2006/main">
            <a:r>
              <a:t/>
            </a:r>
          </a:p>
          <a:p xmlns:a="http://schemas.openxmlformats.org/drawingml/2006/main">
            <a:r>
              <a:t>Do not describe communities only through deficits; identify local knowledge, mutual support and resources alongside constraints.</a:t>
            </a:r>
          </a:p>
          <a:p xmlns:a="http://schemas.openxmlformats.org/drawingml/2006/main">
            <a:r>
              <a:t/>
            </a:r>
          </a:p>
          <a:p xmlns:a="http://schemas.openxmlformats.org/drawingml/2006/main">
            <a:r>
              <a:t>Displacement-related planning must consider access to livelihoods, services, relationships and meaningful participation; moving people is not itself proof of a just outcome.</a:t>
            </a:r>
          </a:p>
          <a:p xmlns:a="http://schemas.openxmlformats.org/drawingml/2006/main">
            <a:r>
              <a:t/>
            </a:r>
          </a:p>
          <a:p xmlns:a="http://schemas.openxmlformats.org/drawingml/2006/main">
            <a:r>
              <a:t>Participation records should identify whose perspectives are missing, not equate attendance with representation.</a:t>
            </a:r>
          </a:p>
          <a:p xmlns:a="http://schemas.openxmlformats.org/drawingml/2006/main">
            <a:r>
              <a:t/>
            </a:r>
          </a:p>
          <a:p xmlns:a="http://schemas.openxmlformats.org/drawingml/2006/main">
            <a:r>
              <a:t>Separate observed local impacts from explanations that need specialist evidence; avoid attributing every individual event to climate change without support.</a:t>
            </a:r>
          </a:p>
          <a:p xmlns:a="http://schemas.openxmlformats.org/drawingml/2006/main">
            <a:r>
              <a:t/>
            </a:r>
          </a:p>
          <a:p xmlns:a="http://schemas.openxmlformats.org/drawingml/2006/main">
            <a:r>
              <a:t>Cwikel, J. (2025). Social work for a greener planet: reframing social work skills and education to mitigate the climate crisis. Cogent Social Sciences. https://doi.org/10.1080/23311886.2024.2444469 Used for curricular relevance only, not evidence that a particular adaptation intervention works.</a:t>
            </a:r>
          </a:p>
          <a:p xmlns:a="http://schemas.openxmlformats.org/drawingml/2006/main">
            <a:r>
              <a:t/>
            </a:r>
          </a:p>
          <a:p xmlns:a="http://schemas.openxmlformats.org/drawingml/2006/main">
            <a:r>
              <a:t>IPCC (2023). AR6 Synthesis Report Summary for Policymakers. https://www.ipcc.ch/report/ar6/syr/summary-for-policymakers/ Not site-specific engineering advice or attribution of an individual local event.</a:t>
            </a:r>
          </a:p>
          <a:p xmlns:a="http://schemas.openxmlformats.org/drawingml/2006/main">
            <a:r>
              <a:t/>
            </a:r>
          </a:p>
          <a:p xmlns:a="http://schemas.openxmlformats.org/drawingml/2006/main">
            <a:r>
              <a:t>IFSW (2018). Global Social Work Statement of Ethical Principles. https://www.ifsw.org/global-social-work-statement-of-ethical-principles/ 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Co-design requires room to change the proposal. Explain what decisions are still open, which constraints are real and who can authorise changes. Compare alternatives using agreed criteria such as accessibility, disruption, maintenance, responsible ownership and possible harm elsewhere. Do not reduce the comparison to initial cost or attendance at a consultation.</a:t>
            </a:r>
          </a:p>
          <a:p xmlns:a="http://schemas.openxmlformats.org/drawingml/2006/main">
            <a:r>
              <a:t/>
            </a:r>
          </a:p>
          <a:p xmlns:a="http://schemas.openxmlformats.org/drawingml/2006/main">
            <a:r>
              <a:t>An option that protects one location can impose burdens on another. Ask who may lose access, time or income and seek technical advice about effects beyond the site. Consider the operating life: a facility without a workable maintenance plan may not remain useful. When resident experience and technical advice differ, document the difference and investigate it. Neither automatic dismissal of local knowledge nor unsupported rejection of expertise provides a sound decision.</a:t>
            </a:r>
          </a:p>
          <a:p xmlns:a="http://schemas.openxmlformats.org/drawingml/2006/main">
            <a:r>
              <a:t/>
            </a:r>
          </a:p>
          <a:p xmlns:a="http://schemas.openxmlformats.org/drawingml/2006/main">
            <a:r>
              <a:t>Co-design begins while choices can still change; consultation after a fixed design offers limited influence.</a:t>
            </a:r>
          </a:p>
          <a:p xmlns:a="http://schemas.openxmlformats.org/drawingml/2006/main">
            <a:r>
              <a:t/>
            </a:r>
          </a:p>
          <a:p xmlns:a="http://schemas.openxmlformats.org/drawingml/2006/main">
            <a:r>
              <a:t>An adaptation option may reduce one risk while shifting burdens elsewhere; assess who benefits and who may be harmed.</a:t>
            </a:r>
          </a:p>
          <a:p xmlns:a="http://schemas.openxmlformats.org/drawingml/2006/main">
            <a:r>
              <a:t/>
            </a:r>
          </a:p>
          <a:p xmlns:a="http://schemas.openxmlformats.org/drawingml/2006/main">
            <a:r>
              <a:t>Accessible services need usable routes, communication and support; a nominal facility is not enough if intended users cannot reach or use it.</a:t>
            </a:r>
          </a:p>
          <a:p xmlns:a="http://schemas.openxmlformats.org/drawingml/2006/main">
            <a:r>
              <a:t/>
            </a:r>
          </a:p>
          <a:p xmlns:a="http://schemas.openxmlformats.org/drawingml/2006/main">
            <a:r>
              <a:t>Compare adaptation options over their operating life, including responsibility and resources for upkeep.</a:t>
            </a:r>
          </a:p>
          <a:p xmlns:a="http://schemas.openxmlformats.org/drawingml/2006/main">
            <a:r>
              <a:t/>
            </a:r>
          </a:p>
          <a:p xmlns:a="http://schemas.openxmlformats.org/drawingml/2006/main">
            <a:r>
              <a:t>Combine appropriate technical advice with community knowledge; conflicting accounts should prompt investigation rather than automatic dismissal.</a:t>
            </a:r>
          </a:p>
          <a:p xmlns:a="http://schemas.openxmlformats.org/drawingml/2006/main">
            <a:r>
              <a:t/>
            </a:r>
          </a:p>
          <a:p xmlns:a="http://schemas.openxmlformats.org/drawingml/2006/main">
            <a:r>
              <a:t>Cwikel, J. (2025). Social work for a greener planet: reframing social work skills and education to mitigate the climate crisis. Cogent Social Sciences. https://doi.org/10.1080/23311886.2024.2444469 Used for curricular relevance only, not evidence that a particular adaptation intervention works.</a:t>
            </a:r>
          </a:p>
          <a:p xmlns:a="http://schemas.openxmlformats.org/drawingml/2006/main">
            <a:r>
              <a:t/>
            </a:r>
          </a:p>
          <a:p xmlns:a="http://schemas.openxmlformats.org/drawingml/2006/main">
            <a:r>
              <a:t>IPCC (2023). AR6 Synthesis Report Summary for Policymakers. https://www.ipcc.ch/report/ar6/syr/summary-for-policymakers/ Not site-specific engineering advice or attribution of an individual local event.</a:t>
            </a:r>
          </a:p>
          <a:p xmlns:a="http://schemas.openxmlformats.org/drawingml/2006/main">
            <a:r>
              <a:t/>
            </a:r>
          </a:p>
          <a:p xmlns:a="http://schemas.openxmlformats.org/drawingml/2006/main">
            <a:r>
              <a:t>IFSW (2018). Global Social Work Statement of Ethical Principles. https://www.ifsw.org/global-social-work-statement-of-ethical-principles/ 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worked example: residents support the raised centre but identify an inaccessible approach route. The team revises the access design, checks its feasibility with qualified advisers and identifies responsibility for maintaining the route before treating the option as ready.</a:t>
            </a:r>
          </a:p>
          <a:p xmlns:a="http://schemas.openxmlformats.org/drawingml/2006/main">
            <a:r>
              <a:t/>
            </a:r>
          </a:p>
          <a:p xmlns:a="http://schemas.openxmlformats.org/drawingml/2006/main">
            <a:r>
              <a:t>The comparison explains trade-offs and who bears them, includes operating responsibilities, and leaves unresolved technical questions open rather than inventing answers.</a:t>
            </a:r>
          </a:p>
          <a:p xmlns:a="http://schemas.openxmlformats.org/drawingml/2006/main">
            <a:r>
              <a:t/>
            </a:r>
          </a:p>
          <a:p xmlns:a="http://schemas.openxmlformats.org/drawingml/2006/main">
            <a:r>
              <a:t>Co-design requires room to change the proposal. Explain what decisions are still open, which constraints are real and who can authorise changes. Compare alternatives using agreed criteria such as accessibility, disruption, maintenance, responsible ownership and possible harm elsewhere. Do not reduce the comparison to initial cost or attendance at a consultation.</a:t>
            </a:r>
          </a:p>
          <a:p xmlns:a="http://schemas.openxmlformats.org/drawingml/2006/main">
            <a:r>
              <a:t/>
            </a:r>
          </a:p>
          <a:p xmlns:a="http://schemas.openxmlformats.org/drawingml/2006/main">
            <a:r>
              <a:t>An option that protects one location can impose burdens on another. Ask who may lose access, time or income and seek technical advice about effects beyond the site. Consider the operating life: a facility without a workable maintenance plan may not remain useful. When resident experience and technical advice differ, document the difference and investigate it. Neither automatic dismissal of local knowledge nor unsupported rejection of expertise provides a sound decision.</a:t>
            </a:r>
          </a:p>
          <a:p xmlns:a="http://schemas.openxmlformats.org/drawingml/2006/main">
            <a:r>
              <a:t/>
            </a:r>
          </a:p>
          <a:p xmlns:a="http://schemas.openxmlformats.org/drawingml/2006/main">
            <a:r>
              <a:t>Co-design begins while choices can still change; consultation after a fixed design offers limited influence.</a:t>
            </a:r>
          </a:p>
          <a:p xmlns:a="http://schemas.openxmlformats.org/drawingml/2006/main">
            <a:r>
              <a:t/>
            </a:r>
          </a:p>
          <a:p xmlns:a="http://schemas.openxmlformats.org/drawingml/2006/main">
            <a:r>
              <a:t>An adaptation option may reduce one risk while shifting burdens elsewhere; assess who benefits and who may be harmed.</a:t>
            </a:r>
          </a:p>
          <a:p xmlns:a="http://schemas.openxmlformats.org/drawingml/2006/main">
            <a:r>
              <a:t/>
            </a:r>
          </a:p>
          <a:p xmlns:a="http://schemas.openxmlformats.org/drawingml/2006/main">
            <a:r>
              <a:t>Accessible services need usable routes, communication and support; a nominal facility is not enough if intended users cannot reach or use it.</a:t>
            </a:r>
          </a:p>
          <a:p xmlns:a="http://schemas.openxmlformats.org/drawingml/2006/main">
            <a:r>
              <a:t/>
            </a:r>
          </a:p>
          <a:p xmlns:a="http://schemas.openxmlformats.org/drawingml/2006/main">
            <a:r>
              <a:t>Compare adaptation options over their operating life, including responsibility and resources for upkeep.</a:t>
            </a:r>
          </a:p>
          <a:p xmlns:a="http://schemas.openxmlformats.org/drawingml/2006/main">
            <a:r>
              <a:t/>
            </a:r>
          </a:p>
          <a:p xmlns:a="http://schemas.openxmlformats.org/drawingml/2006/main">
            <a:r>
              <a:t>Combine appropriate technical advice with community knowledge; conflicting accounts should prompt investigation rather than automatic dismissal.</a:t>
            </a:r>
          </a:p>
          <a:p xmlns:a="http://schemas.openxmlformats.org/drawingml/2006/main">
            <a:r>
              <a:t/>
            </a:r>
          </a:p>
          <a:p xmlns:a="http://schemas.openxmlformats.org/drawingml/2006/main">
            <a:r>
              <a:t>Cwikel, J. (2025). Social work for a greener planet: reframing social work skills and education to mitigate the climate crisis. Cogent Social Sciences. https://doi.org/10.1080/23311886.2024.2444469 Used for curricular relevance only, not evidence that a particular adaptation intervention works.</a:t>
            </a:r>
          </a:p>
          <a:p xmlns:a="http://schemas.openxmlformats.org/drawingml/2006/main">
            <a:r>
              <a:t/>
            </a:r>
          </a:p>
          <a:p xmlns:a="http://schemas.openxmlformats.org/drawingml/2006/main">
            <a:r>
              <a:t>IPCC (2023). AR6 Synthesis Report Summary for Policymakers. https://www.ipcc.ch/report/ar6/syr/summary-for-policymakers/ Not site-specific engineering advice or attribution of an individual local event.</a:t>
            </a:r>
          </a:p>
          <a:p xmlns:a="http://schemas.openxmlformats.org/drawingml/2006/main">
            <a:r>
              <a:t/>
            </a:r>
          </a:p>
          <a:p xmlns:a="http://schemas.openxmlformats.org/drawingml/2006/main">
            <a:r>
              <a:t>IFSW (2018). Global Social Work Statement of Ethical Principles. https://www.ifsw.org/global-social-work-statement-of-ethical-principles/ 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fair transition asks who gains and who loses access or livelihood as decisions change. Invite affected workers and communities to influence the response within clearly stated decision boundaries. Make commitments specific enough to follow: identify the responsible person, the action and a review point. An accessible complaint route also needs a responder and a way to learn whether concerns were addressed.</a:t>
            </a:r>
          </a:p>
          <a:p xmlns:a="http://schemas.openxmlformats.org/drawingml/2006/main">
            <a:r>
              <a:t/>
            </a:r>
          </a:p>
          <a:p xmlns:a="http://schemas.openxmlformats.org/drawingml/2006/main">
            <a:r>
              <a:t>Monitor the distribution of benefits where collecting and reporting that information is safe and useful. A service-wide average can hide an excluded group, but small-group reporting can expose individuals. Use proportionate categories and protect confidential detail. Match advocacy claims to evidence and state uncertainty. If monitoring reveals new burdens, consult affected people and use the authorised adjustment process; avoid claiming success solely because construction or spending finished.</a:t>
            </a:r>
          </a:p>
          <a:p xmlns:a="http://schemas.openxmlformats.org/drawingml/2006/main">
            <a:r>
              <a:t/>
            </a:r>
          </a:p>
          <a:p xmlns:a="http://schemas.openxmlformats.org/drawingml/2006/main">
            <a:r>
              <a:t>A transition plan should examine who loses income or access as well as who gains; affected workers and communities need a meaningful role.</a:t>
            </a:r>
          </a:p>
          <a:p xmlns:a="http://schemas.openxmlformats.org/drawingml/2006/main">
            <a:r>
              <a:t/>
            </a:r>
          </a:p>
          <a:p xmlns:a="http://schemas.openxmlformats.org/drawingml/2006/main">
            <a:r>
              <a:t>An accountability route needs accessible reporting, a responsible responder and a way to track responses without exposing complainants unnecessarily.</a:t>
            </a:r>
          </a:p>
          <a:p xmlns:a="http://schemas.openxmlformats.org/drawingml/2006/main">
            <a:r>
              <a:t/>
            </a:r>
          </a:p>
          <a:p xmlns:a="http://schemas.openxmlformats.org/drawingml/2006/main">
            <a:r>
              <a:t>Disaggregate benefits where appropriate and safe: an average can hide who is not being reached.</a:t>
            </a:r>
          </a:p>
          <a:p xmlns:a="http://schemas.openxmlformats.org/drawingml/2006/main">
            <a:r>
              <a:t/>
            </a:r>
          </a:p>
          <a:p xmlns:a="http://schemas.openxmlformats.org/drawingml/2006/main">
            <a:r>
              <a:t>Use evidence that matches the claim and acknowledge uncertainty when communicating with decision-makers.</a:t>
            </a:r>
          </a:p>
          <a:p xmlns:a="http://schemas.openxmlformats.org/drawingml/2006/main">
            <a:r>
              <a:t/>
            </a:r>
          </a:p>
          <a:p xmlns:a="http://schemas.openxmlformats.org/drawingml/2006/main">
            <a:r>
              <a:t>Review an intervention when evidence shows new burdens; record the concern, consult affected people and use the authorised adjustment process.</a:t>
            </a:r>
          </a:p>
          <a:p xmlns:a="http://schemas.openxmlformats.org/drawingml/2006/main">
            <a:r>
              <a:t/>
            </a:r>
          </a:p>
          <a:p xmlns:a="http://schemas.openxmlformats.org/drawingml/2006/main">
            <a:r>
              <a:t>Cwikel, J. (2025). Social work for a greener planet: reframing social work skills and education to mitigate the climate crisis. Cogent Social Sciences. https://doi.org/10.1080/23311886.2024.2444469 Used for curricular relevance only, not evidence that a particular adaptation intervention works.</a:t>
            </a:r>
          </a:p>
          <a:p xmlns:a="http://schemas.openxmlformats.org/drawingml/2006/main">
            <a:r>
              <a:t/>
            </a:r>
          </a:p>
          <a:p xmlns:a="http://schemas.openxmlformats.org/drawingml/2006/main">
            <a:r>
              <a:t>IPCC (2023). AR6 Synthesis Report Summary for Policymakers. https://www.ipcc.ch/report/ar6/syr/summary-for-policymakers/ Not site-specific engineering advice or attribution of an individual local event.</a:t>
            </a:r>
          </a:p>
          <a:p xmlns:a="http://schemas.openxmlformats.org/drawingml/2006/main">
            <a:r>
              <a:t/>
            </a:r>
          </a:p>
          <a:p xmlns:a="http://schemas.openxmlformats.org/drawingml/2006/main">
            <a:r>
              <a:t>IFSW (2018). Global Social Work Statement of Ethical Principles. https://www.ifsw.org/global-social-work-statement-of-ethical-principles/ 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Fictional worked example: the centre opens, but traders report that the new route lengthens their journey. The project lead records the concern, checks it with affected users and technical advisers, and seeks approval for an adjustment. The public update explains what changed without naming complainants.</a:t>
            </a:r>
          </a:p>
          <a:p xmlns:a="http://schemas.openxmlformats.org/drawingml/2006/main">
            <a:r>
              <a:t/>
            </a:r>
          </a:p>
          <a:p xmlns:a="http://schemas.openxmlformats.org/drawingml/2006/main">
            <a:r>
              <a:t>The plan can reveal uneven effects, protects complainants, assigns responsibility and explains when evidence would trigger a change.</a:t>
            </a:r>
          </a:p>
          <a:p xmlns:a="http://schemas.openxmlformats.org/drawingml/2006/main">
            <a:r>
              <a:t/>
            </a:r>
          </a:p>
          <a:p xmlns:a="http://schemas.openxmlformats.org/drawingml/2006/main">
            <a:r>
              <a:t>A fair transition asks who gains and who loses access or livelihood as decisions change. Invite affected workers and communities to influence the response within clearly stated decision boundaries. Make commitments specific enough to follow: identify the responsible person, the action and a review point. An accessible complaint route also needs a responder and a way to learn whether concerns were addressed.</a:t>
            </a:r>
          </a:p>
          <a:p xmlns:a="http://schemas.openxmlformats.org/drawingml/2006/main">
            <a:r>
              <a:t/>
            </a:r>
          </a:p>
          <a:p xmlns:a="http://schemas.openxmlformats.org/drawingml/2006/main">
            <a:r>
              <a:t>Monitor the distribution of benefits where collecting and reporting that information is safe and useful. A service-wide average can hide an excluded group, but small-group reporting can expose individuals. Use proportionate categories and protect confidential detail. Match advocacy claims to evidence and state uncertainty. If monitoring reveals new burdens, consult affected people and use the authorised adjustment process; avoid claiming success solely because construction or spending finished.</a:t>
            </a:r>
          </a:p>
          <a:p xmlns:a="http://schemas.openxmlformats.org/drawingml/2006/main">
            <a:r>
              <a:t/>
            </a:r>
          </a:p>
          <a:p xmlns:a="http://schemas.openxmlformats.org/drawingml/2006/main">
            <a:r>
              <a:t>A transition plan should examine who loses income or access as well as who gains; affected workers and communities need a meaningful role.</a:t>
            </a:r>
          </a:p>
          <a:p xmlns:a="http://schemas.openxmlformats.org/drawingml/2006/main">
            <a:r>
              <a:t/>
            </a:r>
          </a:p>
          <a:p xmlns:a="http://schemas.openxmlformats.org/drawingml/2006/main">
            <a:r>
              <a:t>An accountability route needs accessible reporting, a responsible responder and a way to track responses without exposing complainants unnecessarily.</a:t>
            </a:r>
          </a:p>
          <a:p xmlns:a="http://schemas.openxmlformats.org/drawingml/2006/main">
            <a:r>
              <a:t/>
            </a:r>
          </a:p>
          <a:p xmlns:a="http://schemas.openxmlformats.org/drawingml/2006/main">
            <a:r>
              <a:t>Disaggregate benefits where appropriate and safe: an average can hide who is not being reached.</a:t>
            </a:r>
          </a:p>
          <a:p xmlns:a="http://schemas.openxmlformats.org/drawingml/2006/main">
            <a:r>
              <a:t/>
            </a:r>
          </a:p>
          <a:p xmlns:a="http://schemas.openxmlformats.org/drawingml/2006/main">
            <a:r>
              <a:t>Use evidence that matches the claim and acknowledge uncertainty when communicating with decision-makers.</a:t>
            </a:r>
          </a:p>
          <a:p xmlns:a="http://schemas.openxmlformats.org/drawingml/2006/main">
            <a:r>
              <a:t/>
            </a:r>
          </a:p>
          <a:p xmlns:a="http://schemas.openxmlformats.org/drawingml/2006/main">
            <a:r>
              <a:t>Review an intervention when evidence shows new burdens; record the concern, consult affected people and use the authorised adjustment process.</a:t>
            </a:r>
          </a:p>
          <a:p xmlns:a="http://schemas.openxmlformats.org/drawingml/2006/main">
            <a:r>
              <a:t/>
            </a:r>
          </a:p>
          <a:p xmlns:a="http://schemas.openxmlformats.org/drawingml/2006/main">
            <a:r>
              <a:t>Cwikel, J. (2025). Social work for a greener planet: reframing social work skills and education to mitigate the climate crisis. Cogent Social Sciences. https://doi.org/10.1080/23311886.2024.2444469 Used for curricular relevance only, not evidence that a particular adaptation intervention works.</a:t>
            </a:r>
          </a:p>
          <a:p xmlns:a="http://schemas.openxmlformats.org/drawingml/2006/main">
            <a:r>
              <a:t/>
            </a:r>
          </a:p>
          <a:p xmlns:a="http://schemas.openxmlformats.org/drawingml/2006/main">
            <a:r>
              <a:t>IPCC (2023). AR6 Synthesis Report Summary for Policymakers. https://www.ipcc.ch/report/ar6/syr/summary-for-policymakers/ Not site-specific engineering advice or attribution of an individual local event.</a:t>
            </a:r>
          </a:p>
          <a:p xmlns:a="http://schemas.openxmlformats.org/drawingml/2006/main">
            <a:r>
              <a:t/>
            </a:r>
          </a:p>
          <a:p xmlns:a="http://schemas.openxmlformats.org/drawingml/2006/main">
            <a:r>
              <a:t>IFSW (2018). Global Social Work Statement of Ethical Principles. https://www.ifsw.org/global-social-work-statement-of-ethical-principles/ 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Indexed abstract and publisher search excerpt read; full text not reviewed. Crossref publication date 2025-01-08; DOI contains 2024 but is not a publication-year field.</a:t>
            </a:r>
          </a:p>
          <a:p xmlns:a="http://schemas.openxmlformats.org/drawingml/2006/main">
            <a:r>
              <a:t>A focused literature review discusses social-work skills and education for environmental challenges.</a:t>
            </a:r>
          </a:p>
          <a:p xmlns:a="http://schemas.openxmlformats.org/drawingml/2006/main">
            <a:r>
              <a:t>Used for curricular relevance only, not evidence that a particular adaptation intervention works.</a:t>
            </a:r>
          </a:p>
          <a:p xmlns:a="http://schemas.openxmlformats.org/drawingml/2006/main">
            <a:r>
              <a:t/>
            </a:r>
          </a:p>
          <a:p xmlns:a="http://schemas.openxmlformats.org/drawingml/2006/main">
            <a:r>
              <a:t>Official summary checked for equity and inclusive climate-resilient development themes.</a:t>
            </a:r>
          </a:p>
          <a:p xmlns:a="http://schemas.openxmlformats.org/drawingml/2006/main">
            <a:r>
              <a:t>Assessment framework for climate risk and equitable responses.</a:t>
            </a:r>
          </a:p>
          <a:p xmlns:a="http://schemas.openxmlformats.org/drawingml/2006/main">
            <a:r>
              <a:t>Not site-specific engineering advice or attribution of an individual local event.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ethical principles consulted.</a:t>
            </a:r>
          </a:p>
          <a:p xmlns:a="http://schemas.openxmlformats.org/drawingml/2006/main">
            <a:r>
              <a:t>Dignity, participation, confidentiality and professional accountability.</a:t>
            </a:r>
          </a:p>
          <a:p xmlns:a="http://schemas.openxmlformats.org/drawingml/2006/main">
            <a:r>
              <a:t>Does not replace applicable law or organisational safeguarding procedures.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d8a4c7424df434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6ac004e0bdb466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a80d0f9069f406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f2c922526f34c6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8b512120c0a483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f05be6a4f5c405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D4FFF4-B23F-4F58-B4AC-2BD1B02F023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D38BE9B-FBB2-47B1-93FF-EF7DC310874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91D7E26-7BE8-4AA6-BE4E-F27A95EFB2E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31B50B-3CA8-4C3E-9F0C-948B476B4CC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BB9CDD8-896B-4272-AEB6-CB177905FFE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2BD20F6-3813-412B-8449-A494C4F7ACF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B171DB-3DF8-4662-892F-6E6D0658062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A219560-8D46-4678-842C-A672E82AD96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7BB24B1-F64E-41A1-B707-C519EAEAA4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88E2AC-DCEE-4822-B845-5C1BBFFD7A1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8d2342f9c8a4b8e" /><Relationship Type="http://schemas.openxmlformats.org/officeDocument/2006/relationships/slideLayout" Target="/ppt/slideLayouts/slideLayout1.xml" Id="R1b3afa2ff46741c2" /><Relationship Type="http://schemas.openxmlformats.org/officeDocument/2006/relationships/slideLayout" Target="/ppt/slideLayouts/slideLayout2.xml" Id="R4d4968753c0c47a2" /><Relationship Type="http://schemas.openxmlformats.org/officeDocument/2006/relationships/slideLayout" Target="/ppt/slideLayouts/slideLayout3.xml" Id="R8c423558ed264fb1" /><Relationship Type="http://schemas.openxmlformats.org/officeDocument/2006/relationships/slideLayout" Target="/ppt/slideLayouts/slideLayout4.xml" Id="R17a4b209f40044ea" /><Relationship Type="http://schemas.openxmlformats.org/officeDocument/2006/relationships/slideLayout" Target="/ppt/slideLayouts/slideLayout5.xml" Id="R98737705c1a84c02" /><Relationship Type="http://schemas.openxmlformats.org/officeDocument/2006/relationships/slideLayout" Target="/ppt/slideLayouts/slideLayout6.xml" Id="R0fbfbd8084be429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3afa2ff46741c2"/>
    <p:sldLayoutId xmlns:r="http://schemas.openxmlformats.org/officeDocument/2006/relationships" id="2147483650" r:id="R4d4968753c0c47a2"/>
    <p:sldLayoutId xmlns:r="http://schemas.openxmlformats.org/officeDocument/2006/relationships" id="2147483651" r:id="R8c423558ed264fb1"/>
    <p:sldLayoutId xmlns:r="http://schemas.openxmlformats.org/officeDocument/2006/relationships" id="2147483652" r:id="R17a4b209f40044ea"/>
    <p:sldLayoutId xmlns:r="http://schemas.openxmlformats.org/officeDocument/2006/relationships" id="2147483653" r:id="R98737705c1a84c02"/>
    <p:sldLayoutId xmlns:r="http://schemas.openxmlformats.org/officeDocument/2006/relationships" id="2147483654" r:id="R0fbfbd8084be429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1786cec8cdf4f52" /><Relationship Type="http://schemas.openxmlformats.org/officeDocument/2006/relationships/notesSlide" Target="/ppt/notesSlides/notesSlide1.xml" Id="R1c7656a4eb8646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2e86cb4f1ed44e8" /><Relationship Type="http://schemas.openxmlformats.org/officeDocument/2006/relationships/notesSlide" Target="/ppt/notesSlides/notesSlide2.xml" Id="R6a2d7efec2624d3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4aab172cc7d4900" /><Relationship Type="http://schemas.openxmlformats.org/officeDocument/2006/relationships/notesSlide" Target="/ppt/notesSlides/notesSlide3.xml" Id="R1f263f26fb5b4fe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4fe146e57bc46e2" /><Relationship Type="http://schemas.openxmlformats.org/officeDocument/2006/relationships/notesSlide" Target="/ppt/notesSlides/notesSlide4.xml" Id="R6ef55a39771148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078899b040a4c37" /><Relationship Type="http://schemas.openxmlformats.org/officeDocument/2006/relationships/notesSlide" Target="/ppt/notesSlides/notesSlide5.xml" Id="Rb5c649ea19314c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a8e255316564dcd" /><Relationship Type="http://schemas.openxmlformats.org/officeDocument/2006/relationships/notesSlide" Target="/ppt/notesSlides/notesSlide6.xml" Id="R872146f8553a44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91d7088005d4a31" /><Relationship Type="http://schemas.openxmlformats.org/officeDocument/2006/relationships/notesSlide" Target="/ppt/notesSlides/notesSlide7.xml" Id="Re1fb69a2597e48d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b6bc20cac2d4758" /><Relationship Type="http://schemas.openxmlformats.org/officeDocument/2006/relationships/notesSlide" Target="/ppt/notesSlides/notesSlide8.xml" Id="Rc11cd7c5e54641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5a48674f8554d14" /><Relationship Type="http://schemas.openxmlformats.org/officeDocument/2006/relationships/notesSlide" Target="/ppt/notesSlides/notesSlide9.xml" Id="R15f29d024de4489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1DCC6AB-BF01-477D-B0F3-30147BB87392}"/>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RESEARCH INFORMED LEARNING</a:t>
            </a:r>
          </a:p>
        </p:txBody>
      </p:sp>
      <p:sp>
        <p:nvSpPr>
          <p:cNvPr id="2" name="">
            <a:extLst xmlns:a="http://schemas.openxmlformats.org/drawingml/2006/main">
              <a:ext uri="{FF2B5EF4-FFF2-40B4-BE49-F238E27FC236}">
                <a16:creationId xmlns:a16="http://schemas.microsoft.com/office/drawing/2014/main" id="{CABE956E-A44D-431C-9AD8-21EE39AF2209}"/>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Climate Justice &amp; Resilient Communities</a:t>
            </a:r>
          </a:p>
        </p:txBody>
      </p:sp>
      <p:sp>
        <p:nvSpPr>
          <p:cNvPr id="3" name="">
            <a:extLst xmlns:a="http://schemas.openxmlformats.org/drawingml/2006/main">
              <a:ext uri="{FF2B5EF4-FFF2-40B4-BE49-F238E27FC236}">
                <a16:creationId xmlns:a16="http://schemas.microsoft.com/office/drawing/2014/main" id="{6BD6DC13-BD58-4A67-B324-DCA2B4B87EA9}"/>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SWP-032  |  SWEEP Academy  |  1.1.0</a:t>
            </a:r>
          </a:p>
        </p:txBody>
      </p:sp>
      <p:sp>
        <p:nvSpPr>
          <p:cNvPr id="4" name="">
            <a:extLst xmlns:a="http://schemas.openxmlformats.org/drawingml/2006/main">
              <a:ext uri="{FF2B5EF4-FFF2-40B4-BE49-F238E27FC236}">
                <a16:creationId xmlns:a16="http://schemas.microsoft.com/office/drawing/2014/main" id="{D5958717-073E-44A3-BDEF-40D9B995DA89}"/>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FE5A1E61-136E-4B24-87B2-1ACBD7DA9C2E}"/>
              </a:ext>
            </a:extLst>
          </p:cNvPr>
          <p:cNvSpPr>
            <a:spLocks xmlns:a="http://schemas.openxmlformats.org/drawingml/2006/main" noGrp="1"/>
          </p:cNvSpPr>
          <p:nvPr/>
        </p:nvSpPr>
        <p:spPr>
          <a:xfrm xmlns:a="http://schemas.openxmlformats.org/drawingml/2006/main">
            <a:off x="609600" y="2190750"/>
            <a:ext cx="10287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175" b="0">
                <a:solidFill>
                  <a:srgbClr val="17223B"/>
                </a:solidFill>
                <a:latin typeface="Arial"/>
                <a:ea typeface="Arial"/>
                <a:cs typeface="Arial"/>
              </a:defRPr>
            </a:defPPr>
          </a:lstStyle>
          <a:p xmlns:a="http://schemas.openxmlformats.org/drawingml/2006/main">
            <a:pPr>
              <a:defRPr sz="2175" b="0">
                <a:solidFill>
                  <a:srgbClr val="17223B"/>
                </a:solidFill>
                <a:latin typeface="Arial"/>
                <a:ea typeface="Arial"/>
                <a:cs typeface="Arial"/>
              </a:defRPr>
            </a:pPr>
            <a:r>
              <a:rPr sz="2175" b="0">
                <a:solidFill>
                  <a:srgbClr val="17223B"/>
                </a:solidFill>
                <a:latin typeface="Arial"/>
                <a:ea typeface="Arial"/>
                <a:cs typeface="Arial"/>
              </a:rPr>
              <a:t>Use a rights-based, community-led approach to identify climate-related social inequities, strengthen adaptive capacity, and support accountable climate action within a professional role.</a:t>
            </a:r>
          </a:p>
        </p:txBody>
      </p:sp>
      <p:sp>
        <p:nvSpPr>
          <p:cNvPr id="6" name="">
            <a:extLst xmlns:a="http://schemas.openxmlformats.org/drawingml/2006/main">
              <a:ext uri="{FF2B5EF4-FFF2-40B4-BE49-F238E27FC236}">
                <a16:creationId xmlns:a16="http://schemas.microsoft.com/office/drawing/2014/main" id="{51B65029-AAAD-46A7-8F7E-2B6E4B95547A}"/>
              </a:ext>
            </a:extLst>
          </p:cNvPr>
          <p:cNvSpPr>
            <a:spLocks xmlns:a="http://schemas.openxmlformats.org/drawingml/2006/main" noGrp="1"/>
          </p:cNvSpPr>
          <p:nvPr/>
        </p:nvSpPr>
        <p:spPr>
          <a:xfrm xmlns:a="http://schemas.openxmlformats.org/drawingml/2006/main">
            <a:off x="609600" y="3905250"/>
            <a:ext cx="1028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00" b="0">
                <a:solidFill>
                  <a:srgbClr val="17223B"/>
                </a:solidFill>
                <a:latin typeface="Arial"/>
                <a:ea typeface="Arial"/>
                <a:cs typeface="Arial"/>
              </a:defRPr>
            </a:defPPr>
          </a:lstStyle>
          <a:p xmlns:a="http://schemas.openxmlformats.org/drawingml/2006/main">
            <a:pPr>
              <a:defRPr sz="1800" b="0">
                <a:solidFill>
                  <a:srgbClr val="17223B"/>
                </a:solidFill>
                <a:latin typeface="Arial"/>
                <a:ea typeface="Arial"/>
                <a:cs typeface="Arial"/>
              </a:defRPr>
            </a:pPr>
            <a:r>
              <a:rPr sz="1800" b="0">
                <a:solidFill>
                  <a:srgbClr val="17223B"/>
                </a:solidFill>
                <a:latin typeface="Arial"/>
                <a:ea typeface="Arial"/>
                <a:cs typeface="Arial"/>
              </a:rPr>
              <a:t>Read the learner guide, apply each lesson, then complete the worksheet.</a:t>
            </a:r>
          </a:p>
        </p:txBody>
      </p:sp>
      <p:sp>
        <p:nvSpPr>
          <p:cNvPr id="7" name="">
            <a:extLst xmlns:a="http://schemas.openxmlformats.org/drawingml/2006/main">
              <a:ext uri="{FF2B5EF4-FFF2-40B4-BE49-F238E27FC236}">
                <a16:creationId xmlns:a16="http://schemas.microsoft.com/office/drawing/2014/main" id="{5D6F7025-8F0B-43C5-8565-438CDC820830}"/>
              </a:ext>
            </a:extLst>
          </p:cNvPr>
          <p:cNvSpPr>
            <a:spLocks xmlns:a="http://schemas.openxmlformats.org/drawingml/2006/main" noGrp="1"/>
          </p:cNvSpPr>
          <p:nvPr/>
        </p:nvSpPr>
        <p:spPr>
          <a:xfrm xmlns:a="http://schemas.openxmlformats.org/drawingml/2006/main">
            <a:off x="609600" y="5095875"/>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75" b="0">
                <a:solidFill>
                  <a:srgbClr val="17223B"/>
                </a:solidFill>
                <a:latin typeface="Arial"/>
                <a:ea typeface="Arial"/>
                <a:cs typeface="Arial"/>
              </a:defRPr>
            </a:defPPr>
          </a:lstStyle>
          <a:p xmlns:a="http://schemas.openxmlformats.org/drawingml/2006/main">
            <a:pPr>
              <a:defRPr sz="1575" b="0">
                <a:solidFill>
                  <a:srgbClr val="17223B"/>
                </a:solidFill>
                <a:latin typeface="Arial"/>
                <a:ea typeface="Arial"/>
                <a:cs typeface="Arial"/>
              </a:defRPr>
            </a:pPr>
            <a:r>
              <a:rPr sz="1575" b="0">
                <a:solidFill>
                  <a:srgbClr val="17223B"/>
                </a:solidFill>
                <a:latin typeface="Arial"/>
                <a:ea typeface="Arial"/>
                <a:cs typeface="Arial"/>
              </a:rPr>
              <a:t>Educational material. Use applicable local procedures. Cases are fictional. Index inclusion is not expert endorsement.</a:t>
            </a:r>
          </a:p>
        </p:txBody>
      </p:sp>
    </p:spTree>
    <p:extLst>
      <p:ext uri="{BB962C8B-B14F-4D97-AF65-F5344CB8AC3E}">
        <p14:creationId xmlns:p14="http://schemas.microsoft.com/office/powerpoint/2010/main" val="12886265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26BAD4D-A27D-46BE-B176-5193FF2E1C3F}"/>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MODULE 1  |  REASONING</a:t>
            </a:r>
          </a:p>
        </p:txBody>
      </p:sp>
      <p:sp>
        <p:nvSpPr>
          <p:cNvPr id="2" name="">
            <a:extLst xmlns:a="http://schemas.openxmlformats.org/drawingml/2006/main">
              <a:ext uri="{FF2B5EF4-FFF2-40B4-BE49-F238E27FC236}">
                <a16:creationId xmlns:a16="http://schemas.microsoft.com/office/drawing/2014/main" id="{FED9C60F-AE29-443F-841C-916B73AF7792}"/>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Understand unequal risk and existing capacity</a:t>
            </a:r>
          </a:p>
        </p:txBody>
      </p:sp>
      <p:sp>
        <p:nvSpPr>
          <p:cNvPr id="3" name="">
            <a:extLst xmlns:a="http://schemas.openxmlformats.org/drawingml/2006/main">
              <a:ext uri="{FF2B5EF4-FFF2-40B4-BE49-F238E27FC236}">
                <a16:creationId xmlns:a16="http://schemas.microsoft.com/office/drawing/2014/main" id="{00309EB3-1D92-4068-96EC-73F0640BD3A3}"/>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SWP-032  |  SWEEP Academy  |  1.1.0</a:t>
            </a:r>
          </a:p>
        </p:txBody>
      </p:sp>
      <p:sp>
        <p:nvSpPr>
          <p:cNvPr id="4" name="">
            <a:extLst xmlns:a="http://schemas.openxmlformats.org/drawingml/2006/main">
              <a:ext uri="{FF2B5EF4-FFF2-40B4-BE49-F238E27FC236}">
                <a16:creationId xmlns:a16="http://schemas.microsoft.com/office/drawing/2014/main" id="{3B542CBB-17BD-40DE-8E59-3D83857CBB1E}"/>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2</a:t>
            </a:r>
          </a:p>
        </p:txBody>
      </p:sp>
      <p:sp>
        <p:nvSpPr>
          <p:cNvPr id="5" name="">
            <a:extLst xmlns:a="http://schemas.openxmlformats.org/drawingml/2006/main">
              <a:ext uri="{FF2B5EF4-FFF2-40B4-BE49-F238E27FC236}">
                <a16:creationId xmlns:a16="http://schemas.microsoft.com/office/drawing/2014/main" id="{CEA8B495-7043-490C-BFEE-A2DA28DB4F0B}"/>
              </a:ext>
            </a:extLst>
          </p:cNvPr>
          <p:cNvSpPr>
            <a:spLocks xmlns:a="http://schemas.openxmlformats.org/drawingml/2006/main" noGrp="1"/>
          </p:cNvSpPr>
          <p:nvPr/>
        </p:nvSpPr>
        <p:spPr>
          <a:xfrm xmlns:a="http://schemas.openxmlformats.org/drawingml/2006/main">
            <a:off x="609600" y="2143125"/>
            <a:ext cx="10477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250" b="0">
                <a:solidFill>
                  <a:srgbClr val="17223B"/>
                </a:solidFill>
                <a:latin typeface="Arial"/>
                <a:ea typeface="Arial"/>
                <a:cs typeface="Arial"/>
              </a:defRPr>
            </a:defPPr>
          </a:lstStyle>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Distinguish hazard, exposure and vulnerability.</a:t>
            </a:r>
          </a:p>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Record local capacities as well as constraints.</a:t>
            </a:r>
          </a:p>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Ask whose perspective is missing.</a:t>
            </a:r>
          </a:p>
        </p:txBody>
      </p:sp>
      <p:sp>
        <p:nvSpPr>
          <p:cNvPr id="6" name="">
            <a:extLst xmlns:a="http://schemas.openxmlformats.org/drawingml/2006/main">
              <a:ext uri="{FF2B5EF4-FFF2-40B4-BE49-F238E27FC236}">
                <a16:creationId xmlns:a16="http://schemas.microsoft.com/office/drawing/2014/main" id="{A6F54248-569F-4045-9206-4C3DD4211FBA}"/>
              </a:ext>
            </a:extLst>
          </p:cNvPr>
          <p:cNvSpPr>
            <a:spLocks xmlns:a="http://schemas.openxmlformats.org/drawingml/2006/main" noGrp="1"/>
          </p:cNvSpPr>
          <p:nvPr/>
        </p:nvSpPr>
        <p:spPr>
          <a:xfrm xmlns:a="http://schemas.openxmlformats.org/drawingml/2006/main">
            <a:off x="609600" y="442912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725" b="0">
                <a:solidFill>
                  <a:srgbClr val="17223B"/>
                </a:solidFill>
                <a:latin typeface="Arial"/>
                <a:ea typeface="Arial"/>
                <a:cs typeface="Arial"/>
              </a:defRPr>
            </a:defPPr>
          </a:lstStyle>
          <a:p xmlns:a="http://schemas.openxmlformats.org/drawingml/2006/main">
            <a:pPr>
              <a:defRPr sz="1725" b="0">
                <a:solidFill>
                  <a:srgbClr val="17223B"/>
                </a:solidFill>
                <a:latin typeface="Arial"/>
                <a:ea typeface="Arial"/>
                <a:cs typeface="Arial"/>
              </a:defRPr>
            </a:pPr>
            <a:r>
              <a:rPr sz="1725" b="0">
                <a:solidFill>
                  <a:srgbClr val="17223B"/>
                </a:solidFill>
                <a:latin typeface="Arial"/>
                <a:ea typeface="Arial"/>
                <a:cs typeface="Arial"/>
              </a:rPr>
              <a:t>Distinguish a climate hazard from unequal exposure, vulnerability and capacity to respond.</a:t>
            </a:r>
          </a:p>
        </p:txBody>
      </p:sp>
    </p:spTree>
    <p:extLst>
      <p:ext uri="{BB962C8B-B14F-4D97-AF65-F5344CB8AC3E}">
        <p14:creationId xmlns:p14="http://schemas.microsoft.com/office/powerpoint/2010/main" val="19822464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28CC305-901C-4A7A-8F8D-1CBD4E2C46F3}"/>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MODULE 1  |  FICTIONAL WORKED EXAMPLE</a:t>
            </a:r>
          </a:p>
        </p:txBody>
      </p:sp>
      <p:sp>
        <p:nvSpPr>
          <p:cNvPr id="2" name="">
            <a:extLst xmlns:a="http://schemas.openxmlformats.org/drawingml/2006/main">
              <a:ext uri="{FF2B5EF4-FFF2-40B4-BE49-F238E27FC236}">
                <a16:creationId xmlns:a16="http://schemas.microsoft.com/office/drawing/2014/main" id="{37674BC8-95CA-418A-AFF1-658905F54124}"/>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Apply the lesson</a:t>
            </a:r>
          </a:p>
        </p:txBody>
      </p:sp>
      <p:sp>
        <p:nvSpPr>
          <p:cNvPr id="3" name="">
            <a:extLst xmlns:a="http://schemas.openxmlformats.org/drawingml/2006/main">
              <a:ext uri="{FF2B5EF4-FFF2-40B4-BE49-F238E27FC236}">
                <a16:creationId xmlns:a16="http://schemas.microsoft.com/office/drawing/2014/main" id="{9E267476-7E63-474B-8696-A6D1864465FF}"/>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SWP-032  |  SWEEP Academy  |  1.1.0</a:t>
            </a:r>
          </a:p>
        </p:txBody>
      </p:sp>
      <p:sp>
        <p:nvSpPr>
          <p:cNvPr id="4" name="">
            <a:extLst xmlns:a="http://schemas.openxmlformats.org/drawingml/2006/main">
              <a:ext uri="{FF2B5EF4-FFF2-40B4-BE49-F238E27FC236}">
                <a16:creationId xmlns:a16="http://schemas.microsoft.com/office/drawing/2014/main" id="{A36D1402-6957-45E5-B23B-1EA01FB03920}"/>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3</a:t>
            </a:r>
          </a:p>
        </p:txBody>
      </p:sp>
      <p:sp>
        <p:nvSpPr>
          <p:cNvPr id="5" name="">
            <a:extLst xmlns:a="http://schemas.openxmlformats.org/drawingml/2006/main">
              <a:ext uri="{FF2B5EF4-FFF2-40B4-BE49-F238E27FC236}">
                <a16:creationId xmlns:a16="http://schemas.microsoft.com/office/drawing/2014/main" id="{891070B4-5002-491F-8B25-128A22339D7F}"/>
              </a:ext>
            </a:extLst>
          </p:cNvPr>
          <p:cNvSpPr>
            <a:spLocks xmlns:a="http://schemas.openxmlformats.org/drawingml/2006/main" noGrp="1"/>
          </p:cNvSpPr>
          <p:nvPr/>
        </p:nvSpPr>
        <p:spPr>
          <a:xfrm xmlns:a="http://schemas.openxmlformats.org/drawingml/2006/main">
            <a:off x="609600" y="1952625"/>
            <a:ext cx="1057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0">
                <a:solidFill>
                  <a:srgbClr val="17223B"/>
                </a:solidFill>
                <a:latin typeface="Arial"/>
                <a:ea typeface="Arial"/>
                <a:cs typeface="Arial"/>
              </a:defRPr>
            </a:defPPr>
          </a:lstStyle>
          <a:p xmlns:a="http://schemas.openxmlformats.org/drawingml/2006/main">
            <a:pPr>
              <a:defRPr sz="1875" b="0">
                <a:solidFill>
                  <a:srgbClr val="17223B"/>
                </a:solidFill>
                <a:latin typeface="Arial"/>
                <a:ea typeface="Arial"/>
                <a:cs typeface="Arial"/>
              </a:defRPr>
            </a:pPr>
            <a:r>
              <a:rPr sz="1875" b="0">
                <a:solidFill>
                  <a:srgbClr val="17223B"/>
                </a:solidFill>
                <a:latin typeface="Arial"/>
                <a:ea typeface="Arial"/>
                <a:cs typeface="Arial"/>
              </a:rPr>
              <a:t>Fictional worked example: the project map shows two streets with similar flood exposure. Residents identify different transport access and work schedules. Planners record these differences and invite missing groups to discuss options rather than treating a single meeting as representative.</a:t>
            </a:r>
          </a:p>
        </p:txBody>
      </p:sp>
      <p:sp>
        <p:nvSpPr>
          <p:cNvPr id="6" name="">
            <a:extLst xmlns:a="http://schemas.openxmlformats.org/drawingml/2006/main">
              <a:ext uri="{FF2B5EF4-FFF2-40B4-BE49-F238E27FC236}">
                <a16:creationId xmlns:a16="http://schemas.microsoft.com/office/drawing/2014/main" id="{75429BD3-10E2-43C1-9059-B03C7F359566}"/>
              </a:ext>
            </a:extLst>
          </p:cNvPr>
          <p:cNvSpPr>
            <a:spLocks xmlns:a="http://schemas.openxmlformats.org/drawingml/2006/main" noGrp="1"/>
          </p:cNvSpPr>
          <p:nvPr/>
        </p:nvSpPr>
        <p:spPr>
          <a:xfrm xmlns:a="http://schemas.openxmlformats.org/drawingml/2006/main">
            <a:off x="609600" y="38576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YOUR TASK</a:t>
            </a:r>
          </a:p>
        </p:txBody>
      </p:sp>
      <p:sp>
        <p:nvSpPr>
          <p:cNvPr id="7" name="">
            <a:extLst xmlns:a="http://schemas.openxmlformats.org/drawingml/2006/main">
              <a:ext uri="{FF2B5EF4-FFF2-40B4-BE49-F238E27FC236}">
                <a16:creationId xmlns:a16="http://schemas.microsoft.com/office/drawing/2014/main" id="{CE7DCDAA-3FE5-48D3-BF8B-4C3DA1C54E61}"/>
              </a:ext>
            </a:extLst>
          </p:cNvPr>
          <p:cNvSpPr>
            <a:spLocks xmlns:a="http://schemas.openxmlformats.org/drawingml/2006/main" noGrp="1"/>
          </p:cNvSpPr>
          <p:nvPr/>
        </p:nvSpPr>
        <p:spPr>
          <a:xfrm xmlns:a="http://schemas.openxmlformats.org/drawingml/2006/main">
            <a:off x="609600" y="4381500"/>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0">
                <a:solidFill>
                  <a:srgbClr val="17223B"/>
                </a:solidFill>
                <a:latin typeface="Arial"/>
                <a:ea typeface="Arial"/>
                <a:cs typeface="Arial"/>
              </a:defRPr>
            </a:defPPr>
          </a:lstStyle>
          <a:p xmlns:a="http://schemas.openxmlformats.org/drawingml/2006/main">
            <a:pPr>
              <a:defRPr sz="1875" b="0">
                <a:solidFill>
                  <a:srgbClr val="17223B"/>
                </a:solidFill>
                <a:latin typeface="Arial"/>
                <a:ea typeface="Arial"/>
                <a:cs typeface="Arial"/>
              </a:defRPr>
            </a:pPr>
            <a:r>
              <a:rPr sz="1875" b="0">
                <a:solidFill>
                  <a:srgbClr val="17223B"/>
                </a:solidFill>
                <a:latin typeface="Arial"/>
                <a:ea typeface="Arial"/>
                <a:cs typeface="Arial"/>
              </a:rPr>
              <a:t>Create a risk-and-capacity map in words for the riverside case. Separate observed information, resident accounts and questions requiring technical advice.</a:t>
            </a:r>
          </a:p>
        </p:txBody>
      </p:sp>
    </p:spTree>
    <p:extLst>
      <p:ext uri="{BB962C8B-B14F-4D97-AF65-F5344CB8AC3E}">
        <p14:creationId xmlns:p14="http://schemas.microsoft.com/office/powerpoint/2010/main" val="59332803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E34E653-C487-42B9-A509-D4447F71A062}"/>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MODULE 2  |  REASONING</a:t>
            </a:r>
          </a:p>
        </p:txBody>
      </p:sp>
      <p:sp>
        <p:nvSpPr>
          <p:cNvPr id="2" name="">
            <a:extLst xmlns:a="http://schemas.openxmlformats.org/drawingml/2006/main">
              <a:ext uri="{FF2B5EF4-FFF2-40B4-BE49-F238E27FC236}">
                <a16:creationId xmlns:a16="http://schemas.microsoft.com/office/drawing/2014/main" id="{72EE83DD-47FF-4AEF-94B3-27D64FE7D4F2}"/>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Compare options over their whole life</a:t>
            </a:r>
          </a:p>
        </p:txBody>
      </p:sp>
      <p:sp>
        <p:nvSpPr>
          <p:cNvPr id="3" name="">
            <a:extLst xmlns:a="http://schemas.openxmlformats.org/drawingml/2006/main">
              <a:ext uri="{FF2B5EF4-FFF2-40B4-BE49-F238E27FC236}">
                <a16:creationId xmlns:a16="http://schemas.microsoft.com/office/drawing/2014/main" id="{BC093909-052B-4D04-814D-F7C7B0DC9ABB}"/>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SWP-032  |  SWEEP Academy  |  1.1.0</a:t>
            </a:r>
          </a:p>
        </p:txBody>
      </p:sp>
      <p:sp>
        <p:nvSpPr>
          <p:cNvPr id="4" name="">
            <a:extLst xmlns:a="http://schemas.openxmlformats.org/drawingml/2006/main">
              <a:ext uri="{FF2B5EF4-FFF2-40B4-BE49-F238E27FC236}">
                <a16:creationId xmlns:a16="http://schemas.microsoft.com/office/drawing/2014/main" id="{79B1FA7F-4326-45C1-B50D-14BBAE8B302E}"/>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4</a:t>
            </a:r>
          </a:p>
        </p:txBody>
      </p:sp>
      <p:sp>
        <p:nvSpPr>
          <p:cNvPr id="5" name="">
            <a:extLst xmlns:a="http://schemas.openxmlformats.org/drawingml/2006/main">
              <a:ext uri="{FF2B5EF4-FFF2-40B4-BE49-F238E27FC236}">
                <a16:creationId xmlns:a16="http://schemas.microsoft.com/office/drawing/2014/main" id="{B185A36F-2A8C-41E3-A44C-907DF4577FE2}"/>
              </a:ext>
            </a:extLst>
          </p:cNvPr>
          <p:cNvSpPr>
            <a:spLocks xmlns:a="http://schemas.openxmlformats.org/drawingml/2006/main" noGrp="1"/>
          </p:cNvSpPr>
          <p:nvPr/>
        </p:nvSpPr>
        <p:spPr>
          <a:xfrm xmlns:a="http://schemas.openxmlformats.org/drawingml/2006/main">
            <a:off x="609600" y="2143125"/>
            <a:ext cx="10477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250" b="0">
                <a:solidFill>
                  <a:srgbClr val="17223B"/>
                </a:solidFill>
                <a:latin typeface="Arial"/>
                <a:ea typeface="Arial"/>
                <a:cs typeface="Arial"/>
              </a:defRPr>
            </a:defPPr>
          </a:lstStyle>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Keep choices open during co-design.</a:t>
            </a:r>
          </a:p>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Check who benefits and who bears new burdens.</a:t>
            </a:r>
          </a:p>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Plan access and maintenance together.</a:t>
            </a:r>
          </a:p>
        </p:txBody>
      </p:sp>
      <p:sp>
        <p:nvSpPr>
          <p:cNvPr id="6" name="">
            <a:extLst xmlns:a="http://schemas.openxmlformats.org/drawingml/2006/main">
              <a:ext uri="{FF2B5EF4-FFF2-40B4-BE49-F238E27FC236}">
                <a16:creationId xmlns:a16="http://schemas.microsoft.com/office/drawing/2014/main" id="{62DB465B-FC4F-477D-BA7A-2773FDB9CE47}"/>
              </a:ext>
            </a:extLst>
          </p:cNvPr>
          <p:cNvSpPr>
            <a:spLocks xmlns:a="http://schemas.openxmlformats.org/drawingml/2006/main" noGrp="1"/>
          </p:cNvSpPr>
          <p:nvPr/>
        </p:nvSpPr>
        <p:spPr>
          <a:xfrm xmlns:a="http://schemas.openxmlformats.org/drawingml/2006/main">
            <a:off x="609600" y="442912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725" b="0">
                <a:solidFill>
                  <a:srgbClr val="17223B"/>
                </a:solidFill>
                <a:latin typeface="Arial"/>
                <a:ea typeface="Arial"/>
                <a:cs typeface="Arial"/>
              </a:defRPr>
            </a:defPPr>
          </a:lstStyle>
          <a:p xmlns:a="http://schemas.openxmlformats.org/drawingml/2006/main">
            <a:pPr>
              <a:defRPr sz="1725" b="0">
                <a:solidFill>
                  <a:srgbClr val="17223B"/>
                </a:solidFill>
                <a:latin typeface="Arial"/>
                <a:ea typeface="Arial"/>
                <a:cs typeface="Arial"/>
              </a:defRPr>
            </a:pPr>
            <a:r>
              <a:rPr sz="1725" b="0">
                <a:solidFill>
                  <a:srgbClr val="17223B"/>
                </a:solidFill>
                <a:latin typeface="Arial"/>
                <a:ea typeface="Arial"/>
                <a:cs typeface="Arial"/>
              </a:rPr>
              <a:t>Compare adaptation options with communities, including accessibility, maintenance and unintended consequences.</a:t>
            </a:r>
          </a:p>
        </p:txBody>
      </p:sp>
    </p:spTree>
    <p:extLst>
      <p:ext uri="{BB962C8B-B14F-4D97-AF65-F5344CB8AC3E}">
        <p14:creationId xmlns:p14="http://schemas.microsoft.com/office/powerpoint/2010/main" val="90212985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B639E3-C4CB-46B4-B12C-0D313DA4DCD0}"/>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MODULE 2  |  FICTIONAL WORKED EXAMPLE</a:t>
            </a:r>
          </a:p>
        </p:txBody>
      </p:sp>
      <p:sp>
        <p:nvSpPr>
          <p:cNvPr id="2" name="">
            <a:extLst xmlns:a="http://schemas.openxmlformats.org/drawingml/2006/main">
              <a:ext uri="{FF2B5EF4-FFF2-40B4-BE49-F238E27FC236}">
                <a16:creationId xmlns:a16="http://schemas.microsoft.com/office/drawing/2014/main" id="{B9D91F6A-9480-46C0-B6B4-7612D26EBD12}"/>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Apply the lesson</a:t>
            </a:r>
          </a:p>
        </p:txBody>
      </p:sp>
      <p:sp>
        <p:nvSpPr>
          <p:cNvPr id="3" name="">
            <a:extLst xmlns:a="http://schemas.openxmlformats.org/drawingml/2006/main">
              <a:ext uri="{FF2B5EF4-FFF2-40B4-BE49-F238E27FC236}">
                <a16:creationId xmlns:a16="http://schemas.microsoft.com/office/drawing/2014/main" id="{40F84668-FB61-4449-A9F2-CDA5AC8D488B}"/>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SWP-032  |  SWEEP Academy  |  1.1.0</a:t>
            </a:r>
          </a:p>
        </p:txBody>
      </p:sp>
      <p:sp>
        <p:nvSpPr>
          <p:cNvPr id="4" name="">
            <a:extLst xmlns:a="http://schemas.openxmlformats.org/drawingml/2006/main">
              <a:ext uri="{FF2B5EF4-FFF2-40B4-BE49-F238E27FC236}">
                <a16:creationId xmlns:a16="http://schemas.microsoft.com/office/drawing/2014/main" id="{A62F8988-0BE0-4993-94E2-810A69C6540E}"/>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5</a:t>
            </a:r>
          </a:p>
        </p:txBody>
      </p:sp>
      <p:sp>
        <p:nvSpPr>
          <p:cNvPr id="5" name="">
            <a:extLst xmlns:a="http://schemas.openxmlformats.org/drawingml/2006/main">
              <a:ext uri="{FF2B5EF4-FFF2-40B4-BE49-F238E27FC236}">
                <a16:creationId xmlns:a16="http://schemas.microsoft.com/office/drawing/2014/main" id="{338FB28D-3C71-4035-9BCB-67727B515159}"/>
              </a:ext>
            </a:extLst>
          </p:cNvPr>
          <p:cNvSpPr>
            <a:spLocks xmlns:a="http://schemas.openxmlformats.org/drawingml/2006/main" noGrp="1"/>
          </p:cNvSpPr>
          <p:nvPr/>
        </p:nvSpPr>
        <p:spPr>
          <a:xfrm xmlns:a="http://schemas.openxmlformats.org/drawingml/2006/main">
            <a:off x="609600" y="1952625"/>
            <a:ext cx="1057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0">
                <a:solidFill>
                  <a:srgbClr val="17223B"/>
                </a:solidFill>
                <a:latin typeface="Arial"/>
                <a:ea typeface="Arial"/>
                <a:cs typeface="Arial"/>
              </a:defRPr>
            </a:defPPr>
          </a:lstStyle>
          <a:p xmlns:a="http://schemas.openxmlformats.org/drawingml/2006/main">
            <a:pPr>
              <a:defRPr sz="1875" b="0">
                <a:solidFill>
                  <a:srgbClr val="17223B"/>
                </a:solidFill>
                <a:latin typeface="Arial"/>
                <a:ea typeface="Arial"/>
                <a:cs typeface="Arial"/>
              </a:defRPr>
            </a:pPr>
            <a:r>
              <a:rPr sz="1875" b="0">
                <a:solidFill>
                  <a:srgbClr val="17223B"/>
                </a:solidFill>
                <a:latin typeface="Arial"/>
                <a:ea typeface="Arial"/>
                <a:cs typeface="Arial"/>
              </a:rPr>
              <a:t>Fictional worked example: residents support the raised centre but identify an inaccessible approach route. The team revises the access design, checks its feasibility with qualified advisers and identifies responsibility for maintaining the route before treating the option as ready.</a:t>
            </a:r>
          </a:p>
        </p:txBody>
      </p:sp>
      <p:sp>
        <p:nvSpPr>
          <p:cNvPr id="6" name="">
            <a:extLst xmlns:a="http://schemas.openxmlformats.org/drawingml/2006/main">
              <a:ext uri="{FF2B5EF4-FFF2-40B4-BE49-F238E27FC236}">
                <a16:creationId xmlns:a16="http://schemas.microsoft.com/office/drawing/2014/main" id="{BDFED53C-1280-4C5D-BE72-EA282A31C033}"/>
              </a:ext>
            </a:extLst>
          </p:cNvPr>
          <p:cNvSpPr>
            <a:spLocks xmlns:a="http://schemas.openxmlformats.org/drawingml/2006/main" noGrp="1"/>
          </p:cNvSpPr>
          <p:nvPr/>
        </p:nvSpPr>
        <p:spPr>
          <a:xfrm xmlns:a="http://schemas.openxmlformats.org/drawingml/2006/main">
            <a:off x="609600" y="38576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YOUR TASK</a:t>
            </a:r>
          </a:p>
        </p:txBody>
      </p:sp>
      <p:sp>
        <p:nvSpPr>
          <p:cNvPr id="7" name="">
            <a:extLst xmlns:a="http://schemas.openxmlformats.org/drawingml/2006/main">
              <a:ext uri="{FF2B5EF4-FFF2-40B4-BE49-F238E27FC236}">
                <a16:creationId xmlns:a16="http://schemas.microsoft.com/office/drawing/2014/main" id="{603BE0A1-FBF3-48BA-BBE9-75BD70C36095}"/>
              </a:ext>
            </a:extLst>
          </p:cNvPr>
          <p:cNvSpPr>
            <a:spLocks xmlns:a="http://schemas.openxmlformats.org/drawingml/2006/main" noGrp="1"/>
          </p:cNvSpPr>
          <p:nvPr/>
        </p:nvSpPr>
        <p:spPr>
          <a:xfrm xmlns:a="http://schemas.openxmlformats.org/drawingml/2006/main">
            <a:off x="609600" y="4381500"/>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0">
                <a:solidFill>
                  <a:srgbClr val="17223B"/>
                </a:solidFill>
                <a:latin typeface="Arial"/>
                <a:ea typeface="Arial"/>
                <a:cs typeface="Arial"/>
              </a:defRPr>
            </a:defPPr>
          </a:lstStyle>
          <a:p xmlns:a="http://schemas.openxmlformats.org/drawingml/2006/main">
            <a:pPr>
              <a:defRPr sz="1875" b="0">
                <a:solidFill>
                  <a:srgbClr val="17223B"/>
                </a:solidFill>
                <a:latin typeface="Arial"/>
                <a:ea typeface="Arial"/>
                <a:cs typeface="Arial"/>
              </a:defRPr>
            </a:pPr>
            <a:r>
              <a:rPr sz="1875" b="0">
                <a:solidFill>
                  <a:srgbClr val="17223B"/>
                </a:solidFill>
                <a:latin typeface="Arial"/>
                <a:ea typeface="Arial"/>
                <a:cs typeface="Arial"/>
              </a:rPr>
              <a:t>Compare two options from the course case against access, burden distribution, upkeep and decision authority. State what evidence is still needed.</a:t>
            </a:r>
          </a:p>
        </p:txBody>
      </p:sp>
    </p:spTree>
    <p:extLst>
      <p:ext uri="{BB962C8B-B14F-4D97-AF65-F5344CB8AC3E}">
        <p14:creationId xmlns:p14="http://schemas.microsoft.com/office/powerpoint/2010/main" val="17656300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C08117-33E9-4C70-AF35-8B01EA6BEF6E}"/>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MODULE 3  |  REASONING</a:t>
            </a:r>
          </a:p>
        </p:txBody>
      </p:sp>
      <p:sp>
        <p:nvSpPr>
          <p:cNvPr id="2" name="">
            <a:extLst xmlns:a="http://schemas.openxmlformats.org/drawingml/2006/main">
              <a:ext uri="{FF2B5EF4-FFF2-40B4-BE49-F238E27FC236}">
                <a16:creationId xmlns:a16="http://schemas.microsoft.com/office/drawing/2014/main" id="{9A606DD6-D873-4101-8960-2D975156339E}"/>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Make distribution and follow up visible</a:t>
            </a:r>
          </a:p>
        </p:txBody>
      </p:sp>
      <p:sp>
        <p:nvSpPr>
          <p:cNvPr id="3" name="">
            <a:extLst xmlns:a="http://schemas.openxmlformats.org/drawingml/2006/main">
              <a:ext uri="{FF2B5EF4-FFF2-40B4-BE49-F238E27FC236}">
                <a16:creationId xmlns:a16="http://schemas.microsoft.com/office/drawing/2014/main" id="{916B6DA3-5E1A-401A-BD5E-6AEF6F362307}"/>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SWP-032  |  SWEEP Academy  |  1.1.0</a:t>
            </a:r>
          </a:p>
        </p:txBody>
      </p:sp>
      <p:sp>
        <p:nvSpPr>
          <p:cNvPr id="4" name="">
            <a:extLst xmlns:a="http://schemas.openxmlformats.org/drawingml/2006/main">
              <a:ext uri="{FF2B5EF4-FFF2-40B4-BE49-F238E27FC236}">
                <a16:creationId xmlns:a16="http://schemas.microsoft.com/office/drawing/2014/main" id="{5A9A1030-5548-4F85-A2D5-087C367ECD30}"/>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6</a:t>
            </a:r>
          </a:p>
        </p:txBody>
      </p:sp>
      <p:sp>
        <p:nvSpPr>
          <p:cNvPr id="5" name="">
            <a:extLst xmlns:a="http://schemas.openxmlformats.org/drawingml/2006/main">
              <a:ext uri="{FF2B5EF4-FFF2-40B4-BE49-F238E27FC236}">
                <a16:creationId xmlns:a16="http://schemas.microsoft.com/office/drawing/2014/main" id="{5BE4F166-BEDD-467A-B64D-501804E5AD61}"/>
              </a:ext>
            </a:extLst>
          </p:cNvPr>
          <p:cNvSpPr>
            <a:spLocks xmlns:a="http://schemas.openxmlformats.org/drawingml/2006/main" noGrp="1"/>
          </p:cNvSpPr>
          <p:nvPr/>
        </p:nvSpPr>
        <p:spPr>
          <a:xfrm xmlns:a="http://schemas.openxmlformats.org/drawingml/2006/main">
            <a:off x="609600" y="2143125"/>
            <a:ext cx="10477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250" b="0">
                <a:solidFill>
                  <a:srgbClr val="17223B"/>
                </a:solidFill>
                <a:latin typeface="Arial"/>
                <a:ea typeface="Arial"/>
                <a:cs typeface="Arial"/>
              </a:defRPr>
            </a:defPPr>
          </a:lstStyle>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Track benefits and burdens separately.</a:t>
            </a:r>
          </a:p>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Make feedback accessible and assign a responder.</a:t>
            </a:r>
          </a:p>
          <a:p xmlns:a="http://schemas.openxmlformats.org/drawingml/2006/main">
            <a:pPr>
              <a:defRPr sz="2250" b="0">
                <a:solidFill>
                  <a:srgbClr val="17223B"/>
                </a:solidFill>
                <a:latin typeface="Arial"/>
                <a:ea typeface="Arial"/>
                <a:cs typeface="Arial"/>
              </a:defRPr>
            </a:pPr>
            <a:r>
              <a:rPr sz="2250" b="0">
                <a:solidFill>
                  <a:srgbClr val="17223B"/>
                </a:solidFill>
                <a:latin typeface="Arial"/>
                <a:ea typeface="Arial"/>
                <a:cs typeface="Arial"/>
              </a:rPr>
              <a:t>Adjust when new harms emerge.</a:t>
            </a:r>
          </a:p>
        </p:txBody>
      </p:sp>
      <p:sp>
        <p:nvSpPr>
          <p:cNvPr id="6" name="">
            <a:extLst xmlns:a="http://schemas.openxmlformats.org/drawingml/2006/main">
              <a:ext uri="{FF2B5EF4-FFF2-40B4-BE49-F238E27FC236}">
                <a16:creationId xmlns:a16="http://schemas.microsoft.com/office/drawing/2014/main" id="{372E725F-DA59-4E76-AF8C-3E7468C93619}"/>
              </a:ext>
            </a:extLst>
          </p:cNvPr>
          <p:cNvSpPr>
            <a:spLocks xmlns:a="http://schemas.openxmlformats.org/drawingml/2006/main" noGrp="1"/>
          </p:cNvSpPr>
          <p:nvPr/>
        </p:nvSpPr>
        <p:spPr>
          <a:xfrm xmlns:a="http://schemas.openxmlformats.org/drawingml/2006/main">
            <a:off x="609600" y="442912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725" b="0">
                <a:solidFill>
                  <a:srgbClr val="17223B"/>
                </a:solidFill>
                <a:latin typeface="Arial"/>
                <a:ea typeface="Arial"/>
                <a:cs typeface="Arial"/>
              </a:defRPr>
            </a:defPPr>
          </a:lstStyle>
          <a:p xmlns:a="http://schemas.openxmlformats.org/drawingml/2006/main">
            <a:pPr>
              <a:defRPr sz="1725" b="0">
                <a:solidFill>
                  <a:srgbClr val="17223B"/>
                </a:solidFill>
                <a:latin typeface="Arial"/>
                <a:ea typeface="Arial"/>
                <a:cs typeface="Arial"/>
              </a:defRPr>
            </a:pPr>
            <a:r>
              <a:rPr sz="1725" b="0">
                <a:solidFill>
                  <a:srgbClr val="17223B"/>
                </a:solidFill>
                <a:latin typeface="Arial"/>
                <a:ea typeface="Arial"/>
                <a:cs typeface="Arial"/>
              </a:rPr>
              <a:t>Assess how climate decisions distribute benefits and burdens and propose accountable follow-up.</a:t>
            </a:r>
          </a:p>
        </p:txBody>
      </p:sp>
    </p:spTree>
    <p:extLst>
      <p:ext uri="{BB962C8B-B14F-4D97-AF65-F5344CB8AC3E}">
        <p14:creationId xmlns:p14="http://schemas.microsoft.com/office/powerpoint/2010/main" val="55331487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C93CE24-0229-4486-A4DB-412609C316D5}"/>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MODULE 3  |  FICTIONAL WORKED EXAMPLE</a:t>
            </a:r>
          </a:p>
        </p:txBody>
      </p:sp>
      <p:sp>
        <p:nvSpPr>
          <p:cNvPr id="2" name="">
            <a:extLst xmlns:a="http://schemas.openxmlformats.org/drawingml/2006/main">
              <a:ext uri="{FF2B5EF4-FFF2-40B4-BE49-F238E27FC236}">
                <a16:creationId xmlns:a16="http://schemas.microsoft.com/office/drawing/2014/main" id="{393A15B0-D45B-48F0-A227-D85E915E6008}"/>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Apply the lesson</a:t>
            </a:r>
          </a:p>
        </p:txBody>
      </p:sp>
      <p:sp>
        <p:nvSpPr>
          <p:cNvPr id="3" name="">
            <a:extLst xmlns:a="http://schemas.openxmlformats.org/drawingml/2006/main">
              <a:ext uri="{FF2B5EF4-FFF2-40B4-BE49-F238E27FC236}">
                <a16:creationId xmlns:a16="http://schemas.microsoft.com/office/drawing/2014/main" id="{2FC6EB28-210A-406F-998F-69CAB9F85CA4}"/>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SWP-032  |  SWEEP Academy  |  1.1.0</a:t>
            </a:r>
          </a:p>
        </p:txBody>
      </p:sp>
      <p:sp>
        <p:nvSpPr>
          <p:cNvPr id="4" name="">
            <a:extLst xmlns:a="http://schemas.openxmlformats.org/drawingml/2006/main">
              <a:ext uri="{FF2B5EF4-FFF2-40B4-BE49-F238E27FC236}">
                <a16:creationId xmlns:a16="http://schemas.microsoft.com/office/drawing/2014/main" id="{CF467B55-71C0-454C-8B05-0D068329FB47}"/>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7</a:t>
            </a:r>
          </a:p>
        </p:txBody>
      </p:sp>
      <p:sp>
        <p:nvSpPr>
          <p:cNvPr id="5" name="">
            <a:extLst xmlns:a="http://schemas.openxmlformats.org/drawingml/2006/main">
              <a:ext uri="{FF2B5EF4-FFF2-40B4-BE49-F238E27FC236}">
                <a16:creationId xmlns:a16="http://schemas.microsoft.com/office/drawing/2014/main" id="{97C1E1B9-1FF9-4932-A708-157082B0721B}"/>
              </a:ext>
            </a:extLst>
          </p:cNvPr>
          <p:cNvSpPr>
            <a:spLocks xmlns:a="http://schemas.openxmlformats.org/drawingml/2006/main" noGrp="1"/>
          </p:cNvSpPr>
          <p:nvPr/>
        </p:nvSpPr>
        <p:spPr>
          <a:xfrm xmlns:a="http://schemas.openxmlformats.org/drawingml/2006/main">
            <a:off x="609600" y="1952625"/>
            <a:ext cx="105727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0">
                <a:solidFill>
                  <a:srgbClr val="17223B"/>
                </a:solidFill>
                <a:latin typeface="Arial"/>
                <a:ea typeface="Arial"/>
                <a:cs typeface="Arial"/>
              </a:defRPr>
            </a:defPPr>
          </a:lstStyle>
          <a:p xmlns:a="http://schemas.openxmlformats.org/drawingml/2006/main">
            <a:pPr>
              <a:defRPr sz="1875" b="0">
                <a:solidFill>
                  <a:srgbClr val="17223B"/>
                </a:solidFill>
                <a:latin typeface="Arial"/>
                <a:ea typeface="Arial"/>
                <a:cs typeface="Arial"/>
              </a:defRPr>
            </a:pPr>
            <a:r>
              <a:rPr sz="1875" b="0">
                <a:solidFill>
                  <a:srgbClr val="17223B"/>
                </a:solidFill>
                <a:latin typeface="Arial"/>
                <a:ea typeface="Arial"/>
                <a:cs typeface="Arial"/>
              </a:rPr>
              <a:t>Fictional worked example: the centre opens, but traders report that the new route lengthens their journey. The project lead records the concern, checks it with affected users and technical advisers, and seeks approval for an adjustment. The public update explains what changed without naming complainants.</a:t>
            </a:r>
          </a:p>
        </p:txBody>
      </p:sp>
      <p:sp>
        <p:nvSpPr>
          <p:cNvPr id="6" name="">
            <a:extLst xmlns:a="http://schemas.openxmlformats.org/drawingml/2006/main">
              <a:ext uri="{FF2B5EF4-FFF2-40B4-BE49-F238E27FC236}">
                <a16:creationId xmlns:a16="http://schemas.microsoft.com/office/drawing/2014/main" id="{221A1897-8149-4AF3-9526-F6612CEEF2C3}"/>
              </a:ext>
            </a:extLst>
          </p:cNvPr>
          <p:cNvSpPr>
            <a:spLocks xmlns:a="http://schemas.openxmlformats.org/drawingml/2006/main" noGrp="1"/>
          </p:cNvSpPr>
          <p:nvPr/>
        </p:nvSpPr>
        <p:spPr>
          <a:xfrm xmlns:a="http://schemas.openxmlformats.org/drawingml/2006/main">
            <a:off x="609600" y="385762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YOUR TASK</a:t>
            </a:r>
          </a:p>
        </p:txBody>
      </p:sp>
      <p:sp>
        <p:nvSpPr>
          <p:cNvPr id="7" name="">
            <a:extLst xmlns:a="http://schemas.openxmlformats.org/drawingml/2006/main">
              <a:ext uri="{FF2B5EF4-FFF2-40B4-BE49-F238E27FC236}">
                <a16:creationId xmlns:a16="http://schemas.microsoft.com/office/drawing/2014/main" id="{E7CDA635-4480-4106-B455-F2B3E68E953B}"/>
              </a:ext>
            </a:extLst>
          </p:cNvPr>
          <p:cNvSpPr>
            <a:spLocks xmlns:a="http://schemas.openxmlformats.org/drawingml/2006/main" noGrp="1"/>
          </p:cNvSpPr>
          <p:nvPr/>
        </p:nvSpPr>
        <p:spPr>
          <a:xfrm xmlns:a="http://schemas.openxmlformats.org/drawingml/2006/main">
            <a:off x="609600" y="4381500"/>
            <a:ext cx="1057275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875" b="0">
                <a:solidFill>
                  <a:srgbClr val="17223B"/>
                </a:solidFill>
                <a:latin typeface="Arial"/>
                <a:ea typeface="Arial"/>
                <a:cs typeface="Arial"/>
              </a:defRPr>
            </a:defPPr>
          </a:lstStyle>
          <a:p xmlns:a="http://schemas.openxmlformats.org/drawingml/2006/main">
            <a:pPr>
              <a:defRPr sz="1875" b="0">
                <a:solidFill>
                  <a:srgbClr val="17223B"/>
                </a:solidFill>
                <a:latin typeface="Arial"/>
                <a:ea typeface="Arial"/>
                <a:cs typeface="Arial"/>
              </a:defRPr>
            </a:pPr>
            <a:r>
              <a:rPr sz="1875" b="0">
                <a:solidFill>
                  <a:srgbClr val="17223B"/>
                </a:solidFill>
                <a:latin typeface="Arial"/>
                <a:ea typeface="Arial"/>
                <a:cs typeface="Arial"/>
              </a:rPr>
              <a:t>Draft a short accountability plan: one benefit measure, one burden measure, a protected feedback route, an action owner and a review decision.</a:t>
            </a:r>
          </a:p>
        </p:txBody>
      </p:sp>
    </p:spTree>
    <p:extLst>
      <p:ext uri="{BB962C8B-B14F-4D97-AF65-F5344CB8AC3E}">
        <p14:creationId xmlns:p14="http://schemas.microsoft.com/office/powerpoint/2010/main" val="201733371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BFD29F5-2B1B-43CC-8004-75F6E3334756}"/>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EVIDENCE CHECK</a:t>
            </a:r>
          </a:p>
        </p:txBody>
      </p:sp>
      <p:sp>
        <p:nvSpPr>
          <p:cNvPr id="2" name="">
            <a:extLst xmlns:a="http://schemas.openxmlformats.org/drawingml/2006/main">
              <a:ext uri="{FF2B5EF4-FFF2-40B4-BE49-F238E27FC236}">
                <a16:creationId xmlns:a16="http://schemas.microsoft.com/office/drawing/2014/main" id="{AE423A84-F66F-4858-BAB6-97262FABF6B1}"/>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Sources and limits</a:t>
            </a:r>
          </a:p>
        </p:txBody>
      </p:sp>
      <p:sp>
        <p:nvSpPr>
          <p:cNvPr id="3" name="">
            <a:extLst xmlns:a="http://schemas.openxmlformats.org/drawingml/2006/main">
              <a:ext uri="{FF2B5EF4-FFF2-40B4-BE49-F238E27FC236}">
                <a16:creationId xmlns:a16="http://schemas.microsoft.com/office/drawing/2014/main" id="{A0FC50A4-0D3F-4568-A525-1E44C7AFC9CF}"/>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SWP-032  |  SWEEP Academy  |  1.1.0</a:t>
            </a:r>
          </a:p>
        </p:txBody>
      </p:sp>
      <p:sp>
        <p:nvSpPr>
          <p:cNvPr id="4" name="">
            <a:extLst xmlns:a="http://schemas.openxmlformats.org/drawingml/2006/main">
              <a:ext uri="{FF2B5EF4-FFF2-40B4-BE49-F238E27FC236}">
                <a16:creationId xmlns:a16="http://schemas.microsoft.com/office/drawing/2014/main" id="{E2307142-63A1-42C1-9443-AF52593AADD6}"/>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8</a:t>
            </a:r>
          </a:p>
        </p:txBody>
      </p:sp>
      <p:sp>
        <p:nvSpPr>
          <p:cNvPr id="5" name="">
            <a:extLst xmlns:a="http://schemas.openxmlformats.org/drawingml/2006/main">
              <a:ext uri="{FF2B5EF4-FFF2-40B4-BE49-F238E27FC236}">
                <a16:creationId xmlns:a16="http://schemas.microsoft.com/office/drawing/2014/main" id="{42799A2C-7C28-451D-9888-B501C855C8ED}"/>
              </a:ext>
            </a:extLst>
          </p:cNvPr>
          <p:cNvSpPr>
            <a:spLocks xmlns:a="http://schemas.openxmlformats.org/drawingml/2006/main" noGrp="1"/>
          </p:cNvSpPr>
          <p:nvPr/>
        </p:nvSpPr>
        <p:spPr>
          <a:xfrm xmlns:a="http://schemas.openxmlformats.org/drawingml/2006/main">
            <a:off x="609600" y="19050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75" b="1">
                <a:solidFill>
                  <a:srgbClr val="17223B"/>
                </a:solidFill>
                <a:latin typeface="Arial"/>
                <a:ea typeface="Arial"/>
                <a:cs typeface="Arial"/>
              </a:defRPr>
            </a:defPPr>
          </a:lstStyle>
          <a:p xmlns:a="http://schemas.openxmlformats.org/drawingml/2006/main">
            <a:pPr>
              <a:defRPr sz="1575" b="1">
                <a:solidFill>
                  <a:srgbClr val="17223B"/>
                </a:solidFill>
                <a:latin typeface="Arial"/>
                <a:ea typeface="Arial"/>
                <a:cs typeface="Arial"/>
              </a:defRPr>
            </a:pPr>
            <a:r>
              <a:rPr sz="1575" b="1">
                <a:solidFill>
                  <a:srgbClr val="17223B"/>
                </a:solidFill>
                <a:latin typeface="Arial"/>
                <a:ea typeface="Arial"/>
                <a:cs typeface="Arial"/>
              </a:rPr>
              <a:t>[R2] Cwikel, J. (2025). Social work for a greener planet: reframing social work skills and education to mitigate the climate crisis. Cogent Social Sciences.</a:t>
            </a:r>
          </a:p>
        </p:txBody>
      </p:sp>
      <p:sp>
        <p:nvSpPr>
          <p:cNvPr id="6" name="">
            <a:extLst xmlns:a="http://schemas.openxmlformats.org/drawingml/2006/main">
              <a:ext uri="{FF2B5EF4-FFF2-40B4-BE49-F238E27FC236}">
                <a16:creationId xmlns:a16="http://schemas.microsoft.com/office/drawing/2014/main" id="{1D43CCC3-5606-42AC-A0AB-97A9FD2F0978}"/>
              </a:ext>
            </a:extLst>
          </p:cNvPr>
          <p:cNvSpPr>
            <a:spLocks xmlns:a="http://schemas.openxmlformats.org/drawingml/2006/main" noGrp="1"/>
          </p:cNvSpPr>
          <p:nvPr/>
        </p:nvSpPr>
        <p:spPr>
          <a:xfrm xmlns:a="http://schemas.openxmlformats.org/drawingml/2006/main">
            <a:off x="609600" y="2905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b="0">
                <a:solidFill>
                  <a:srgbClr val="17223B"/>
                </a:solidFill>
                <a:latin typeface="Arial"/>
                <a:ea typeface="Arial"/>
                <a:cs typeface="Arial"/>
              </a:defRPr>
            </a:defPPr>
          </a:lstStyle>
          <a:p xmlns:a="http://schemas.openxmlformats.org/drawingml/2006/main">
            <a:pPr>
              <a:defRPr sz="1350" b="0">
                <a:solidFill>
                  <a:srgbClr val="17223B"/>
                </a:solidFill>
                <a:latin typeface="Arial"/>
                <a:ea typeface="Arial"/>
                <a:cs typeface="Arial"/>
              </a:defRPr>
            </a:pPr>
            <a:r>
              <a:rPr sz="1350" b="0">
                <a:solidFill>
                  <a:srgbClr val="17223B"/>
                </a:solidFill>
                <a:latin typeface="Arial"/>
                <a:ea typeface="Arial"/>
                <a:cs typeface="Arial"/>
              </a:rPr>
              <a:t>https://doi.org/10.1080/23311886.2024.2444469</a:t>
            </a:r>
          </a:p>
          <a:p xmlns:a="http://schemas.openxmlformats.org/drawingml/2006/main">
            <a:pPr>
              <a:defRPr sz="1350" b="0">
                <a:solidFill>
                  <a:srgbClr val="17223B"/>
                </a:solidFill>
                <a:latin typeface="Arial"/>
                <a:ea typeface="Arial"/>
                <a:cs typeface="Arial"/>
              </a:defRPr>
            </a:pPr>
            <a:r>
              <a:rPr sz="1350" b="0">
                <a:solidFill>
                  <a:srgbClr val="17223B"/>
                </a:solidFill>
                <a:latin typeface="Arial"/>
                <a:ea typeface="Arial"/>
                <a:cs typeface="Arial"/>
              </a:rPr>
              <a:t>Used for curricular relevance only, not evidence that a particular adaptation intervention works.</a:t>
            </a:r>
          </a:p>
        </p:txBody>
      </p:sp>
      <p:sp>
        <p:nvSpPr>
          <p:cNvPr id="7" name="">
            <a:extLst xmlns:a="http://schemas.openxmlformats.org/drawingml/2006/main">
              <a:ext uri="{FF2B5EF4-FFF2-40B4-BE49-F238E27FC236}">
                <a16:creationId xmlns:a16="http://schemas.microsoft.com/office/drawing/2014/main" id="{CB0D2739-DB6F-4ED8-B290-C6440A7E7424}"/>
              </a:ext>
            </a:extLst>
          </p:cNvPr>
          <p:cNvSpPr>
            <a:spLocks xmlns:a="http://schemas.openxmlformats.org/drawingml/2006/main" noGrp="1"/>
          </p:cNvSpPr>
          <p:nvPr/>
        </p:nvSpPr>
        <p:spPr>
          <a:xfrm xmlns:a="http://schemas.openxmlformats.org/drawingml/2006/main">
            <a:off x="609600" y="390525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75" b="1">
                <a:solidFill>
                  <a:srgbClr val="17223B"/>
                </a:solidFill>
                <a:latin typeface="Arial"/>
                <a:ea typeface="Arial"/>
                <a:cs typeface="Arial"/>
              </a:defRPr>
            </a:defPPr>
          </a:lstStyle>
          <a:p xmlns:a="http://schemas.openxmlformats.org/drawingml/2006/main">
            <a:pPr>
              <a:defRPr sz="1575" b="1">
                <a:solidFill>
                  <a:srgbClr val="17223B"/>
                </a:solidFill>
                <a:latin typeface="Arial"/>
                <a:ea typeface="Arial"/>
                <a:cs typeface="Arial"/>
              </a:defRPr>
            </a:pPr>
            <a:r>
              <a:rPr sz="1575" b="1">
                <a:solidFill>
                  <a:srgbClr val="17223B"/>
                </a:solidFill>
                <a:latin typeface="Arial"/>
                <a:ea typeface="Arial"/>
                <a:cs typeface="Arial"/>
              </a:rPr>
              <a:t>[S3] IPCC (2023). AR6 Synthesis Report Summary for Policymakers.</a:t>
            </a:r>
          </a:p>
        </p:txBody>
      </p:sp>
      <p:sp>
        <p:nvSpPr>
          <p:cNvPr id="8" name="">
            <a:extLst xmlns:a="http://schemas.openxmlformats.org/drawingml/2006/main">
              <a:ext uri="{FF2B5EF4-FFF2-40B4-BE49-F238E27FC236}">
                <a16:creationId xmlns:a16="http://schemas.microsoft.com/office/drawing/2014/main" id="{ED729559-B2C2-42D3-BD1B-900244C6EE06}"/>
              </a:ext>
            </a:extLst>
          </p:cNvPr>
          <p:cNvSpPr>
            <a:spLocks xmlns:a="http://schemas.openxmlformats.org/drawingml/2006/main" noGrp="1"/>
          </p:cNvSpPr>
          <p:nvPr/>
        </p:nvSpPr>
        <p:spPr>
          <a:xfrm xmlns:a="http://schemas.openxmlformats.org/drawingml/2006/main">
            <a:off x="609600" y="49053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b="0">
                <a:solidFill>
                  <a:srgbClr val="17223B"/>
                </a:solidFill>
                <a:latin typeface="Arial"/>
                <a:ea typeface="Arial"/>
                <a:cs typeface="Arial"/>
              </a:defRPr>
            </a:defPPr>
          </a:lstStyle>
          <a:p xmlns:a="http://schemas.openxmlformats.org/drawingml/2006/main">
            <a:pPr>
              <a:defRPr sz="1350" b="0">
                <a:solidFill>
                  <a:srgbClr val="17223B"/>
                </a:solidFill>
                <a:latin typeface="Arial"/>
                <a:ea typeface="Arial"/>
                <a:cs typeface="Arial"/>
              </a:defRPr>
            </a:pPr>
            <a:r>
              <a:rPr sz="1350" b="0">
                <a:solidFill>
                  <a:srgbClr val="17223B"/>
                </a:solidFill>
                <a:latin typeface="Arial"/>
                <a:ea typeface="Arial"/>
                <a:cs typeface="Arial"/>
              </a:rPr>
              <a:t>https://www.ipcc.ch/report/ar6/syr/summary-for-policymakers/</a:t>
            </a:r>
          </a:p>
          <a:p xmlns:a="http://schemas.openxmlformats.org/drawingml/2006/main">
            <a:pPr>
              <a:defRPr sz="1350" b="0">
                <a:solidFill>
                  <a:srgbClr val="17223B"/>
                </a:solidFill>
                <a:latin typeface="Arial"/>
                <a:ea typeface="Arial"/>
                <a:cs typeface="Arial"/>
              </a:defRPr>
            </a:pPr>
            <a:r>
              <a:rPr sz="1350" b="0">
                <a:solidFill>
                  <a:srgbClr val="17223B"/>
                </a:solidFill>
                <a:latin typeface="Arial"/>
                <a:ea typeface="Arial"/>
                <a:cs typeface="Arial"/>
              </a:rPr>
              <a:t>Not site-specific engineering advice or attribution of an individual local event.</a:t>
            </a:r>
          </a:p>
        </p:txBody>
      </p:sp>
    </p:spTree>
    <p:extLst>
      <p:ext uri="{BB962C8B-B14F-4D97-AF65-F5344CB8AC3E}">
        <p14:creationId xmlns:p14="http://schemas.microsoft.com/office/powerpoint/2010/main" val="26978341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159045E-D807-4E37-80BE-213D624E397F}"/>
              </a:ext>
            </a:extLst>
          </p:cNvPr>
          <p:cNvSpPr>
            <a:spLocks xmlns:a="http://schemas.openxmlformats.org/drawingml/2006/main" noGrp="1"/>
          </p:cNvSpPr>
          <p:nvPr/>
        </p:nvSpPr>
        <p:spPr>
          <a:xfrm xmlns:a="http://schemas.openxmlformats.org/drawingml/2006/main">
            <a:off x="609600" y="333375"/>
            <a:ext cx="10858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275" b="1">
                <a:solidFill>
                  <a:srgbClr val="35634B"/>
                </a:solidFill>
                <a:latin typeface="Arial"/>
                <a:ea typeface="Arial"/>
                <a:cs typeface="Arial"/>
              </a:defRPr>
            </a:defPPr>
          </a:lstStyle>
          <a:p xmlns:a="http://schemas.openxmlformats.org/drawingml/2006/main">
            <a:pPr>
              <a:defRPr sz="1275" b="1">
                <a:solidFill>
                  <a:srgbClr val="35634B"/>
                </a:solidFill>
                <a:latin typeface="Arial"/>
                <a:ea typeface="Arial"/>
                <a:cs typeface="Arial"/>
              </a:defRPr>
            </a:pPr>
            <a:r>
              <a:rPr sz="1275" b="1">
                <a:solidFill>
                  <a:srgbClr val="35634B"/>
                </a:solidFill>
                <a:latin typeface="Arial"/>
                <a:ea typeface="Arial"/>
                <a:cs typeface="Arial"/>
              </a:rPr>
              <a:t>EVIDENCE CHECK</a:t>
            </a:r>
          </a:p>
        </p:txBody>
      </p:sp>
      <p:sp>
        <p:nvSpPr>
          <p:cNvPr id="2" name="">
            <a:extLst xmlns:a="http://schemas.openxmlformats.org/drawingml/2006/main">
              <a:ext uri="{FF2B5EF4-FFF2-40B4-BE49-F238E27FC236}">
                <a16:creationId xmlns:a16="http://schemas.microsoft.com/office/drawing/2014/main" id="{7815A819-CAE1-4BF2-9D17-F48D432FE804}"/>
              </a:ext>
            </a:extLst>
          </p:cNvPr>
          <p:cNvSpPr>
            <a:spLocks xmlns:a="http://schemas.openxmlformats.org/drawingml/2006/main" noGrp="1"/>
          </p:cNvSpPr>
          <p:nvPr/>
        </p:nvSpPr>
        <p:spPr>
          <a:xfrm xmlns:a="http://schemas.openxmlformats.org/drawingml/2006/main">
            <a:off x="609600" y="876300"/>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2625" b="1">
                <a:solidFill>
                  <a:srgbClr val="0B2C7A"/>
                </a:solidFill>
                <a:latin typeface="Arial"/>
                <a:ea typeface="Arial"/>
                <a:cs typeface="Arial"/>
              </a:defRPr>
            </a:defPPr>
          </a:lstStyle>
          <a:p xmlns:a="http://schemas.openxmlformats.org/drawingml/2006/main">
            <a:pPr>
              <a:defRPr sz="2625" b="1">
                <a:solidFill>
                  <a:srgbClr val="0B2C7A"/>
                </a:solidFill>
                <a:latin typeface="Arial"/>
                <a:ea typeface="Arial"/>
                <a:cs typeface="Arial"/>
              </a:defRPr>
            </a:pPr>
            <a:r>
              <a:rPr sz="2625" b="1">
                <a:solidFill>
                  <a:srgbClr val="0B2C7A"/>
                </a:solidFill>
                <a:latin typeface="Arial"/>
                <a:ea typeface="Arial"/>
                <a:cs typeface="Arial"/>
              </a:rPr>
              <a:t>Sources and limits</a:t>
            </a:r>
          </a:p>
        </p:txBody>
      </p:sp>
      <p:sp>
        <p:nvSpPr>
          <p:cNvPr id="3" name="">
            <a:extLst xmlns:a="http://schemas.openxmlformats.org/drawingml/2006/main">
              <a:ext uri="{FF2B5EF4-FFF2-40B4-BE49-F238E27FC236}">
                <a16:creationId xmlns:a16="http://schemas.microsoft.com/office/drawing/2014/main" id="{06D45C36-098F-481C-88BC-B6647EDB478A}"/>
              </a:ext>
            </a:extLst>
          </p:cNvPr>
          <p:cNvSpPr>
            <a:spLocks xmlns:a="http://schemas.openxmlformats.org/drawingml/2006/main" noGrp="1"/>
          </p:cNvSpPr>
          <p:nvPr/>
        </p:nvSpPr>
        <p:spPr>
          <a:xfrm xmlns:a="http://schemas.openxmlformats.org/drawingml/2006/main">
            <a:off x="609600" y="64198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SWP-032  |  SWEEP Academy  |  1.1.0</a:t>
            </a:r>
          </a:p>
        </p:txBody>
      </p:sp>
      <p:sp>
        <p:nvSpPr>
          <p:cNvPr id="4" name="">
            <a:extLst xmlns:a="http://schemas.openxmlformats.org/drawingml/2006/main">
              <a:ext uri="{FF2B5EF4-FFF2-40B4-BE49-F238E27FC236}">
                <a16:creationId xmlns:a16="http://schemas.microsoft.com/office/drawing/2014/main" id="{F448398D-336B-4D92-B6E9-C50E6F461780}"/>
              </a:ext>
            </a:extLst>
          </p:cNvPr>
          <p:cNvSpPr>
            <a:spLocks xmlns:a="http://schemas.openxmlformats.org/drawingml/2006/main" noGrp="1"/>
          </p:cNvSpPr>
          <p:nvPr/>
        </p:nvSpPr>
        <p:spPr>
          <a:xfrm xmlns:a="http://schemas.openxmlformats.org/drawingml/2006/main">
            <a:off x="11144250" y="6419850"/>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900" b="0">
                <a:solidFill>
                  <a:srgbClr val="17223B"/>
                </a:solidFill>
                <a:latin typeface="Arial"/>
                <a:ea typeface="Arial"/>
                <a:cs typeface="Arial"/>
              </a:defRPr>
            </a:defPPr>
          </a:lstStyle>
          <a:p xmlns:a="http://schemas.openxmlformats.org/drawingml/2006/main">
            <a:pPr>
              <a:defRPr sz="900" b="0">
                <a:solidFill>
                  <a:srgbClr val="17223B"/>
                </a:solidFill>
                <a:latin typeface="Arial"/>
                <a:ea typeface="Arial"/>
                <a:cs typeface="Arial"/>
              </a:defRPr>
            </a:pPr>
            <a:r>
              <a:rPr sz="900" b="0">
                <a:solidFill>
                  <a:srgbClr val="17223B"/>
                </a:solidFill>
                <a:latin typeface="Arial"/>
                <a:ea typeface="Arial"/>
                <a:cs typeface="Arial"/>
              </a:rPr>
              <a:t>9</a:t>
            </a:r>
          </a:p>
        </p:txBody>
      </p:sp>
      <p:sp>
        <p:nvSpPr>
          <p:cNvPr id="5" name="">
            <a:extLst xmlns:a="http://schemas.openxmlformats.org/drawingml/2006/main">
              <a:ext uri="{FF2B5EF4-FFF2-40B4-BE49-F238E27FC236}">
                <a16:creationId xmlns:a16="http://schemas.microsoft.com/office/drawing/2014/main" id="{90065140-8511-4711-B5C7-A40060619407}"/>
              </a:ext>
            </a:extLst>
          </p:cNvPr>
          <p:cNvSpPr>
            <a:spLocks xmlns:a="http://schemas.openxmlformats.org/drawingml/2006/main" noGrp="1"/>
          </p:cNvSpPr>
          <p:nvPr/>
        </p:nvSpPr>
        <p:spPr>
          <a:xfrm xmlns:a="http://schemas.openxmlformats.org/drawingml/2006/main">
            <a:off x="609600" y="1905000"/>
            <a:ext cx="10572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575" b="1">
                <a:solidFill>
                  <a:srgbClr val="17223B"/>
                </a:solidFill>
                <a:latin typeface="Arial"/>
                <a:ea typeface="Arial"/>
                <a:cs typeface="Arial"/>
              </a:defRPr>
            </a:defPPr>
          </a:lstStyle>
          <a:p xmlns:a="http://schemas.openxmlformats.org/drawingml/2006/main">
            <a:pPr>
              <a:defRPr sz="1575" b="1">
                <a:solidFill>
                  <a:srgbClr val="17223B"/>
                </a:solidFill>
                <a:latin typeface="Arial"/>
                <a:ea typeface="Arial"/>
                <a:cs typeface="Arial"/>
              </a:defRPr>
            </a:pPr>
            <a:r>
              <a:rPr sz="1575" b="1">
                <a:solidFill>
                  <a:srgbClr val="17223B"/>
                </a:solidFill>
                <a:latin typeface="Arial"/>
                <a:ea typeface="Arial"/>
                <a:cs typeface="Arial"/>
              </a:rPr>
              <a:t>[S4] IFSW (2018). Global Social Work Statement of Ethical Principles.</a:t>
            </a:r>
          </a:p>
        </p:txBody>
      </p:sp>
      <p:sp>
        <p:nvSpPr>
          <p:cNvPr id="6" name="">
            <a:extLst xmlns:a="http://schemas.openxmlformats.org/drawingml/2006/main">
              <a:ext uri="{FF2B5EF4-FFF2-40B4-BE49-F238E27FC236}">
                <a16:creationId xmlns:a16="http://schemas.microsoft.com/office/drawing/2014/main" id="{CF8FD1E5-D87F-4940-9F8D-08E8CDAD232F}"/>
              </a:ext>
            </a:extLst>
          </p:cNvPr>
          <p:cNvSpPr>
            <a:spLocks xmlns:a="http://schemas.openxmlformats.org/drawingml/2006/main" noGrp="1"/>
          </p:cNvSpPr>
          <p:nvPr/>
        </p:nvSpPr>
        <p:spPr>
          <a:xfrm xmlns:a="http://schemas.openxmlformats.org/drawingml/2006/main">
            <a:off x="609600" y="2905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defPPr>
              <a:defRPr sz="1350" b="0">
                <a:solidFill>
                  <a:srgbClr val="17223B"/>
                </a:solidFill>
                <a:latin typeface="Arial"/>
                <a:ea typeface="Arial"/>
                <a:cs typeface="Arial"/>
              </a:defRPr>
            </a:defPPr>
          </a:lstStyle>
          <a:p xmlns:a="http://schemas.openxmlformats.org/drawingml/2006/main">
            <a:pPr>
              <a:defRPr sz="1350" b="0">
                <a:solidFill>
                  <a:srgbClr val="17223B"/>
                </a:solidFill>
                <a:latin typeface="Arial"/>
                <a:ea typeface="Arial"/>
                <a:cs typeface="Arial"/>
              </a:defRPr>
            </a:pPr>
            <a:r>
              <a:rPr sz="1350" b="0">
                <a:solidFill>
                  <a:srgbClr val="17223B"/>
                </a:solidFill>
                <a:latin typeface="Arial"/>
                <a:ea typeface="Arial"/>
                <a:cs typeface="Arial"/>
              </a:rPr>
              <a:t>https://www.ifsw.org/global-social-work-statement-of-ethical-principles/</a:t>
            </a:r>
          </a:p>
          <a:p xmlns:a="http://schemas.openxmlformats.org/drawingml/2006/main">
            <a:pPr>
              <a:defRPr sz="1350" b="0">
                <a:solidFill>
                  <a:srgbClr val="17223B"/>
                </a:solidFill>
                <a:latin typeface="Arial"/>
                <a:ea typeface="Arial"/>
                <a:cs typeface="Arial"/>
              </a:defRPr>
            </a:pPr>
            <a:r>
              <a:rPr sz="1350" b="0">
                <a:solidFill>
                  <a:srgbClr val="17223B"/>
                </a:solidFill>
                <a:latin typeface="Arial"/>
                <a:ea typeface="Arial"/>
                <a:cs typeface="Arial"/>
              </a:rPr>
              <a:t>Does not replace applicable law or organisational safeguarding procedures.</a:t>
            </a:r>
          </a:p>
        </p:txBody>
      </p:sp>
    </p:spTree>
    <p:extLst>
      <p:ext uri="{BB962C8B-B14F-4D97-AF65-F5344CB8AC3E}">
        <p14:creationId xmlns:p14="http://schemas.microsoft.com/office/powerpoint/2010/main" val="10514100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2026-10-17T09:56:36.2040000Z</dcterms:created>
  <dcterms:modified xsi:type="dcterms:W3CDTF">2026-10-17T09:56:36.2040000Z</dcterms:modified>
</coreProperties>
</file>