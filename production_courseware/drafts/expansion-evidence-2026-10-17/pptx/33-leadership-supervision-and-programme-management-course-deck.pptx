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a569ccfb3e4fe9" /><Relationship Type="http://schemas.openxmlformats.org/officeDocument/2006/relationships/extended-properties" Target="/docProps/app.xml" Id="Rf2acac45908e4832" /><Relationship Type="http://schemas.openxmlformats.org/officeDocument/2006/relationships/officeDocument" Target="/ppt/presentation.xml" Id="Re45c666c37e64fd0" /></Relationships>
</file>

<file path=ppt/presentation.xml><?xml version="1.0" encoding="utf-8"?>
<p:presentation xmlns:p="http://schemas.openxmlformats.org/presentationml/2006/main">
  <p:sldMasterIdLst>
    <p:sldMasterId xmlns:r="http://schemas.openxmlformats.org/officeDocument/2006/relationships" id="2147483648" r:id="R5b64831bef744670"/>
  </p:sldMasterIdLst>
  <p:notesMasterIdLst>
    <p:notesMasterId xmlns:r="http://schemas.openxmlformats.org/officeDocument/2006/relationships" r:id="R2b88c40a47d14afb"/>
  </p:notesMasterIdLst>
  <p:sldIdLst>
    <p:sldId xmlns:r="http://schemas.openxmlformats.org/officeDocument/2006/relationships" id="256" r:id="Rf7294a8e9fab4044"/>
    <p:sldId xmlns:r="http://schemas.openxmlformats.org/officeDocument/2006/relationships" id="257" r:id="Rd78932cc04e046de"/>
    <p:sldId xmlns:r="http://schemas.openxmlformats.org/officeDocument/2006/relationships" id="258" r:id="R36773a9e76a14d5e"/>
    <p:sldId xmlns:r="http://schemas.openxmlformats.org/officeDocument/2006/relationships" id="259" r:id="Re7f7d44ec5794e1d"/>
    <p:sldId xmlns:r="http://schemas.openxmlformats.org/officeDocument/2006/relationships" id="260" r:id="Rfdc8f3a29c6f4913"/>
    <p:sldId xmlns:r="http://schemas.openxmlformats.org/officeDocument/2006/relationships" id="261" r:id="R42f8952f0f764257"/>
    <p:sldId xmlns:r="http://schemas.openxmlformats.org/officeDocument/2006/relationships" id="262" r:id="Re7e3a88a983940d0"/>
    <p:sldId xmlns:r="http://schemas.openxmlformats.org/officeDocument/2006/relationships" id="263" r:id="Rfb0368ca5e2a48bd"/>
    <p:sldId xmlns:r="http://schemas.openxmlformats.org/officeDocument/2006/relationships" id="264" r:id="R1e3680abbec447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e5c2562edf467b" /><Relationship Type="http://schemas.openxmlformats.org/officeDocument/2006/relationships/slideMaster" Target="/ppt/slideMasters/slideMaster1.xml" Id="R5b64831bef744670" /><Relationship Type="http://schemas.openxmlformats.org/officeDocument/2006/relationships/notesMaster" Target="/ppt/notesMasters/notesMaster1.xml" Id="R2b88c40a47d14afb" /><Relationship Type="http://schemas.openxmlformats.org/officeDocument/2006/relationships/presProps" Target="/ppt/presProps.xml" Id="R88593a324529430b" /><Relationship Type="http://schemas.openxmlformats.org/officeDocument/2006/relationships/tableStyles" Target="/ppt/tableStyles.xml" Id="Rf9e2a9f6cae044f6" /><Relationship Type="http://schemas.openxmlformats.org/officeDocument/2006/relationships/slide" Target="/ppt/slides/slide1.xml" Id="Rf7294a8e9fab4044" /><Relationship Type="http://schemas.openxmlformats.org/officeDocument/2006/relationships/slide" Target="/ppt/slides/slide2.xml" Id="Rd78932cc04e046de" /><Relationship Type="http://schemas.openxmlformats.org/officeDocument/2006/relationships/slide" Target="/ppt/slides/slide3.xml" Id="R36773a9e76a14d5e" /><Relationship Type="http://schemas.openxmlformats.org/officeDocument/2006/relationships/slide" Target="/ppt/slides/slide4.xml" Id="Re7f7d44ec5794e1d" /><Relationship Type="http://schemas.openxmlformats.org/officeDocument/2006/relationships/slide" Target="/ppt/slides/slide5.xml" Id="Rfdc8f3a29c6f4913" /><Relationship Type="http://schemas.openxmlformats.org/officeDocument/2006/relationships/slide" Target="/ppt/slides/slide6.xml" Id="R42f8952f0f764257" /><Relationship Type="http://schemas.openxmlformats.org/officeDocument/2006/relationships/slide" Target="/ppt/slides/slide7.xml" Id="Re7e3a88a983940d0" /><Relationship Type="http://schemas.openxmlformats.org/officeDocument/2006/relationships/slide" Target="/ppt/slides/slide8.xml" Id="Rfb0368ca5e2a48bd" /><Relationship Type="http://schemas.openxmlformats.org/officeDocument/2006/relationships/slide" Target="/ppt/slides/slide9.xml" Id="R1e3680abbec447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3aa97a90cb49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b19f171f3d4613" /><Relationship Type="http://schemas.openxmlformats.org/officeDocument/2006/relationships/notesMaster" Target="/ppt/notesMasters/notesMaster1.xml" Id="R63427170070346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585872b482411f" /><Relationship Type="http://schemas.openxmlformats.org/officeDocument/2006/relationships/notesMaster" Target="/ppt/notesMasters/notesMaster1.xml" Id="R0ec94847eac04f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141107d92045a2" /><Relationship Type="http://schemas.openxmlformats.org/officeDocument/2006/relationships/notesMaster" Target="/ppt/notesMasters/notesMaster1.xml" Id="R9f901521a9a349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7238d8304a47f1" /><Relationship Type="http://schemas.openxmlformats.org/officeDocument/2006/relationships/notesMaster" Target="/ppt/notesMasters/notesMaster1.xml" Id="Rfef8b32978624e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9b4a80737243ca" /><Relationship Type="http://schemas.openxmlformats.org/officeDocument/2006/relationships/notesMaster" Target="/ppt/notesMasters/notesMaster1.xml" Id="R4f7b80898eaf49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ebdd8668b14efd" /><Relationship Type="http://schemas.openxmlformats.org/officeDocument/2006/relationships/notesMaster" Target="/ppt/notesMasters/notesMaster1.xml" Id="Rc24a1476b66944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8abaa5e0a74e80" /><Relationship Type="http://schemas.openxmlformats.org/officeDocument/2006/relationships/notesMaster" Target="/ppt/notesMasters/notesMaster1.xml" Id="Ra373c4dc246247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d80618a9de4523" /><Relationship Type="http://schemas.openxmlformats.org/officeDocument/2006/relationships/notesMaster" Target="/ppt/notesMasters/notesMaster1.xml" Id="Re1ba5ecc895147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047019373f40f0" /><Relationship Type="http://schemas.openxmlformats.org/officeDocument/2006/relationships/notesMaster" Target="/ppt/notesMasters/notesMaster1.xml" Id="R9cec72f0e3d643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Delegation should explain which decisions a worker can make, the limits, the available support and when to seek approval. Being responsible for a programme does not confer every specialist competence. Distinguish routine coordination from decisions reserved for a qualified practitioner, budget holder or governing body. Record authority alongside the reasons for a decision so another person can understand how it was made.</a:t>
            </a:r>
          </a:p>
          <a:p xmlns:a="http://schemas.openxmlformats.org/drawingml/2006/main">
            <a:r>
              <a:t/>
            </a:r>
          </a:p>
          <a:p xmlns:a="http://schemas.openxmlformats.org/drawingml/2006/main">
            <a:r>
              <a:t>Invite relevant perspectives before the choice is settled. Record significant disagreement and how it was considered; uniform-looking minutes are not proof of inclusion. A personal or financial interest can compromise trust even if the person believes they can remain impartial. Disclose the interest and follow the organisation's independent decision process. Do not quietly resolve the issue by giving yourself permission or asking only people who benefit from the proposal.</a:t>
            </a:r>
          </a:p>
          <a:p xmlns:a="http://schemas.openxmlformats.org/drawingml/2006/main">
            <a:r>
              <a:t/>
            </a:r>
          </a:p>
          <a:p xmlns:a="http://schemas.openxmlformats.org/drawingml/2006/main">
            <a:r>
              <a:t>Delegation should state the decision scope, constraints, support and escalation route; it is not unlimited transfer of responsibility.</a:t>
            </a:r>
          </a:p>
          <a:p xmlns:a="http://schemas.openxmlformats.org/drawingml/2006/main">
            <a:r>
              <a:t/>
            </a:r>
          </a:p>
          <a:p xmlns:a="http://schemas.openxmlformats.org/drawingml/2006/main">
            <a:r>
              <a:t>When personal interests could influence a decision, disclose the conflict and use the organisation's independent decision process.</a:t>
            </a:r>
          </a:p>
          <a:p xmlns:a="http://schemas.openxmlformats.org/drawingml/2006/main">
            <a:r>
              <a:t/>
            </a:r>
          </a:p>
          <a:p xmlns:a="http://schemas.openxmlformats.org/drawingml/2006/main">
            <a:r>
              <a:t>Record the decision, its reasons, authority, owner and review point; minutes that only say 'agreed' do not establish accountability.</a:t>
            </a:r>
          </a:p>
          <a:p xmlns:a="http://schemas.openxmlformats.org/drawingml/2006/main">
            <a:r>
              <a:t/>
            </a:r>
          </a:p>
          <a:p xmlns:a="http://schemas.openxmlformats.org/drawingml/2006/main">
            <a:r>
              <a:t>Invite relevant perspectives before decisions and explain how disagreement was handled; inclusion is more than unanimous-looking minutes.</a:t>
            </a:r>
          </a:p>
          <a:p xmlns:a="http://schemas.openxmlformats.org/drawingml/2006/main">
            <a:r>
              <a:t/>
            </a:r>
          </a:p>
          <a:p xmlns:a="http://schemas.openxmlformats.org/drawingml/2006/main">
            <a:r>
              <a:t>Authority to manage a programme does not automatically confer competence or permission to perform specialist professional tasks.</a:t>
            </a:r>
          </a:p>
          <a:p xmlns:a="http://schemas.openxmlformats.org/drawingml/2006/main">
            <a:r>
              <a:t/>
            </a:r>
          </a:p>
          <a:p xmlns:a="http://schemas.openxmlformats.org/drawingml/2006/main">
            <a:r>
              <a:t>Viscu, L.-I., and Marici, M. (2024). Challenges in supervising social workers. International Journal of Social and Educational Innovation, 11(22), 81-94. https://zenodo.org/records/14246369 Conceptual guidance, not an effectiveness trial; it does not establish local licensing or scope-of-practice rules.</a:t>
            </a:r>
          </a:p>
          <a:p xmlns:a="http://schemas.openxmlformats.org/drawingml/2006/main">
            <a:r>
              <a:t/>
            </a:r>
          </a:p>
          <a:p xmlns:a="http://schemas.openxmlformats.org/drawingml/2006/main">
            <a:r>
              <a:t>NASW and ASWB. Best Practice Standards in Social Work Supervision. https://www.socialworkers.org/Practice/NASW-Practice-Standards-Guidelines/Best-Practice-Standards-in-Social-Work-Supervision Adapt to local roles, qualifications and regulatory requirements.</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worked example: the manager declares the supplier connection before procurement decisions. An authorised independent person handles the selection under policy. The record identifies the decision owner, criteria, reasons and review point rather than simply stating that the team agreed.</a:t>
            </a:r>
          </a:p>
          <a:p xmlns:a="http://schemas.openxmlformats.org/drawingml/2006/main">
            <a:r>
              <a:t/>
            </a:r>
          </a:p>
          <a:p xmlns:a="http://schemas.openxmlformats.org/drawingml/2006/main">
            <a:r>
              <a:t>Authority is explicit and bounded. The response separates management authority from specialist competence and describes a transparent conflict-of-interest process.</a:t>
            </a:r>
          </a:p>
          <a:p xmlns:a="http://schemas.openxmlformats.org/drawingml/2006/main">
            <a:r>
              <a:t/>
            </a:r>
          </a:p>
          <a:p xmlns:a="http://schemas.openxmlformats.org/drawingml/2006/main">
            <a:r>
              <a:t>Delegation should explain which decisions a worker can make, the limits, the available support and when to seek approval. Being responsible for a programme does not confer every specialist competence. Distinguish routine coordination from decisions reserved for a qualified practitioner, budget holder or governing body. Record authority alongside the reasons for a decision so another person can understand how it was made.</a:t>
            </a:r>
          </a:p>
          <a:p xmlns:a="http://schemas.openxmlformats.org/drawingml/2006/main">
            <a:r>
              <a:t/>
            </a:r>
          </a:p>
          <a:p xmlns:a="http://schemas.openxmlformats.org/drawingml/2006/main">
            <a:r>
              <a:t>Invite relevant perspectives before the choice is settled. Record significant disagreement and how it was considered; uniform-looking minutes are not proof of inclusion. A personal or financial interest can compromise trust even if the person believes they can remain impartial. Disclose the interest and follow the organisation's independent decision process. Do not quietly resolve the issue by giving yourself permission or asking only people who benefit from the proposal.</a:t>
            </a:r>
          </a:p>
          <a:p xmlns:a="http://schemas.openxmlformats.org/drawingml/2006/main">
            <a:r>
              <a:t/>
            </a:r>
          </a:p>
          <a:p xmlns:a="http://schemas.openxmlformats.org/drawingml/2006/main">
            <a:r>
              <a:t>Delegation should state the decision scope, constraints, support and escalation route; it is not unlimited transfer of responsibility.</a:t>
            </a:r>
          </a:p>
          <a:p xmlns:a="http://schemas.openxmlformats.org/drawingml/2006/main">
            <a:r>
              <a:t/>
            </a:r>
          </a:p>
          <a:p xmlns:a="http://schemas.openxmlformats.org/drawingml/2006/main">
            <a:r>
              <a:t>When personal interests could influence a decision, disclose the conflict and use the organisation's independent decision process.</a:t>
            </a:r>
          </a:p>
          <a:p xmlns:a="http://schemas.openxmlformats.org/drawingml/2006/main">
            <a:r>
              <a:t/>
            </a:r>
          </a:p>
          <a:p xmlns:a="http://schemas.openxmlformats.org/drawingml/2006/main">
            <a:r>
              <a:t>Record the decision, its reasons, authority, owner and review point; minutes that only say 'agreed' do not establish accountability.</a:t>
            </a:r>
          </a:p>
          <a:p xmlns:a="http://schemas.openxmlformats.org/drawingml/2006/main">
            <a:r>
              <a:t/>
            </a:r>
          </a:p>
          <a:p xmlns:a="http://schemas.openxmlformats.org/drawingml/2006/main">
            <a:r>
              <a:t>Invite relevant perspectives before decisions and explain how disagreement was handled; inclusion is more than unanimous-looking minutes.</a:t>
            </a:r>
          </a:p>
          <a:p xmlns:a="http://schemas.openxmlformats.org/drawingml/2006/main">
            <a:r>
              <a:t/>
            </a:r>
          </a:p>
          <a:p xmlns:a="http://schemas.openxmlformats.org/drawingml/2006/main">
            <a:r>
              <a:t>Authority to manage a programme does not automatically confer competence or permission to perform specialist professional tasks.</a:t>
            </a:r>
          </a:p>
          <a:p xmlns:a="http://schemas.openxmlformats.org/drawingml/2006/main">
            <a:r>
              <a:t/>
            </a:r>
          </a:p>
          <a:p xmlns:a="http://schemas.openxmlformats.org/drawingml/2006/main">
            <a:r>
              <a:t>Viscu, L.-I., and Marici, M. (2024). Challenges in supervising social workers. International Journal of Social and Educational Innovation, 11(22), 81-94. https://zenodo.org/records/14246369 Conceptual guidance, not an effectiveness trial; it does not establish local licensing or scope-of-practice rules.</a:t>
            </a:r>
          </a:p>
          <a:p xmlns:a="http://schemas.openxmlformats.org/drawingml/2006/main">
            <a:r>
              <a:t/>
            </a:r>
          </a:p>
          <a:p xmlns:a="http://schemas.openxmlformats.org/drawingml/2006/main">
            <a:r>
              <a:t>NASW and ASWB. Best Practice Standards in Social Work Supervision. https://www.socialworkers.org/Practice/NASW-Practice-Standards-Guidelines/Best-Practice-Standards-in-Social-Work-Supervision Adapt to local roles, qualifications and regulatory requirements.</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supervision agreement should make purpose, roles, frequency, records and confidentiality limits clear. Use it to distinguish administrative oversight, learning and support. Reflective discussion starts with a specific situation: what happened, what was observed, what was assumed and how emotions affected the response. Explore alternatives and agree a learning action with a review point. Reflection is not a substitute for immediate safeguarding or incident action.</a:t>
            </a:r>
          </a:p>
          <a:p xmlns:a="http://schemas.openxmlformats.org/drawingml/2006/main">
            <a:r>
              <a:t/>
            </a:r>
          </a:p>
          <a:p xmlns:a="http://schemas.openxmlformats.org/drawingml/2006/main">
            <a:r>
              <a:t>Give feedback about observable behaviour and its effect, then invite the worker's account before deciding an improvement. Avoid treating all difficulties as personal resilience failures. Repeated overload can reflect workload allocation, task design, staffing or unclear priorities. Review these conditions within managerial authority and escalate what cannot safely be resolved. Supervision supports professional work; it does not authorise practice outside competence or replace specialist care.</a:t>
            </a:r>
          </a:p>
          <a:p xmlns:a="http://schemas.openxmlformats.org/drawingml/2006/main">
            <a:r>
              <a:t/>
            </a:r>
          </a:p>
          <a:p xmlns:a="http://schemas.openxmlformats.org/drawingml/2006/main">
            <a:r>
              <a:t>A supervision agreement should clarify purpose, roles, regularity, records, confidentiality limits and routes for urgent concerns.</a:t>
            </a:r>
          </a:p>
          <a:p xmlns:a="http://schemas.openxmlformats.org/drawingml/2006/main">
            <a:r>
              <a:t/>
            </a:r>
          </a:p>
          <a:p xmlns:a="http://schemas.openxmlformats.org/drawingml/2006/main">
            <a:r>
              <a:t>Reflective supervision explores observations, assumptions, emotions and alternatives, then agrees a learning action; it is more than checking task counts.</a:t>
            </a:r>
          </a:p>
          <a:p xmlns:a="http://schemas.openxmlformats.org/drawingml/2006/main">
            <a:r>
              <a:t/>
            </a:r>
          </a:p>
          <a:p xmlns:a="http://schemas.openxmlformats.org/drawingml/2006/main">
            <a:r>
              <a:t>Supportive supervision does not replace urgent safeguarding or incident procedures; use the appropriate route without waiting for a scheduled session.</a:t>
            </a:r>
          </a:p>
          <a:p xmlns:a="http://schemas.openxmlformats.org/drawingml/2006/main">
            <a:r>
              <a:t/>
            </a:r>
          </a:p>
          <a:p xmlns:a="http://schemas.openxmlformats.org/drawingml/2006/main">
            <a:r>
              <a:t>Feedback should identify specific behaviour and its effect, invite the worker's perspective, and agree a feasible improvement and review.</a:t>
            </a:r>
          </a:p>
          <a:p xmlns:a="http://schemas.openxmlformats.org/drawingml/2006/main">
            <a:r>
              <a:t/>
            </a:r>
          </a:p>
          <a:p xmlns:a="http://schemas.openxmlformats.org/drawingml/2006/main">
            <a:r>
              <a:t>Repeated overload is a work-design issue to review as well as an individual support concern; consider case demands, resources and safe priorities.</a:t>
            </a:r>
          </a:p>
          <a:p xmlns:a="http://schemas.openxmlformats.org/drawingml/2006/main">
            <a:r>
              <a:t/>
            </a:r>
          </a:p>
          <a:p xmlns:a="http://schemas.openxmlformats.org/drawingml/2006/main">
            <a:r>
              <a:t>Viscu, L.-I., and Marici, M. (2024). Challenges in supervising social workers. International Journal of Social and Educational Innovation, 11(22), 81-94. https://zenodo.org/records/14246369 Conceptual guidance, not an effectiveness trial; it does not establish local licensing or scope-of-practice rules.</a:t>
            </a:r>
          </a:p>
          <a:p xmlns:a="http://schemas.openxmlformats.org/drawingml/2006/main">
            <a:r>
              <a:t/>
            </a:r>
          </a:p>
          <a:p xmlns:a="http://schemas.openxmlformats.org/drawingml/2006/main">
            <a:r>
              <a:t>NASW and ASWB. Best Practice Standards in Social Work Supervision. https://www.socialworkers.org/Practice/NASW-Practice-Standards-Guidelines/Best-Practice-Standards-in-Social-Work-Supervision Adapt to local roles, qualifications and regulatory requirements.</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worked example: a worker misses follow-up tasks after extra sessions are added. The supervisor reviews the actual demands, hears the worker's account and agrees a manageable priority plan. The manager reviews capacity rather than only recommending a wellbeing exercise.</a:t>
            </a:r>
          </a:p>
          <a:p xmlns:a="http://schemas.openxmlformats.org/drawingml/2006/main">
            <a:r>
              <a:t/>
            </a:r>
          </a:p>
          <a:p xmlns:a="http://schemas.openxmlformats.org/drawingml/2006/main">
            <a:r>
              <a:t>The agenda balances learning and support with accountability, tests assumptions, addresses work design and does not postpone urgent concerns until the next meeting.</a:t>
            </a:r>
          </a:p>
          <a:p xmlns:a="http://schemas.openxmlformats.org/drawingml/2006/main">
            <a:r>
              <a:t/>
            </a:r>
          </a:p>
          <a:p xmlns:a="http://schemas.openxmlformats.org/drawingml/2006/main">
            <a:r>
              <a:t>A supervision agreement should make purpose, roles, frequency, records and confidentiality limits clear. Use it to distinguish administrative oversight, learning and support. Reflective discussion starts with a specific situation: what happened, what was observed, what was assumed and how emotions affected the response. Explore alternatives and agree a learning action with a review point. Reflection is not a substitute for immediate safeguarding or incident action.</a:t>
            </a:r>
          </a:p>
          <a:p xmlns:a="http://schemas.openxmlformats.org/drawingml/2006/main">
            <a:r>
              <a:t/>
            </a:r>
          </a:p>
          <a:p xmlns:a="http://schemas.openxmlformats.org/drawingml/2006/main">
            <a:r>
              <a:t>Give feedback about observable behaviour and its effect, then invite the worker's account before deciding an improvement. Avoid treating all difficulties as personal resilience failures. Repeated overload can reflect workload allocation, task design, staffing or unclear priorities. Review these conditions within managerial authority and escalate what cannot safely be resolved. Supervision supports professional work; it does not authorise practice outside competence or replace specialist care.</a:t>
            </a:r>
          </a:p>
          <a:p xmlns:a="http://schemas.openxmlformats.org/drawingml/2006/main">
            <a:r>
              <a:t/>
            </a:r>
          </a:p>
          <a:p xmlns:a="http://schemas.openxmlformats.org/drawingml/2006/main">
            <a:r>
              <a:t>A supervision agreement should clarify purpose, roles, regularity, records, confidentiality limits and routes for urgent concerns.</a:t>
            </a:r>
          </a:p>
          <a:p xmlns:a="http://schemas.openxmlformats.org/drawingml/2006/main">
            <a:r>
              <a:t/>
            </a:r>
          </a:p>
          <a:p xmlns:a="http://schemas.openxmlformats.org/drawingml/2006/main">
            <a:r>
              <a:t>Reflective supervision explores observations, assumptions, emotions and alternatives, then agrees a learning action; it is more than checking task counts.</a:t>
            </a:r>
          </a:p>
          <a:p xmlns:a="http://schemas.openxmlformats.org/drawingml/2006/main">
            <a:r>
              <a:t/>
            </a:r>
          </a:p>
          <a:p xmlns:a="http://schemas.openxmlformats.org/drawingml/2006/main">
            <a:r>
              <a:t>Supportive supervision does not replace urgent safeguarding or incident procedures; use the appropriate route without waiting for a scheduled session.</a:t>
            </a:r>
          </a:p>
          <a:p xmlns:a="http://schemas.openxmlformats.org/drawingml/2006/main">
            <a:r>
              <a:t/>
            </a:r>
          </a:p>
          <a:p xmlns:a="http://schemas.openxmlformats.org/drawingml/2006/main">
            <a:r>
              <a:t>Feedback should identify specific behaviour and its effect, invite the worker's perspective, and agree a feasible improvement and review.</a:t>
            </a:r>
          </a:p>
          <a:p xmlns:a="http://schemas.openxmlformats.org/drawingml/2006/main">
            <a:r>
              <a:t/>
            </a:r>
          </a:p>
          <a:p xmlns:a="http://schemas.openxmlformats.org/drawingml/2006/main">
            <a:r>
              <a:t>Repeated overload is a work-design issue to review as well as an individual support concern; consider case demands, resources and safe priorities.</a:t>
            </a:r>
          </a:p>
          <a:p xmlns:a="http://schemas.openxmlformats.org/drawingml/2006/main">
            <a:r>
              <a:t/>
            </a:r>
          </a:p>
          <a:p xmlns:a="http://schemas.openxmlformats.org/drawingml/2006/main">
            <a:r>
              <a:t>Viscu, L.-I., and Marici, M. (2024). Challenges in supervising social workers. International Journal of Social and Educational Innovation, 11(22), 81-94. https://zenodo.org/records/14246369 Conceptual guidance, not an effectiveness trial; it does not establish local licensing or scope-of-practice rules.</a:t>
            </a:r>
          </a:p>
          <a:p xmlns:a="http://schemas.openxmlformats.org/drawingml/2006/main">
            <a:r>
              <a:t/>
            </a:r>
          </a:p>
          <a:p xmlns:a="http://schemas.openxmlformats.org/drawingml/2006/main">
            <a:r>
              <a:t>NASW and ASWB. Best Practice Standards in Social Work Supervision. https://www.socialworkers.org/Practice/NASW-Practice-Standards-Guidelines/Best-Practice-Standards-in-Social-Work-Supervision Adapt to local roles, qualifications and regulatory requirements.</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intended plan with actual delivery before deciding why a difference occurred. A missed target may involve access barriers, unavailable staff or an unrealistic assumption; the count alone cannot identify the cause. Keep an issue record with the impact, action owner, next step and review date. Distinguish outputs, such as sessions held, from outcomes, such as whether participants obtained the intended support.</a:t>
            </a:r>
          </a:p>
          <a:p xmlns:a="http://schemas.openxmlformats.org/drawingml/2006/main">
            <a:r>
              <a:t/>
            </a:r>
          </a:p>
          <a:p xmlns:a="http://schemas.openxmlformats.org/drawingml/2006/main">
            <a:r>
              <a:t>When a change is needed, state what will change, the expected effect, the resources and the safety implications. Check delegated limits before committing funds or altering scope. Define a review criterion that could show the change is not working. Learning requires a traceable adjustment, not silently redefining the target after results arrive. Use appropriate participant feedback with delivery information, and report uncertainty rather than promising that more activity necessarily creates better outcomes.</a:t>
            </a:r>
          </a:p>
          <a:p xmlns:a="http://schemas.openxmlformats.org/drawingml/2006/main">
            <a:r>
              <a:t/>
            </a:r>
          </a:p>
          <a:p xmlns:a="http://schemas.openxmlformats.org/drawingml/2006/main">
            <a:r>
              <a:t>Track an implementation issue with its impact, owner, action and review date; a list without follow-up is not a management response.</a:t>
            </a:r>
          </a:p>
          <a:p xmlns:a="http://schemas.openxmlformats.org/drawingml/2006/main">
            <a:r>
              <a:t/>
            </a:r>
          </a:p>
          <a:p xmlns:a="http://schemas.openxmlformats.org/drawingml/2006/main">
            <a:r>
              <a:t>A variance from plan should be explained before action: compare intended and actual delivery, investigate causes and consider service effects.</a:t>
            </a:r>
          </a:p>
          <a:p xmlns:a="http://schemas.openxmlformats.org/drawingml/2006/main">
            <a:r>
              <a:t/>
            </a:r>
          </a:p>
          <a:p xmlns:a="http://schemas.openxmlformats.org/drawingml/2006/main">
            <a:r>
              <a:t>Changes beyond delegated limits require approval; document why a change is proposed and its likely effects before committing resources.</a:t>
            </a:r>
          </a:p>
          <a:p xmlns:a="http://schemas.openxmlformats.org/drawingml/2006/main">
            <a:r>
              <a:t/>
            </a:r>
          </a:p>
          <a:p xmlns:a="http://schemas.openxmlformats.org/drawingml/2006/main">
            <a:r>
              <a:t>Distinguish a delivery count from a result for participants; both can be useful but they answer different questions.</a:t>
            </a:r>
          </a:p>
          <a:p xmlns:a="http://schemas.openxmlformats.org/drawingml/2006/main">
            <a:r>
              <a:t/>
            </a:r>
          </a:p>
          <a:p xmlns:a="http://schemas.openxmlformats.org/drawingml/2006/main">
            <a:r>
              <a:t>A learning adjustment should state the change, owner, expected effect and review criteria, while preserving safety and authorised scope.</a:t>
            </a:r>
          </a:p>
          <a:p xmlns:a="http://schemas.openxmlformats.org/drawingml/2006/main">
            <a:r>
              <a:t/>
            </a:r>
          </a:p>
          <a:p xmlns:a="http://schemas.openxmlformats.org/drawingml/2006/main">
            <a:r>
              <a:t>Viscu, L.-I., and Marici, M. (2024). Challenges in supervising social workers. International Journal of Social and Educational Innovation, 11(22), 81-94. https://zenodo.org/records/14246369 Conceptual guidance, not an effectiveness trial; it does not establish local licensing or scope-of-practice rules.</a:t>
            </a:r>
          </a:p>
          <a:p xmlns:a="http://schemas.openxmlformats.org/drawingml/2006/main">
            <a:r>
              <a:t/>
            </a:r>
          </a:p>
          <a:p xmlns:a="http://schemas.openxmlformats.org/drawingml/2006/main">
            <a:r>
              <a:t>NASW and ASWB. Best Practice Standards in Social Work Supervision. https://www.socialworkers.org/Practice/NASW-Practice-Standards-Guidelines/Best-Practice-Standards-in-Social-Work-Supervision Adapt to local roles, qualifications and regulatory requirements.</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worked example: the team has delivered more sessions but referral delays remain. It investigates the referral pathway and proposes a limited scheduling adjustment. The authorised manager approves a bounded trial with an owner and review date; the team tracks delays alongside session counts.</a:t>
            </a:r>
          </a:p>
          <a:p xmlns:a="http://schemas.openxmlformats.org/drawingml/2006/main">
            <a:r>
              <a:t/>
            </a:r>
          </a:p>
          <a:p xmlns:a="http://schemas.openxmlformats.org/drawingml/2006/main">
            <a:r>
              <a:t>The entry explains impact and ownership. The proposal investigates causes, stays within authority and defines how service effects will be reviewed.</a:t>
            </a:r>
          </a:p>
          <a:p xmlns:a="http://schemas.openxmlformats.org/drawingml/2006/main">
            <a:r>
              <a:t/>
            </a:r>
          </a:p>
          <a:p xmlns:a="http://schemas.openxmlformats.org/drawingml/2006/main">
            <a:r>
              <a:t>Compare the intended plan with actual delivery before deciding why a difference occurred. A missed target may involve access barriers, unavailable staff or an unrealistic assumption; the count alone cannot identify the cause. Keep an issue record with the impact, action owner, next step and review date. Distinguish outputs, such as sessions held, from outcomes, such as whether participants obtained the intended support.</a:t>
            </a:r>
          </a:p>
          <a:p xmlns:a="http://schemas.openxmlformats.org/drawingml/2006/main">
            <a:r>
              <a:t/>
            </a:r>
          </a:p>
          <a:p xmlns:a="http://schemas.openxmlformats.org/drawingml/2006/main">
            <a:r>
              <a:t>When a change is needed, state what will change, the expected effect, the resources and the safety implications. Check delegated limits before committing funds or altering scope. Define a review criterion that could show the change is not working. Learning requires a traceable adjustment, not silently redefining the target after results arrive. Use appropriate participant feedback with delivery information, and report uncertainty rather than promising that more activity necessarily creates better outcomes.</a:t>
            </a:r>
          </a:p>
          <a:p xmlns:a="http://schemas.openxmlformats.org/drawingml/2006/main">
            <a:r>
              <a:t/>
            </a:r>
          </a:p>
          <a:p xmlns:a="http://schemas.openxmlformats.org/drawingml/2006/main">
            <a:r>
              <a:t>Track an implementation issue with its impact, owner, action and review date; a list without follow-up is not a management response.</a:t>
            </a:r>
          </a:p>
          <a:p xmlns:a="http://schemas.openxmlformats.org/drawingml/2006/main">
            <a:r>
              <a:t/>
            </a:r>
          </a:p>
          <a:p xmlns:a="http://schemas.openxmlformats.org/drawingml/2006/main">
            <a:r>
              <a:t>A variance from plan should be explained before action: compare intended and actual delivery, investigate causes and consider service effects.</a:t>
            </a:r>
          </a:p>
          <a:p xmlns:a="http://schemas.openxmlformats.org/drawingml/2006/main">
            <a:r>
              <a:t/>
            </a:r>
          </a:p>
          <a:p xmlns:a="http://schemas.openxmlformats.org/drawingml/2006/main">
            <a:r>
              <a:t>Changes beyond delegated limits require approval; document why a change is proposed and its likely effects before committing resources.</a:t>
            </a:r>
          </a:p>
          <a:p xmlns:a="http://schemas.openxmlformats.org/drawingml/2006/main">
            <a:r>
              <a:t/>
            </a:r>
          </a:p>
          <a:p xmlns:a="http://schemas.openxmlformats.org/drawingml/2006/main">
            <a:r>
              <a:t>Distinguish a delivery count from a result for participants; both can be useful but they answer different questions.</a:t>
            </a:r>
          </a:p>
          <a:p xmlns:a="http://schemas.openxmlformats.org/drawingml/2006/main">
            <a:r>
              <a:t/>
            </a:r>
          </a:p>
          <a:p xmlns:a="http://schemas.openxmlformats.org/drawingml/2006/main">
            <a:r>
              <a:t>A learning adjustment should state the change, owner, expected effect and review criteria, while preserving safety and authorised scope.</a:t>
            </a:r>
          </a:p>
          <a:p xmlns:a="http://schemas.openxmlformats.org/drawingml/2006/main">
            <a:r>
              <a:t/>
            </a:r>
          </a:p>
          <a:p xmlns:a="http://schemas.openxmlformats.org/drawingml/2006/main">
            <a:r>
              <a:t>Viscu, L.-I., and Marici, M. (2024). Challenges in supervising social workers. International Journal of Social and Educational Innovation, 11(22), 81-94. https://zenodo.org/records/14246369 Conceptual guidance, not an effectiveness trial; it does not establish local licensing or scope-of-practice rules.</a:t>
            </a:r>
          </a:p>
          <a:p xmlns:a="http://schemas.openxmlformats.org/drawingml/2006/main">
            <a:r>
              <a:t/>
            </a:r>
          </a:p>
          <a:p xmlns:a="http://schemas.openxmlformats.org/drawingml/2006/main">
            <a:r>
              <a:t>NASW and ASWB. Best Practice Standards in Social Work Supervision. https://www.socialworkers.org/Practice/NASW-Practice-Standards-Guidelines/Best-Practice-Standards-in-Social-Work-Supervision Adapt to local roles, qualifications and regulatory requirements.</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Author-deposit abstract and DOAJ record checked. Zenodo DOI 10.5281/zenodo.14246369 is a repository DOI, not a Crossref-verified journal DOI.</a:t>
            </a:r>
          </a:p>
          <a:p xmlns:a="http://schemas.openxmlformats.org/drawingml/2006/main">
            <a:r>
              <a:t>The paper proposes a supervision framework attentive to work setting, professional training and organisational context.</a:t>
            </a:r>
          </a:p>
          <a:p xmlns:a="http://schemas.openxmlformats.org/drawingml/2006/main">
            <a:r>
              <a:t>Conceptual guidance, not an effectiveness trial; it does not establish local licensing or scope-of-practice rules.</a:t>
            </a:r>
          </a:p>
          <a:p xmlns:a="http://schemas.openxmlformats.org/drawingml/2006/main">
            <a:r>
              <a:t/>
            </a:r>
          </a:p>
          <a:p xmlns:a="http://schemas.openxmlformats.org/drawingml/2006/main">
            <a:r>
              <a:t>Official standards consulted.</a:t>
            </a:r>
          </a:p>
          <a:p xmlns:a="http://schemas.openxmlformats.org/drawingml/2006/main">
            <a:r>
              <a:t>Professional framework for supervision.</a:t>
            </a:r>
          </a:p>
          <a:p xmlns:a="http://schemas.openxmlformats.org/drawingml/2006/main">
            <a:r>
              <a:t>Adapt to local roles, qualifications and regulatory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ethical principles consulted.</a:t>
            </a:r>
          </a:p>
          <a:p xmlns:a="http://schemas.openxmlformats.org/drawingml/2006/main">
            <a:r>
              <a:t>Dignity, participation, confidentiality and professional accountability.</a:t>
            </a:r>
          </a:p>
          <a:p xmlns:a="http://schemas.openxmlformats.org/drawingml/2006/main">
            <a:r>
              <a:t>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52457e3d6640c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cdb1b1a6491401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be2f78a075a46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69b64918c04d5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2f0a6f8c1d848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1c9a051f2d74b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AF349E-DFDB-46D7-892C-9C2F0AB8CE1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599D5E5-0798-4464-8CB6-9C1A1C9101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D988ED3-5C96-45EB-8098-49F311D40B7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B90CFF-53BB-48D2-B61F-7FE026685C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8AB5CB3-EE68-43CC-8304-D1EA7F62E50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B8305AE-6D88-4B24-9BDE-4E773437B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4E1609-C77B-49A2-A8ED-47308DE954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9C7CF21-ECA6-4131-9E38-E6BB6F14AA1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25E287-91E3-47B2-B323-5E7DE5315B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9BD695-25F8-4DE1-B124-56BAA60F73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3251b5c8e14760" /><Relationship Type="http://schemas.openxmlformats.org/officeDocument/2006/relationships/slideLayout" Target="/ppt/slideLayouts/slideLayout1.xml" Id="R46a00096511a404f" /><Relationship Type="http://schemas.openxmlformats.org/officeDocument/2006/relationships/slideLayout" Target="/ppt/slideLayouts/slideLayout2.xml" Id="Re1a37666ee774258" /><Relationship Type="http://schemas.openxmlformats.org/officeDocument/2006/relationships/slideLayout" Target="/ppt/slideLayouts/slideLayout3.xml" Id="R226b9eafafae4f6f" /><Relationship Type="http://schemas.openxmlformats.org/officeDocument/2006/relationships/slideLayout" Target="/ppt/slideLayouts/slideLayout4.xml" Id="R9f3dd055002748d1" /><Relationship Type="http://schemas.openxmlformats.org/officeDocument/2006/relationships/slideLayout" Target="/ppt/slideLayouts/slideLayout5.xml" Id="R7c3204f92fae48a7" /><Relationship Type="http://schemas.openxmlformats.org/officeDocument/2006/relationships/slideLayout" Target="/ppt/slideLayouts/slideLayout6.xml" Id="R900a3771c6ed4d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a00096511a404f"/>
    <p:sldLayoutId xmlns:r="http://schemas.openxmlformats.org/officeDocument/2006/relationships" id="2147483650" r:id="Re1a37666ee774258"/>
    <p:sldLayoutId xmlns:r="http://schemas.openxmlformats.org/officeDocument/2006/relationships" id="2147483651" r:id="R226b9eafafae4f6f"/>
    <p:sldLayoutId xmlns:r="http://schemas.openxmlformats.org/officeDocument/2006/relationships" id="2147483652" r:id="R9f3dd055002748d1"/>
    <p:sldLayoutId xmlns:r="http://schemas.openxmlformats.org/officeDocument/2006/relationships" id="2147483653" r:id="R7c3204f92fae48a7"/>
    <p:sldLayoutId xmlns:r="http://schemas.openxmlformats.org/officeDocument/2006/relationships" id="2147483654" r:id="R900a3771c6ed4d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c3a73eb6324e74" /><Relationship Type="http://schemas.openxmlformats.org/officeDocument/2006/relationships/notesSlide" Target="/ppt/notesSlides/notesSlide1.xml" Id="R581b11d889ae40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918c81174024add" /><Relationship Type="http://schemas.openxmlformats.org/officeDocument/2006/relationships/notesSlide" Target="/ppt/notesSlides/notesSlide2.xml" Id="R0b280f919cb04f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38ab2d6856e4782" /><Relationship Type="http://schemas.openxmlformats.org/officeDocument/2006/relationships/notesSlide" Target="/ppt/notesSlides/notesSlide3.xml" Id="R53c415708caf48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a699977cad74654" /><Relationship Type="http://schemas.openxmlformats.org/officeDocument/2006/relationships/notesSlide" Target="/ppt/notesSlides/notesSlide4.xml" Id="R4f0208c34f144f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b2b918152634758" /><Relationship Type="http://schemas.openxmlformats.org/officeDocument/2006/relationships/notesSlide" Target="/ppt/notesSlides/notesSlide5.xml" Id="R2ff14d93893948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960f7b71fa64379" /><Relationship Type="http://schemas.openxmlformats.org/officeDocument/2006/relationships/notesSlide" Target="/ppt/notesSlides/notesSlide6.xml" Id="R7c2dad61489b46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679f3b5a3c04ef1" /><Relationship Type="http://schemas.openxmlformats.org/officeDocument/2006/relationships/notesSlide" Target="/ppt/notesSlides/notesSlide7.xml" Id="Ra6a9fc270ecd49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7ed4401e0434c6c" /><Relationship Type="http://schemas.openxmlformats.org/officeDocument/2006/relationships/notesSlide" Target="/ppt/notesSlides/notesSlide8.xml" Id="R652237efcffb46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bb089580fea495e" /><Relationship Type="http://schemas.openxmlformats.org/officeDocument/2006/relationships/notesSlide" Target="/ppt/notesSlides/notesSlide9.xml" Id="R8329ae2fda31428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DCC0F6-8370-4BF5-A095-8A910B33D255}"/>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RESEARCH INFORMED LEARNING</a:t>
            </a:r>
          </a:p>
        </p:txBody>
      </p:sp>
      <p:sp>
        <p:nvSpPr>
          <p:cNvPr id="2" name="">
            <a:extLst xmlns:a="http://schemas.openxmlformats.org/drawingml/2006/main">
              <a:ext uri="{FF2B5EF4-FFF2-40B4-BE49-F238E27FC236}">
                <a16:creationId xmlns:a16="http://schemas.microsoft.com/office/drawing/2014/main" id="{FB7217D9-4F06-4252-B83B-E2AAB1D6DAD5}"/>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Leadership Supervision and Programme Management</a:t>
            </a:r>
          </a:p>
        </p:txBody>
      </p:sp>
      <p:sp>
        <p:nvSpPr>
          <p:cNvPr id="3" name="">
            <a:extLst xmlns:a="http://schemas.openxmlformats.org/drawingml/2006/main">
              <a:ext uri="{FF2B5EF4-FFF2-40B4-BE49-F238E27FC236}">
                <a16:creationId xmlns:a16="http://schemas.microsoft.com/office/drawing/2014/main" id="{FAA0A02F-2BC9-4713-9A19-6EBC6BF28AEA}"/>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SWP-033  |  SWEEP Academy  |  1.1.0</a:t>
            </a:r>
          </a:p>
        </p:txBody>
      </p:sp>
      <p:sp>
        <p:nvSpPr>
          <p:cNvPr id="4" name="">
            <a:extLst xmlns:a="http://schemas.openxmlformats.org/drawingml/2006/main">
              <a:ext uri="{FF2B5EF4-FFF2-40B4-BE49-F238E27FC236}">
                <a16:creationId xmlns:a16="http://schemas.microsoft.com/office/drawing/2014/main" id="{04300224-5470-480A-AFEC-13A67B24D567}"/>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912BAAEB-B7C9-4068-A08D-831C58DA611F}"/>
              </a:ext>
            </a:extLst>
          </p:cNvPr>
          <p:cNvSpPr>
            <a:spLocks xmlns:a="http://schemas.openxmlformats.org/drawingml/2006/main" noGrp="1"/>
          </p:cNvSpPr>
          <p:nvPr/>
        </p:nvSpPr>
        <p:spPr>
          <a:xfrm xmlns:a="http://schemas.openxmlformats.org/drawingml/2006/main">
            <a:off x="609600" y="2190750"/>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175" b="0">
                <a:solidFill>
                  <a:srgbClr val="17223B"/>
                </a:solidFill>
                <a:latin typeface="Arial"/>
                <a:ea typeface="Arial"/>
                <a:cs typeface="Arial"/>
              </a:defRPr>
            </a:defPPr>
          </a:lstStyle>
          <a:p xmlns:a="http://schemas.openxmlformats.org/drawingml/2006/main">
            <a:pPr>
              <a:defRPr sz="2175" b="0">
                <a:solidFill>
                  <a:srgbClr val="17223B"/>
                </a:solidFill>
                <a:latin typeface="Arial"/>
                <a:ea typeface="Arial"/>
                <a:cs typeface="Arial"/>
              </a:defRPr>
            </a:pPr>
            <a:r>
              <a:rPr sz="2175" b="0">
                <a:solidFill>
                  <a:srgbClr val="17223B"/>
                </a:solidFill>
                <a:latin typeface="Arial"/>
                <a:ea typeface="Arial"/>
                <a:cs typeface="Arial"/>
              </a:rPr>
              <a:t>Lead and support teams, use reflective supervision, and manage community programmes with accountable governance within a professional role.</a:t>
            </a:r>
          </a:p>
        </p:txBody>
      </p:sp>
      <p:sp>
        <p:nvSpPr>
          <p:cNvPr id="6" name="">
            <a:extLst xmlns:a="http://schemas.openxmlformats.org/drawingml/2006/main">
              <a:ext uri="{FF2B5EF4-FFF2-40B4-BE49-F238E27FC236}">
                <a16:creationId xmlns:a16="http://schemas.microsoft.com/office/drawing/2014/main" id="{5B617C68-B414-4D98-8F05-ACC153170B8D}"/>
              </a:ext>
            </a:extLst>
          </p:cNvPr>
          <p:cNvSpPr>
            <a:spLocks xmlns:a="http://schemas.openxmlformats.org/drawingml/2006/main" noGrp="1"/>
          </p:cNvSpPr>
          <p:nvPr/>
        </p:nvSpPr>
        <p:spPr>
          <a:xfrm xmlns:a="http://schemas.openxmlformats.org/drawingml/2006/main">
            <a:off x="609600" y="39052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b="0">
                <a:solidFill>
                  <a:srgbClr val="17223B"/>
                </a:solidFill>
                <a:latin typeface="Arial"/>
                <a:ea typeface="Arial"/>
                <a:cs typeface="Arial"/>
              </a:defRPr>
            </a:defPPr>
          </a:lstStyle>
          <a:p xmlns:a="http://schemas.openxmlformats.org/drawingml/2006/main">
            <a:pPr>
              <a:defRPr sz="1800" b="0">
                <a:solidFill>
                  <a:srgbClr val="17223B"/>
                </a:solidFill>
                <a:latin typeface="Arial"/>
                <a:ea typeface="Arial"/>
                <a:cs typeface="Arial"/>
              </a:defRPr>
            </a:pPr>
            <a:r>
              <a:rPr sz="1800" b="0">
                <a:solidFill>
                  <a:srgbClr val="17223B"/>
                </a:solidFill>
                <a:latin typeface="Arial"/>
                <a:ea typeface="Arial"/>
                <a:cs typeface="Arial"/>
              </a:rPr>
              <a:t>Read the learner guide, apply each lesson, then complete the worksheet.</a:t>
            </a:r>
          </a:p>
        </p:txBody>
      </p:sp>
      <p:sp>
        <p:nvSpPr>
          <p:cNvPr id="7" name="">
            <a:extLst xmlns:a="http://schemas.openxmlformats.org/drawingml/2006/main">
              <a:ext uri="{FF2B5EF4-FFF2-40B4-BE49-F238E27FC236}">
                <a16:creationId xmlns:a16="http://schemas.microsoft.com/office/drawing/2014/main" id="{EB7567C9-8C9C-43F0-BA83-EFDB37F626EB}"/>
              </a:ext>
            </a:extLst>
          </p:cNvPr>
          <p:cNvSpPr>
            <a:spLocks xmlns:a="http://schemas.openxmlformats.org/drawingml/2006/main" noGrp="1"/>
          </p:cNvSpPr>
          <p:nvPr/>
        </p:nvSpPr>
        <p:spPr>
          <a:xfrm xmlns:a="http://schemas.openxmlformats.org/drawingml/2006/main">
            <a:off x="609600" y="509587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b="0">
                <a:solidFill>
                  <a:srgbClr val="17223B"/>
                </a:solidFill>
                <a:latin typeface="Arial"/>
                <a:ea typeface="Arial"/>
                <a:cs typeface="Arial"/>
              </a:defRPr>
            </a:defPPr>
          </a:lstStyle>
          <a:p xmlns:a="http://schemas.openxmlformats.org/drawingml/2006/main">
            <a:pPr>
              <a:defRPr sz="1575" b="0">
                <a:solidFill>
                  <a:srgbClr val="17223B"/>
                </a:solidFill>
                <a:latin typeface="Arial"/>
                <a:ea typeface="Arial"/>
                <a:cs typeface="Arial"/>
              </a:defRPr>
            </a:pPr>
            <a:r>
              <a:rPr sz="1575" b="0">
                <a:solidFill>
                  <a:srgbClr val="17223B"/>
                </a:solidFill>
                <a:latin typeface="Arial"/>
                <a:ea typeface="Arial"/>
                <a:cs typeface="Arial"/>
              </a:rPr>
              <a:t>Educational material. Use applicable local procedures. Cases are fictional. Index inclusion is not expert endorsement.</a:t>
            </a:r>
          </a:p>
        </p:txBody>
      </p:sp>
    </p:spTree>
    <p:extLst>
      <p:ext uri="{BB962C8B-B14F-4D97-AF65-F5344CB8AC3E}">
        <p14:creationId xmlns:p14="http://schemas.microsoft.com/office/powerpoint/2010/main" val="551022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E55B1C-13E6-465A-BD52-8333F484B7E6}"/>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1  |  REASONING</a:t>
            </a:r>
          </a:p>
        </p:txBody>
      </p:sp>
      <p:sp>
        <p:nvSpPr>
          <p:cNvPr id="2" name="">
            <a:extLst xmlns:a="http://schemas.openxmlformats.org/drawingml/2006/main">
              <a:ext uri="{FF2B5EF4-FFF2-40B4-BE49-F238E27FC236}">
                <a16:creationId xmlns:a16="http://schemas.microsoft.com/office/drawing/2014/main" id="{FFB81DB2-C7F6-4451-A846-AC9AAB31F0A3}"/>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Clarify authority before acting</a:t>
            </a:r>
          </a:p>
        </p:txBody>
      </p:sp>
      <p:sp>
        <p:nvSpPr>
          <p:cNvPr id="3" name="">
            <a:extLst xmlns:a="http://schemas.openxmlformats.org/drawingml/2006/main">
              <a:ext uri="{FF2B5EF4-FFF2-40B4-BE49-F238E27FC236}">
                <a16:creationId xmlns:a16="http://schemas.microsoft.com/office/drawing/2014/main" id="{1CF33AB3-3823-40F8-A951-819E6679DA50}"/>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SWP-033  |  SWEEP Academy  |  1.1.0</a:t>
            </a:r>
          </a:p>
        </p:txBody>
      </p:sp>
      <p:sp>
        <p:nvSpPr>
          <p:cNvPr id="4" name="">
            <a:extLst xmlns:a="http://schemas.openxmlformats.org/drawingml/2006/main">
              <a:ext uri="{FF2B5EF4-FFF2-40B4-BE49-F238E27FC236}">
                <a16:creationId xmlns:a16="http://schemas.microsoft.com/office/drawing/2014/main" id="{7CF10734-FEAC-496A-A3C3-EB2EEAA44C90}"/>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6E59EEA0-0E6B-4367-AF65-0890918D198E}"/>
              </a:ext>
            </a:extLst>
          </p:cNvPr>
          <p:cNvSpPr>
            <a:spLocks xmlns:a="http://schemas.openxmlformats.org/drawingml/2006/main" noGrp="1"/>
          </p:cNvSpPr>
          <p:nvPr/>
        </p:nvSpPr>
        <p:spPr>
          <a:xfrm xmlns:a="http://schemas.openxmlformats.org/drawingml/2006/main">
            <a:off x="609600" y="2143125"/>
            <a:ext cx="1047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250" b="0">
                <a:solidFill>
                  <a:srgbClr val="17223B"/>
                </a:solidFill>
                <a:latin typeface="Arial"/>
                <a:ea typeface="Arial"/>
                <a:cs typeface="Arial"/>
              </a:defRPr>
            </a:defPPr>
          </a:lstStyle>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State the decision and its delegated limits.</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Disclose conflicts before deciding.</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Record authority, reasons and review point.</a:t>
            </a:r>
          </a:p>
        </p:txBody>
      </p:sp>
      <p:sp>
        <p:nvSpPr>
          <p:cNvPr id="6" name="">
            <a:extLst xmlns:a="http://schemas.openxmlformats.org/drawingml/2006/main">
              <a:ext uri="{FF2B5EF4-FFF2-40B4-BE49-F238E27FC236}">
                <a16:creationId xmlns:a16="http://schemas.microsoft.com/office/drawing/2014/main" id="{814D8765-467A-401A-AC41-3624C8521575}"/>
              </a:ext>
            </a:extLst>
          </p:cNvPr>
          <p:cNvSpPr>
            <a:spLocks xmlns:a="http://schemas.openxmlformats.org/drawingml/2006/main" noGrp="1"/>
          </p:cNvSpPr>
          <p:nvPr/>
        </p:nvSpPr>
        <p:spPr>
          <a:xfrm xmlns:a="http://schemas.openxmlformats.org/drawingml/2006/main">
            <a:off x="609600" y="4429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725" b="0">
                <a:solidFill>
                  <a:srgbClr val="17223B"/>
                </a:solidFill>
                <a:latin typeface="Arial"/>
                <a:ea typeface="Arial"/>
                <a:cs typeface="Arial"/>
              </a:defRPr>
            </a:defPPr>
          </a:lstStyle>
          <a:p xmlns:a="http://schemas.openxmlformats.org/drawingml/2006/main">
            <a:pPr>
              <a:defRPr sz="1725" b="0">
                <a:solidFill>
                  <a:srgbClr val="17223B"/>
                </a:solidFill>
                <a:latin typeface="Arial"/>
                <a:ea typeface="Arial"/>
                <a:cs typeface="Arial"/>
              </a:defRPr>
            </a:pPr>
            <a:r>
              <a:rPr sz="1725" b="0">
                <a:solidFill>
                  <a:srgbClr val="17223B"/>
                </a:solidFill>
                <a:latin typeface="Arial"/>
                <a:ea typeface="Arial"/>
                <a:cs typeface="Arial"/>
              </a:rPr>
              <a:t>Clarify decision authority, conflicts of interest and accountability in programme teams.</a:t>
            </a:r>
          </a:p>
        </p:txBody>
      </p:sp>
    </p:spTree>
    <p:extLst>
      <p:ext uri="{BB962C8B-B14F-4D97-AF65-F5344CB8AC3E}">
        <p14:creationId xmlns:p14="http://schemas.microsoft.com/office/powerpoint/2010/main" val="3641861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86115D-5E2E-486D-87F2-1355BC5C0AE3}"/>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1  |  FICTIONAL WORKED EXAMPLE</a:t>
            </a:r>
          </a:p>
        </p:txBody>
      </p:sp>
      <p:sp>
        <p:nvSpPr>
          <p:cNvPr id="2" name="">
            <a:extLst xmlns:a="http://schemas.openxmlformats.org/drawingml/2006/main">
              <a:ext uri="{FF2B5EF4-FFF2-40B4-BE49-F238E27FC236}">
                <a16:creationId xmlns:a16="http://schemas.microsoft.com/office/drawing/2014/main" id="{CFE09317-6536-40A6-9997-34A4736CCE91}"/>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Apply the lesson</a:t>
            </a:r>
          </a:p>
        </p:txBody>
      </p:sp>
      <p:sp>
        <p:nvSpPr>
          <p:cNvPr id="3" name="">
            <a:extLst xmlns:a="http://schemas.openxmlformats.org/drawingml/2006/main">
              <a:ext uri="{FF2B5EF4-FFF2-40B4-BE49-F238E27FC236}">
                <a16:creationId xmlns:a16="http://schemas.microsoft.com/office/drawing/2014/main" id="{48A91B86-B933-4E65-86C0-C17810B52017}"/>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SWP-033  |  SWEEP Academy  |  1.1.0</a:t>
            </a:r>
          </a:p>
        </p:txBody>
      </p:sp>
      <p:sp>
        <p:nvSpPr>
          <p:cNvPr id="4" name="">
            <a:extLst xmlns:a="http://schemas.openxmlformats.org/drawingml/2006/main">
              <a:ext uri="{FF2B5EF4-FFF2-40B4-BE49-F238E27FC236}">
                <a16:creationId xmlns:a16="http://schemas.microsoft.com/office/drawing/2014/main" id="{5DBD7616-8422-41B1-AEFC-1EB1A6F9B9E7}"/>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D3975BEC-C4B9-4FF9-950A-A4E01F8D651C}"/>
              </a:ext>
            </a:extLst>
          </p:cNvPr>
          <p:cNvSpPr>
            <a:spLocks xmlns:a="http://schemas.openxmlformats.org/drawingml/2006/main" noGrp="1"/>
          </p:cNvSpPr>
          <p:nvPr/>
        </p:nvSpPr>
        <p:spPr>
          <a:xfrm xmlns:a="http://schemas.openxmlformats.org/drawingml/2006/main">
            <a:off x="609600" y="1952625"/>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Fictional worked example: the manager declares the supplier connection before procurement decisions. An authorised independent person handles the selection under policy. The record identifies the decision owner, criteria, reasons and review point rather than simply stating that the team agreed.</a:t>
            </a:r>
          </a:p>
        </p:txBody>
      </p:sp>
      <p:sp>
        <p:nvSpPr>
          <p:cNvPr id="6" name="">
            <a:extLst xmlns:a="http://schemas.openxmlformats.org/drawingml/2006/main">
              <a:ext uri="{FF2B5EF4-FFF2-40B4-BE49-F238E27FC236}">
                <a16:creationId xmlns:a16="http://schemas.microsoft.com/office/drawing/2014/main" id="{648DC3EC-F071-4712-A783-CCFA9C744CDF}"/>
              </a:ext>
            </a:extLst>
          </p:cNvPr>
          <p:cNvSpPr>
            <a:spLocks xmlns:a="http://schemas.openxmlformats.org/drawingml/2006/main" noGrp="1"/>
          </p:cNvSpPr>
          <p:nvPr/>
        </p:nvSpPr>
        <p:spPr>
          <a:xfrm xmlns:a="http://schemas.openxmlformats.org/drawingml/2006/main">
            <a:off x="609600" y="3857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YOUR TASK</a:t>
            </a:r>
          </a:p>
        </p:txBody>
      </p:sp>
      <p:sp>
        <p:nvSpPr>
          <p:cNvPr id="7" name="">
            <a:extLst xmlns:a="http://schemas.openxmlformats.org/drawingml/2006/main">
              <a:ext uri="{FF2B5EF4-FFF2-40B4-BE49-F238E27FC236}">
                <a16:creationId xmlns:a16="http://schemas.microsoft.com/office/drawing/2014/main" id="{E95CAD1F-5406-4BFB-9C2C-0A2AB281693E}"/>
              </a:ext>
            </a:extLst>
          </p:cNvPr>
          <p:cNvSpPr>
            <a:spLocks xmlns:a="http://schemas.openxmlformats.org/drawingml/2006/main" noGrp="1"/>
          </p:cNvSpPr>
          <p:nvPr/>
        </p:nvSpPr>
        <p:spPr>
          <a:xfrm xmlns:a="http://schemas.openxmlformats.org/drawingml/2006/main">
            <a:off x="609600" y="438150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Write a short delegation note for the outreach coordinator. Include one permitted decision, one limit, a support contact and an escalation route.</a:t>
            </a:r>
          </a:p>
        </p:txBody>
      </p:sp>
    </p:spTree>
    <p:extLst>
      <p:ext uri="{BB962C8B-B14F-4D97-AF65-F5344CB8AC3E}">
        <p14:creationId xmlns:p14="http://schemas.microsoft.com/office/powerpoint/2010/main" val="14519351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F94223-31B5-485F-9E96-2249486D1335}"/>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2  |  REASONING</a:t>
            </a:r>
          </a:p>
        </p:txBody>
      </p:sp>
      <p:sp>
        <p:nvSpPr>
          <p:cNvPr id="2" name="">
            <a:extLst xmlns:a="http://schemas.openxmlformats.org/drawingml/2006/main">
              <a:ext uri="{FF2B5EF4-FFF2-40B4-BE49-F238E27FC236}">
                <a16:creationId xmlns:a16="http://schemas.microsoft.com/office/drawing/2014/main" id="{59525A40-B112-409E-BE2F-99AAA663B93A}"/>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Use supervision for reflection and safe action</a:t>
            </a:r>
          </a:p>
        </p:txBody>
      </p:sp>
      <p:sp>
        <p:nvSpPr>
          <p:cNvPr id="3" name="">
            <a:extLst xmlns:a="http://schemas.openxmlformats.org/drawingml/2006/main">
              <a:ext uri="{FF2B5EF4-FFF2-40B4-BE49-F238E27FC236}">
                <a16:creationId xmlns:a16="http://schemas.microsoft.com/office/drawing/2014/main" id="{13F17C33-C8DD-42DA-AE24-82292726ED70}"/>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SWP-033  |  SWEEP Academy  |  1.1.0</a:t>
            </a:r>
          </a:p>
        </p:txBody>
      </p:sp>
      <p:sp>
        <p:nvSpPr>
          <p:cNvPr id="4" name="">
            <a:extLst xmlns:a="http://schemas.openxmlformats.org/drawingml/2006/main">
              <a:ext uri="{FF2B5EF4-FFF2-40B4-BE49-F238E27FC236}">
                <a16:creationId xmlns:a16="http://schemas.microsoft.com/office/drawing/2014/main" id="{9E1EE070-BD12-4A19-A588-2708B648875F}"/>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2757605C-45DA-4A0A-BA19-E7D9C0B5B5A4}"/>
              </a:ext>
            </a:extLst>
          </p:cNvPr>
          <p:cNvSpPr>
            <a:spLocks xmlns:a="http://schemas.openxmlformats.org/drawingml/2006/main" noGrp="1"/>
          </p:cNvSpPr>
          <p:nvPr/>
        </p:nvSpPr>
        <p:spPr>
          <a:xfrm xmlns:a="http://schemas.openxmlformats.org/drawingml/2006/main">
            <a:off x="609600" y="2143125"/>
            <a:ext cx="1047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250" b="0">
                <a:solidFill>
                  <a:srgbClr val="17223B"/>
                </a:solidFill>
                <a:latin typeface="Arial"/>
                <a:ea typeface="Arial"/>
                <a:cs typeface="Arial"/>
              </a:defRPr>
            </a:defPPr>
          </a:lstStyle>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Explore observations, assumptions and alternatives.</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Agree a feasible action and review.</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Escalate urgent concerns without waiting.</a:t>
            </a:r>
          </a:p>
        </p:txBody>
      </p:sp>
      <p:sp>
        <p:nvSpPr>
          <p:cNvPr id="6" name="">
            <a:extLst xmlns:a="http://schemas.openxmlformats.org/drawingml/2006/main">
              <a:ext uri="{FF2B5EF4-FFF2-40B4-BE49-F238E27FC236}">
                <a16:creationId xmlns:a16="http://schemas.microsoft.com/office/drawing/2014/main" id="{DDBE5AC3-B4D9-44E4-B26D-9705945D2886}"/>
              </a:ext>
            </a:extLst>
          </p:cNvPr>
          <p:cNvSpPr>
            <a:spLocks xmlns:a="http://schemas.openxmlformats.org/drawingml/2006/main" noGrp="1"/>
          </p:cNvSpPr>
          <p:nvPr/>
        </p:nvSpPr>
        <p:spPr>
          <a:xfrm xmlns:a="http://schemas.openxmlformats.org/drawingml/2006/main">
            <a:off x="609600" y="4429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725" b="0">
                <a:solidFill>
                  <a:srgbClr val="17223B"/>
                </a:solidFill>
                <a:latin typeface="Arial"/>
                <a:ea typeface="Arial"/>
                <a:cs typeface="Arial"/>
              </a:defRPr>
            </a:defPPr>
          </a:lstStyle>
          <a:p xmlns:a="http://schemas.openxmlformats.org/drawingml/2006/main">
            <a:pPr>
              <a:defRPr sz="1725" b="0">
                <a:solidFill>
                  <a:srgbClr val="17223B"/>
                </a:solidFill>
                <a:latin typeface="Arial"/>
                <a:ea typeface="Arial"/>
                <a:cs typeface="Arial"/>
              </a:defRPr>
            </a:pPr>
            <a:r>
              <a:rPr sz="1725" b="0">
                <a:solidFill>
                  <a:srgbClr val="17223B"/>
                </a:solidFill>
                <a:latin typeface="Arial"/>
                <a:ea typeface="Arial"/>
                <a:cs typeface="Arial"/>
              </a:rPr>
              <a:t>Use structured supervision to support learning, wellbeing and safe escalation.</a:t>
            </a:r>
          </a:p>
        </p:txBody>
      </p:sp>
    </p:spTree>
    <p:extLst>
      <p:ext uri="{BB962C8B-B14F-4D97-AF65-F5344CB8AC3E}">
        <p14:creationId xmlns:p14="http://schemas.microsoft.com/office/powerpoint/2010/main" val="6597792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45AB37-546E-4ED5-9F7D-F5C99C0F5CF3}"/>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2  |  FICTIONAL WORKED EXAMPLE</a:t>
            </a:r>
          </a:p>
        </p:txBody>
      </p:sp>
      <p:sp>
        <p:nvSpPr>
          <p:cNvPr id="2" name="">
            <a:extLst xmlns:a="http://schemas.openxmlformats.org/drawingml/2006/main">
              <a:ext uri="{FF2B5EF4-FFF2-40B4-BE49-F238E27FC236}">
                <a16:creationId xmlns:a16="http://schemas.microsoft.com/office/drawing/2014/main" id="{76CB1077-E93A-4B2D-A00F-D49328FFE42B}"/>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Apply the lesson</a:t>
            </a:r>
          </a:p>
        </p:txBody>
      </p:sp>
      <p:sp>
        <p:nvSpPr>
          <p:cNvPr id="3" name="">
            <a:extLst xmlns:a="http://schemas.openxmlformats.org/drawingml/2006/main">
              <a:ext uri="{FF2B5EF4-FFF2-40B4-BE49-F238E27FC236}">
                <a16:creationId xmlns:a16="http://schemas.microsoft.com/office/drawing/2014/main" id="{1090C36D-92B0-4B50-95B8-CC71DEBFD525}"/>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SWP-033  |  SWEEP Academy  |  1.1.0</a:t>
            </a:r>
          </a:p>
        </p:txBody>
      </p:sp>
      <p:sp>
        <p:nvSpPr>
          <p:cNvPr id="4" name="">
            <a:extLst xmlns:a="http://schemas.openxmlformats.org/drawingml/2006/main">
              <a:ext uri="{FF2B5EF4-FFF2-40B4-BE49-F238E27FC236}">
                <a16:creationId xmlns:a16="http://schemas.microsoft.com/office/drawing/2014/main" id="{07BE007F-8963-49F4-B220-3762CF5AC71B}"/>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5</a:t>
            </a:r>
          </a:p>
        </p:txBody>
      </p:sp>
      <p:sp>
        <p:nvSpPr>
          <p:cNvPr id="5" name="">
            <a:extLst xmlns:a="http://schemas.openxmlformats.org/drawingml/2006/main">
              <a:ext uri="{FF2B5EF4-FFF2-40B4-BE49-F238E27FC236}">
                <a16:creationId xmlns:a16="http://schemas.microsoft.com/office/drawing/2014/main" id="{64BFB575-3919-4CEB-990C-48E57DE17C90}"/>
              </a:ext>
            </a:extLst>
          </p:cNvPr>
          <p:cNvSpPr>
            <a:spLocks xmlns:a="http://schemas.openxmlformats.org/drawingml/2006/main" noGrp="1"/>
          </p:cNvSpPr>
          <p:nvPr/>
        </p:nvSpPr>
        <p:spPr>
          <a:xfrm xmlns:a="http://schemas.openxmlformats.org/drawingml/2006/main">
            <a:off x="609600" y="1952625"/>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Fictional worked example: a worker misses follow-up tasks after extra sessions are added. The supervisor reviews the actual demands, hears the worker's account and agrees a manageable priority plan. The manager reviews capacity rather than only recommending a wellbeing exercise.</a:t>
            </a:r>
          </a:p>
        </p:txBody>
      </p:sp>
      <p:sp>
        <p:nvSpPr>
          <p:cNvPr id="6" name="">
            <a:extLst xmlns:a="http://schemas.openxmlformats.org/drawingml/2006/main">
              <a:ext uri="{FF2B5EF4-FFF2-40B4-BE49-F238E27FC236}">
                <a16:creationId xmlns:a16="http://schemas.microsoft.com/office/drawing/2014/main" id="{5946A05C-C758-4485-8B01-10EB49B3184B}"/>
              </a:ext>
            </a:extLst>
          </p:cNvPr>
          <p:cNvSpPr>
            <a:spLocks xmlns:a="http://schemas.openxmlformats.org/drawingml/2006/main" noGrp="1"/>
          </p:cNvSpPr>
          <p:nvPr/>
        </p:nvSpPr>
        <p:spPr>
          <a:xfrm xmlns:a="http://schemas.openxmlformats.org/drawingml/2006/main">
            <a:off x="609600" y="3857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YOUR TASK</a:t>
            </a:r>
          </a:p>
        </p:txBody>
      </p:sp>
      <p:sp>
        <p:nvSpPr>
          <p:cNvPr id="7" name="">
            <a:extLst xmlns:a="http://schemas.openxmlformats.org/drawingml/2006/main">
              <a:ext uri="{FF2B5EF4-FFF2-40B4-BE49-F238E27FC236}">
                <a16:creationId xmlns:a16="http://schemas.microsoft.com/office/drawing/2014/main" id="{FBDC1F45-4474-4ABD-9528-9FF8A9F8F2A4}"/>
              </a:ext>
            </a:extLst>
          </p:cNvPr>
          <p:cNvSpPr>
            <a:spLocks xmlns:a="http://schemas.openxmlformats.org/drawingml/2006/main" noGrp="1"/>
          </p:cNvSpPr>
          <p:nvPr/>
        </p:nvSpPr>
        <p:spPr>
          <a:xfrm xmlns:a="http://schemas.openxmlformats.org/drawingml/2006/main">
            <a:off x="609600" y="438150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Prepare a supervision agenda for the outreach case with a reflection question, a specific feedback observation, an agreed action and an urgent-issue route.</a:t>
            </a:r>
          </a:p>
        </p:txBody>
      </p:sp>
    </p:spTree>
    <p:extLst>
      <p:ext uri="{BB962C8B-B14F-4D97-AF65-F5344CB8AC3E}">
        <p14:creationId xmlns:p14="http://schemas.microsoft.com/office/powerpoint/2010/main" val="16099886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1AEFC0-808C-4349-BB2E-AE45F9DD0631}"/>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3  |  REASONING</a:t>
            </a:r>
          </a:p>
        </p:txBody>
      </p:sp>
      <p:sp>
        <p:nvSpPr>
          <p:cNvPr id="2" name="">
            <a:extLst xmlns:a="http://schemas.openxmlformats.org/drawingml/2006/main">
              <a:ext uri="{FF2B5EF4-FFF2-40B4-BE49-F238E27FC236}">
                <a16:creationId xmlns:a16="http://schemas.microsoft.com/office/drawing/2014/main" id="{16CFC613-2431-4873-B65E-828A2F403DD4}"/>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Manage delivery and learn from variation</a:t>
            </a:r>
          </a:p>
        </p:txBody>
      </p:sp>
      <p:sp>
        <p:nvSpPr>
          <p:cNvPr id="3" name="">
            <a:extLst xmlns:a="http://schemas.openxmlformats.org/drawingml/2006/main">
              <a:ext uri="{FF2B5EF4-FFF2-40B4-BE49-F238E27FC236}">
                <a16:creationId xmlns:a16="http://schemas.microsoft.com/office/drawing/2014/main" id="{D68BE1BC-A181-437F-AB5F-7D561A6CFE7E}"/>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SWP-033  |  SWEEP Academy  |  1.1.0</a:t>
            </a:r>
          </a:p>
        </p:txBody>
      </p:sp>
      <p:sp>
        <p:nvSpPr>
          <p:cNvPr id="4" name="">
            <a:extLst xmlns:a="http://schemas.openxmlformats.org/drawingml/2006/main">
              <a:ext uri="{FF2B5EF4-FFF2-40B4-BE49-F238E27FC236}">
                <a16:creationId xmlns:a16="http://schemas.microsoft.com/office/drawing/2014/main" id="{BE10C5D7-AC3C-4C7B-A800-E6A7B4473DC1}"/>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6</a:t>
            </a:r>
          </a:p>
        </p:txBody>
      </p:sp>
      <p:sp>
        <p:nvSpPr>
          <p:cNvPr id="5" name="">
            <a:extLst xmlns:a="http://schemas.openxmlformats.org/drawingml/2006/main">
              <a:ext uri="{FF2B5EF4-FFF2-40B4-BE49-F238E27FC236}">
                <a16:creationId xmlns:a16="http://schemas.microsoft.com/office/drawing/2014/main" id="{51C9160B-6049-433A-B53D-6667BCED1AD5}"/>
              </a:ext>
            </a:extLst>
          </p:cNvPr>
          <p:cNvSpPr>
            <a:spLocks xmlns:a="http://schemas.openxmlformats.org/drawingml/2006/main" noGrp="1"/>
          </p:cNvSpPr>
          <p:nvPr/>
        </p:nvSpPr>
        <p:spPr>
          <a:xfrm xmlns:a="http://schemas.openxmlformats.org/drawingml/2006/main">
            <a:off x="609600" y="2143125"/>
            <a:ext cx="1047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250" b="0">
                <a:solidFill>
                  <a:srgbClr val="17223B"/>
                </a:solidFill>
                <a:latin typeface="Arial"/>
                <a:ea typeface="Arial"/>
                <a:cs typeface="Arial"/>
              </a:defRPr>
            </a:defPPr>
          </a:lstStyle>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Investigate variation before changing the plan.</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Separate activity counts from participant results.</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Approve and review bounded adjustments.</a:t>
            </a:r>
          </a:p>
        </p:txBody>
      </p:sp>
      <p:sp>
        <p:nvSpPr>
          <p:cNvPr id="6" name="">
            <a:extLst xmlns:a="http://schemas.openxmlformats.org/drawingml/2006/main">
              <a:ext uri="{FF2B5EF4-FFF2-40B4-BE49-F238E27FC236}">
                <a16:creationId xmlns:a16="http://schemas.microsoft.com/office/drawing/2014/main" id="{513F3CBD-1562-43A6-8A3F-B93EF7275CA0}"/>
              </a:ext>
            </a:extLst>
          </p:cNvPr>
          <p:cNvSpPr>
            <a:spLocks xmlns:a="http://schemas.openxmlformats.org/drawingml/2006/main" noGrp="1"/>
          </p:cNvSpPr>
          <p:nvPr/>
        </p:nvSpPr>
        <p:spPr>
          <a:xfrm xmlns:a="http://schemas.openxmlformats.org/drawingml/2006/main">
            <a:off x="609600" y="4429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725" b="0">
                <a:solidFill>
                  <a:srgbClr val="17223B"/>
                </a:solidFill>
                <a:latin typeface="Arial"/>
                <a:ea typeface="Arial"/>
                <a:cs typeface="Arial"/>
              </a:defRPr>
            </a:defPPr>
          </a:lstStyle>
          <a:p xmlns:a="http://schemas.openxmlformats.org/drawingml/2006/main">
            <a:pPr>
              <a:defRPr sz="1725" b="0">
                <a:solidFill>
                  <a:srgbClr val="17223B"/>
                </a:solidFill>
                <a:latin typeface="Arial"/>
                <a:ea typeface="Arial"/>
                <a:cs typeface="Arial"/>
              </a:defRPr>
            </a:pPr>
            <a:r>
              <a:rPr sz="1725" b="0">
                <a:solidFill>
                  <a:srgbClr val="17223B"/>
                </a:solidFill>
                <a:latin typeface="Arial"/>
                <a:ea typeface="Arial"/>
                <a:cs typeface="Arial"/>
              </a:rPr>
              <a:t>Use delivery information to manage risks, resources and authorised programme adjustments.</a:t>
            </a:r>
          </a:p>
        </p:txBody>
      </p:sp>
    </p:spTree>
    <p:extLst>
      <p:ext uri="{BB962C8B-B14F-4D97-AF65-F5344CB8AC3E}">
        <p14:creationId xmlns:p14="http://schemas.microsoft.com/office/powerpoint/2010/main" val="96774412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12F757-B83C-4F02-B5DB-826FE27DA110}"/>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3  |  FICTIONAL WORKED EXAMPLE</a:t>
            </a:r>
          </a:p>
        </p:txBody>
      </p:sp>
      <p:sp>
        <p:nvSpPr>
          <p:cNvPr id="2" name="">
            <a:extLst xmlns:a="http://schemas.openxmlformats.org/drawingml/2006/main">
              <a:ext uri="{FF2B5EF4-FFF2-40B4-BE49-F238E27FC236}">
                <a16:creationId xmlns:a16="http://schemas.microsoft.com/office/drawing/2014/main" id="{5AD70434-CB06-44DB-81EE-ECED759507EB}"/>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Apply the lesson</a:t>
            </a:r>
          </a:p>
        </p:txBody>
      </p:sp>
      <p:sp>
        <p:nvSpPr>
          <p:cNvPr id="3" name="">
            <a:extLst xmlns:a="http://schemas.openxmlformats.org/drawingml/2006/main">
              <a:ext uri="{FF2B5EF4-FFF2-40B4-BE49-F238E27FC236}">
                <a16:creationId xmlns:a16="http://schemas.microsoft.com/office/drawing/2014/main" id="{63D4A628-B3D6-4D91-B0AD-B4D07038058A}"/>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SWP-033  |  SWEEP Academy  |  1.1.0</a:t>
            </a:r>
          </a:p>
        </p:txBody>
      </p:sp>
      <p:sp>
        <p:nvSpPr>
          <p:cNvPr id="4" name="">
            <a:extLst xmlns:a="http://schemas.openxmlformats.org/drawingml/2006/main">
              <a:ext uri="{FF2B5EF4-FFF2-40B4-BE49-F238E27FC236}">
                <a16:creationId xmlns:a16="http://schemas.microsoft.com/office/drawing/2014/main" id="{C8D66FB6-F21C-4034-867B-95ED06598EA0}"/>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7</a:t>
            </a:r>
          </a:p>
        </p:txBody>
      </p:sp>
      <p:sp>
        <p:nvSpPr>
          <p:cNvPr id="5" name="">
            <a:extLst xmlns:a="http://schemas.openxmlformats.org/drawingml/2006/main">
              <a:ext uri="{FF2B5EF4-FFF2-40B4-BE49-F238E27FC236}">
                <a16:creationId xmlns:a16="http://schemas.microsoft.com/office/drawing/2014/main" id="{AC9DBF53-74F4-4032-B602-7CDA0B2DE093}"/>
              </a:ext>
            </a:extLst>
          </p:cNvPr>
          <p:cNvSpPr>
            <a:spLocks xmlns:a="http://schemas.openxmlformats.org/drawingml/2006/main" noGrp="1"/>
          </p:cNvSpPr>
          <p:nvPr/>
        </p:nvSpPr>
        <p:spPr>
          <a:xfrm xmlns:a="http://schemas.openxmlformats.org/drawingml/2006/main">
            <a:off x="609600" y="1952625"/>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Fictional worked example: the team has delivered more sessions but referral delays remain. It investigates the referral pathway and proposes a limited scheduling adjustment. The authorised manager approves a bounded trial with an owner and review date; the team tracks delays alongside session counts.</a:t>
            </a:r>
          </a:p>
        </p:txBody>
      </p:sp>
      <p:sp>
        <p:nvSpPr>
          <p:cNvPr id="6" name="">
            <a:extLst xmlns:a="http://schemas.openxmlformats.org/drawingml/2006/main">
              <a:ext uri="{FF2B5EF4-FFF2-40B4-BE49-F238E27FC236}">
                <a16:creationId xmlns:a16="http://schemas.microsoft.com/office/drawing/2014/main" id="{B8363E3E-494F-4CED-971C-2A19ECE0E577}"/>
              </a:ext>
            </a:extLst>
          </p:cNvPr>
          <p:cNvSpPr>
            <a:spLocks xmlns:a="http://schemas.openxmlformats.org/drawingml/2006/main" noGrp="1"/>
          </p:cNvSpPr>
          <p:nvPr/>
        </p:nvSpPr>
        <p:spPr>
          <a:xfrm xmlns:a="http://schemas.openxmlformats.org/drawingml/2006/main">
            <a:off x="609600" y="3857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YOUR TASK</a:t>
            </a:r>
          </a:p>
        </p:txBody>
      </p:sp>
      <p:sp>
        <p:nvSpPr>
          <p:cNvPr id="7" name="">
            <a:extLst xmlns:a="http://schemas.openxmlformats.org/drawingml/2006/main">
              <a:ext uri="{FF2B5EF4-FFF2-40B4-BE49-F238E27FC236}">
                <a16:creationId xmlns:a16="http://schemas.microsoft.com/office/drawing/2014/main" id="{7B9D4A85-CB83-4B43-B361-5AEBE956153A}"/>
              </a:ext>
            </a:extLst>
          </p:cNvPr>
          <p:cNvSpPr>
            <a:spLocks xmlns:a="http://schemas.openxmlformats.org/drawingml/2006/main" noGrp="1"/>
          </p:cNvSpPr>
          <p:nvPr/>
        </p:nvSpPr>
        <p:spPr>
          <a:xfrm xmlns:a="http://schemas.openxmlformats.org/drawingml/2006/main">
            <a:off x="609600" y="438150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Write an issue log entry and a change proposal for the outreach programme. Give one output measure and one outcome-oriented measure.</a:t>
            </a:r>
          </a:p>
        </p:txBody>
      </p:sp>
    </p:spTree>
    <p:extLst>
      <p:ext uri="{BB962C8B-B14F-4D97-AF65-F5344CB8AC3E}">
        <p14:creationId xmlns:p14="http://schemas.microsoft.com/office/powerpoint/2010/main" val="17495419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D4E5F68-B543-499E-8D25-D50E41D7E77F}"/>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EVIDENCE CHECK</a:t>
            </a:r>
          </a:p>
        </p:txBody>
      </p:sp>
      <p:sp>
        <p:nvSpPr>
          <p:cNvPr id="2" name="">
            <a:extLst xmlns:a="http://schemas.openxmlformats.org/drawingml/2006/main">
              <a:ext uri="{FF2B5EF4-FFF2-40B4-BE49-F238E27FC236}">
                <a16:creationId xmlns:a16="http://schemas.microsoft.com/office/drawing/2014/main" id="{D1C446C1-B92C-486A-A273-ED60D63F55A9}"/>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Sources and limits</a:t>
            </a:r>
          </a:p>
        </p:txBody>
      </p:sp>
      <p:sp>
        <p:nvSpPr>
          <p:cNvPr id="3" name="">
            <a:extLst xmlns:a="http://schemas.openxmlformats.org/drawingml/2006/main">
              <a:ext uri="{FF2B5EF4-FFF2-40B4-BE49-F238E27FC236}">
                <a16:creationId xmlns:a16="http://schemas.microsoft.com/office/drawing/2014/main" id="{C5402C4B-C33E-4452-BAA6-C44D95702299}"/>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SWP-033  |  SWEEP Academy  |  1.1.0</a:t>
            </a:r>
          </a:p>
        </p:txBody>
      </p:sp>
      <p:sp>
        <p:nvSpPr>
          <p:cNvPr id="4" name="">
            <a:extLst xmlns:a="http://schemas.openxmlformats.org/drawingml/2006/main">
              <a:ext uri="{FF2B5EF4-FFF2-40B4-BE49-F238E27FC236}">
                <a16:creationId xmlns:a16="http://schemas.microsoft.com/office/drawing/2014/main" id="{637A8F9E-C572-4DD8-8663-327C03F878AF}"/>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8</a:t>
            </a:r>
          </a:p>
        </p:txBody>
      </p:sp>
      <p:sp>
        <p:nvSpPr>
          <p:cNvPr id="5" name="">
            <a:extLst xmlns:a="http://schemas.openxmlformats.org/drawingml/2006/main">
              <a:ext uri="{FF2B5EF4-FFF2-40B4-BE49-F238E27FC236}">
                <a16:creationId xmlns:a16="http://schemas.microsoft.com/office/drawing/2014/main" id="{16D2501E-B518-4CF2-BBA9-082380C90B28}"/>
              </a:ext>
            </a:extLst>
          </p:cNvPr>
          <p:cNvSpPr>
            <a:spLocks xmlns:a="http://schemas.openxmlformats.org/drawingml/2006/main" noGrp="1"/>
          </p:cNvSpPr>
          <p:nvPr/>
        </p:nvSpPr>
        <p:spPr>
          <a:xfrm xmlns:a="http://schemas.openxmlformats.org/drawingml/2006/main">
            <a:off x="609600" y="1905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b="1">
                <a:solidFill>
                  <a:srgbClr val="17223B"/>
                </a:solidFill>
                <a:latin typeface="Arial"/>
                <a:ea typeface="Arial"/>
                <a:cs typeface="Arial"/>
              </a:defRPr>
            </a:defPPr>
          </a:lstStyle>
          <a:p xmlns:a="http://schemas.openxmlformats.org/drawingml/2006/main">
            <a:pPr>
              <a:defRPr sz="1575" b="1">
                <a:solidFill>
                  <a:srgbClr val="17223B"/>
                </a:solidFill>
                <a:latin typeface="Arial"/>
                <a:ea typeface="Arial"/>
                <a:cs typeface="Arial"/>
              </a:defRPr>
            </a:pPr>
            <a:r>
              <a:rPr sz="1575" b="1">
                <a:solidFill>
                  <a:srgbClr val="17223B"/>
                </a:solidFill>
                <a:latin typeface="Arial"/>
                <a:ea typeface="Arial"/>
                <a:cs typeface="Arial"/>
              </a:rPr>
              <a:t>[R3] Viscu, L.-I., and Marici, M. (2024). Challenges in supervising social workers. International Journal of Social and Educational Innovation, 11(22), 81-94.</a:t>
            </a:r>
          </a:p>
        </p:txBody>
      </p:sp>
      <p:sp>
        <p:nvSpPr>
          <p:cNvPr id="6" name="">
            <a:extLst xmlns:a="http://schemas.openxmlformats.org/drawingml/2006/main">
              <a:ext uri="{FF2B5EF4-FFF2-40B4-BE49-F238E27FC236}">
                <a16:creationId xmlns:a16="http://schemas.microsoft.com/office/drawing/2014/main" id="{FD4F668C-E7E0-4EF5-BB84-22A7DD4CFD5A}"/>
              </a:ext>
            </a:extLst>
          </p:cNvPr>
          <p:cNvSpPr>
            <a:spLocks xmlns:a="http://schemas.openxmlformats.org/drawingml/2006/main" noGrp="1"/>
          </p:cNvSpPr>
          <p:nvPr/>
        </p:nvSpPr>
        <p:spPr>
          <a:xfrm xmlns:a="http://schemas.openxmlformats.org/drawingml/2006/main">
            <a:off x="609600" y="2905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b="0">
                <a:solidFill>
                  <a:srgbClr val="17223B"/>
                </a:solidFill>
                <a:latin typeface="Arial"/>
                <a:ea typeface="Arial"/>
                <a:cs typeface="Arial"/>
              </a:defRPr>
            </a:defPPr>
          </a:lstStyle>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https://zenodo.org/records/14246369</a:t>
            </a:r>
          </a:p>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Conceptual guidance, not an effectiveness trial; it does not establish local licensing or scope-of-practice rules.</a:t>
            </a:r>
          </a:p>
        </p:txBody>
      </p:sp>
      <p:sp>
        <p:nvSpPr>
          <p:cNvPr id="7" name="">
            <a:extLst xmlns:a="http://schemas.openxmlformats.org/drawingml/2006/main">
              <a:ext uri="{FF2B5EF4-FFF2-40B4-BE49-F238E27FC236}">
                <a16:creationId xmlns:a16="http://schemas.microsoft.com/office/drawing/2014/main" id="{7724CFE4-D9C4-4325-91F6-ADA28D5C72FF}"/>
              </a:ext>
            </a:extLst>
          </p:cNvPr>
          <p:cNvSpPr>
            <a:spLocks xmlns:a="http://schemas.openxmlformats.org/drawingml/2006/main" noGrp="1"/>
          </p:cNvSpPr>
          <p:nvPr/>
        </p:nvSpPr>
        <p:spPr>
          <a:xfrm xmlns:a="http://schemas.openxmlformats.org/drawingml/2006/main">
            <a:off x="609600" y="39052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b="1">
                <a:solidFill>
                  <a:srgbClr val="17223B"/>
                </a:solidFill>
                <a:latin typeface="Arial"/>
                <a:ea typeface="Arial"/>
                <a:cs typeface="Arial"/>
              </a:defRPr>
            </a:defPPr>
          </a:lstStyle>
          <a:p xmlns:a="http://schemas.openxmlformats.org/drawingml/2006/main">
            <a:pPr>
              <a:defRPr sz="1575" b="1">
                <a:solidFill>
                  <a:srgbClr val="17223B"/>
                </a:solidFill>
                <a:latin typeface="Arial"/>
                <a:ea typeface="Arial"/>
                <a:cs typeface="Arial"/>
              </a:defRPr>
            </a:pPr>
            <a:r>
              <a:rPr sz="1575" b="1">
                <a:solidFill>
                  <a:srgbClr val="17223B"/>
                </a:solidFill>
                <a:latin typeface="Arial"/>
                <a:ea typeface="Arial"/>
                <a:cs typeface="Arial"/>
              </a:rPr>
              <a:t>[S2] NASW and ASWB. Best Practice Standards in Social Work Supervision.</a:t>
            </a:r>
          </a:p>
        </p:txBody>
      </p:sp>
      <p:sp>
        <p:nvSpPr>
          <p:cNvPr id="8" name="">
            <a:extLst xmlns:a="http://schemas.openxmlformats.org/drawingml/2006/main">
              <a:ext uri="{FF2B5EF4-FFF2-40B4-BE49-F238E27FC236}">
                <a16:creationId xmlns:a16="http://schemas.microsoft.com/office/drawing/2014/main" id="{0D028E06-5267-4C0A-A011-2B6D21A2C207}"/>
              </a:ext>
            </a:extLst>
          </p:cNvPr>
          <p:cNvSpPr>
            <a:spLocks xmlns:a="http://schemas.openxmlformats.org/drawingml/2006/main" noGrp="1"/>
          </p:cNvSpPr>
          <p:nvPr/>
        </p:nvSpPr>
        <p:spPr>
          <a:xfrm xmlns:a="http://schemas.openxmlformats.org/drawingml/2006/main">
            <a:off x="609600" y="49053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b="0">
                <a:solidFill>
                  <a:srgbClr val="17223B"/>
                </a:solidFill>
                <a:latin typeface="Arial"/>
                <a:ea typeface="Arial"/>
                <a:cs typeface="Arial"/>
              </a:defRPr>
            </a:defPPr>
          </a:lstStyle>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https://www.socialworkers.org/Practice/NASW-Practice-Standards-Guidelines/Best-Practice-Standards-in-Social-Work-Supervision</a:t>
            </a:r>
          </a:p>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Adapt to local roles, qualifications and regulatory requirements.</a:t>
            </a:r>
          </a:p>
        </p:txBody>
      </p:sp>
    </p:spTree>
    <p:extLst>
      <p:ext uri="{BB962C8B-B14F-4D97-AF65-F5344CB8AC3E}">
        <p14:creationId xmlns:p14="http://schemas.microsoft.com/office/powerpoint/2010/main" val="16753918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0D3A0E-DC6F-4DD9-A8E2-4462FDF9D091}"/>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EVIDENCE CHECK</a:t>
            </a:r>
          </a:p>
        </p:txBody>
      </p:sp>
      <p:sp>
        <p:nvSpPr>
          <p:cNvPr id="2" name="">
            <a:extLst xmlns:a="http://schemas.openxmlformats.org/drawingml/2006/main">
              <a:ext uri="{FF2B5EF4-FFF2-40B4-BE49-F238E27FC236}">
                <a16:creationId xmlns:a16="http://schemas.microsoft.com/office/drawing/2014/main" id="{CA8A7078-01D8-4763-8527-5C6DFBE68922}"/>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Sources and limits</a:t>
            </a:r>
          </a:p>
        </p:txBody>
      </p:sp>
      <p:sp>
        <p:nvSpPr>
          <p:cNvPr id="3" name="">
            <a:extLst xmlns:a="http://schemas.openxmlformats.org/drawingml/2006/main">
              <a:ext uri="{FF2B5EF4-FFF2-40B4-BE49-F238E27FC236}">
                <a16:creationId xmlns:a16="http://schemas.microsoft.com/office/drawing/2014/main" id="{F49F77F0-37AD-4E0B-927A-F5074F566F6D}"/>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SWP-033  |  SWEEP Academy  |  1.1.0</a:t>
            </a:r>
          </a:p>
        </p:txBody>
      </p:sp>
      <p:sp>
        <p:nvSpPr>
          <p:cNvPr id="4" name="">
            <a:extLst xmlns:a="http://schemas.openxmlformats.org/drawingml/2006/main">
              <a:ext uri="{FF2B5EF4-FFF2-40B4-BE49-F238E27FC236}">
                <a16:creationId xmlns:a16="http://schemas.microsoft.com/office/drawing/2014/main" id="{907CA10E-25BA-46E5-BEA4-B59E008F9CF9}"/>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9</a:t>
            </a:r>
          </a:p>
        </p:txBody>
      </p:sp>
      <p:sp>
        <p:nvSpPr>
          <p:cNvPr id="5" name="">
            <a:extLst xmlns:a="http://schemas.openxmlformats.org/drawingml/2006/main">
              <a:ext uri="{FF2B5EF4-FFF2-40B4-BE49-F238E27FC236}">
                <a16:creationId xmlns:a16="http://schemas.microsoft.com/office/drawing/2014/main" id="{C6537B79-7823-4B4D-BF10-AEFB814CD62C}"/>
              </a:ext>
            </a:extLst>
          </p:cNvPr>
          <p:cNvSpPr>
            <a:spLocks xmlns:a="http://schemas.openxmlformats.org/drawingml/2006/main" noGrp="1"/>
          </p:cNvSpPr>
          <p:nvPr/>
        </p:nvSpPr>
        <p:spPr>
          <a:xfrm xmlns:a="http://schemas.openxmlformats.org/drawingml/2006/main">
            <a:off x="609600" y="1905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b="1">
                <a:solidFill>
                  <a:srgbClr val="17223B"/>
                </a:solidFill>
                <a:latin typeface="Arial"/>
                <a:ea typeface="Arial"/>
                <a:cs typeface="Arial"/>
              </a:defRPr>
            </a:defPPr>
          </a:lstStyle>
          <a:p xmlns:a="http://schemas.openxmlformats.org/drawingml/2006/main">
            <a:pPr>
              <a:defRPr sz="1575" b="1">
                <a:solidFill>
                  <a:srgbClr val="17223B"/>
                </a:solidFill>
                <a:latin typeface="Arial"/>
                <a:ea typeface="Arial"/>
                <a:cs typeface="Arial"/>
              </a:defRPr>
            </a:pPr>
            <a:r>
              <a:rPr sz="1575" b="1">
                <a:solidFill>
                  <a:srgbClr val="17223B"/>
                </a:solidFill>
                <a:latin typeface="Arial"/>
                <a:ea typeface="Arial"/>
                <a:cs typeface="Arial"/>
              </a:rPr>
              <a:t>[S4] IFSW (2018). Global Social Work Statement of Ethical Principles.</a:t>
            </a:r>
          </a:p>
        </p:txBody>
      </p:sp>
      <p:sp>
        <p:nvSpPr>
          <p:cNvPr id="6" name="">
            <a:extLst xmlns:a="http://schemas.openxmlformats.org/drawingml/2006/main">
              <a:ext uri="{FF2B5EF4-FFF2-40B4-BE49-F238E27FC236}">
                <a16:creationId xmlns:a16="http://schemas.microsoft.com/office/drawing/2014/main" id="{B5FE1FA5-25D8-43B2-B67C-137F6A46FC4C}"/>
              </a:ext>
            </a:extLst>
          </p:cNvPr>
          <p:cNvSpPr>
            <a:spLocks xmlns:a="http://schemas.openxmlformats.org/drawingml/2006/main" noGrp="1"/>
          </p:cNvSpPr>
          <p:nvPr/>
        </p:nvSpPr>
        <p:spPr>
          <a:xfrm xmlns:a="http://schemas.openxmlformats.org/drawingml/2006/main">
            <a:off x="609600" y="2905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b="0">
                <a:solidFill>
                  <a:srgbClr val="17223B"/>
                </a:solidFill>
                <a:latin typeface="Arial"/>
                <a:ea typeface="Arial"/>
                <a:cs typeface="Arial"/>
              </a:defRPr>
            </a:defPPr>
          </a:lstStyle>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https://www.ifsw.org/global-social-work-statement-of-ethical-principles/</a:t>
            </a:r>
          </a:p>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Does not replace applicable law or organisational safeguarding procedures.</a:t>
            </a:r>
          </a:p>
        </p:txBody>
      </p:sp>
    </p:spTree>
    <p:extLst>
      <p:ext uri="{BB962C8B-B14F-4D97-AF65-F5344CB8AC3E}">
        <p14:creationId xmlns:p14="http://schemas.microsoft.com/office/powerpoint/2010/main" val="10131469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2026-10-17T09:56:51.0460000Z</dcterms:created>
  <dcterms:modified xsi:type="dcterms:W3CDTF">2026-10-17T09:56:51.0460000Z</dcterms:modified>
</coreProperties>
</file>