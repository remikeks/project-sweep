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f80c7dfaf2491e" /><Relationship Type="http://schemas.openxmlformats.org/officeDocument/2006/relationships/extended-properties" Target="/docProps/app.xml" Id="Ra955d0630b12419e" /><Relationship Type="http://schemas.openxmlformats.org/officeDocument/2006/relationships/officeDocument" Target="/ppt/presentation.xml" Id="R70c5123c4154431e" /></Relationships>
</file>

<file path=ppt/presentation.xml><?xml version="1.0" encoding="utf-8"?>
<p:presentation xmlns:p="http://schemas.openxmlformats.org/presentationml/2006/main">
  <p:sldMasterIdLst>
    <p:sldMasterId xmlns:r="http://schemas.openxmlformats.org/officeDocument/2006/relationships" id="2147483648" r:id="R0a3c8f7b655e4812"/>
  </p:sldMasterIdLst>
  <p:notesMasterIdLst>
    <p:notesMasterId xmlns:r="http://schemas.openxmlformats.org/officeDocument/2006/relationships" r:id="R256b7338ab91429a"/>
  </p:notesMasterIdLst>
  <p:sldIdLst>
    <p:sldId xmlns:r="http://schemas.openxmlformats.org/officeDocument/2006/relationships" id="256" r:id="Rfa624236eb574cfe"/>
    <p:sldId xmlns:r="http://schemas.openxmlformats.org/officeDocument/2006/relationships" id="257" r:id="R7870450d0af24c0b"/>
    <p:sldId xmlns:r="http://schemas.openxmlformats.org/officeDocument/2006/relationships" id="258" r:id="Rd417330355394356"/>
    <p:sldId xmlns:r="http://schemas.openxmlformats.org/officeDocument/2006/relationships" id="259" r:id="R76c8cf2c06024d63"/>
    <p:sldId xmlns:r="http://schemas.openxmlformats.org/officeDocument/2006/relationships" id="260" r:id="Rea41cb0434b24f15"/>
    <p:sldId xmlns:r="http://schemas.openxmlformats.org/officeDocument/2006/relationships" id="261" r:id="R16cc57522199431a"/>
    <p:sldId xmlns:r="http://schemas.openxmlformats.org/officeDocument/2006/relationships" id="262" r:id="R855ff673480d43f4"/>
    <p:sldId xmlns:r="http://schemas.openxmlformats.org/officeDocument/2006/relationships" id="263" r:id="Rad4dfa1b884043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76f59d8d1a474e" /><Relationship Type="http://schemas.openxmlformats.org/officeDocument/2006/relationships/slideMaster" Target="/ppt/slideMasters/slideMaster1.xml" Id="R0a3c8f7b655e4812" /><Relationship Type="http://schemas.openxmlformats.org/officeDocument/2006/relationships/notesMaster" Target="/ppt/notesMasters/notesMaster1.xml" Id="R256b7338ab91429a" /><Relationship Type="http://schemas.openxmlformats.org/officeDocument/2006/relationships/presProps" Target="/ppt/presProps.xml" Id="Ra0897ce65a724643" /><Relationship Type="http://schemas.openxmlformats.org/officeDocument/2006/relationships/tableStyles" Target="/ppt/tableStyles.xml" Id="R2c84b28745a7402a" /><Relationship Type="http://schemas.openxmlformats.org/officeDocument/2006/relationships/slide" Target="/ppt/slides/slide1.xml" Id="Rfa624236eb574cfe" /><Relationship Type="http://schemas.openxmlformats.org/officeDocument/2006/relationships/slide" Target="/ppt/slides/slide2.xml" Id="R7870450d0af24c0b" /><Relationship Type="http://schemas.openxmlformats.org/officeDocument/2006/relationships/slide" Target="/ppt/slides/slide3.xml" Id="Rd417330355394356" /><Relationship Type="http://schemas.openxmlformats.org/officeDocument/2006/relationships/slide" Target="/ppt/slides/slide4.xml" Id="R76c8cf2c06024d63" /><Relationship Type="http://schemas.openxmlformats.org/officeDocument/2006/relationships/slide" Target="/ppt/slides/slide5.xml" Id="Rea41cb0434b24f15" /><Relationship Type="http://schemas.openxmlformats.org/officeDocument/2006/relationships/slide" Target="/ppt/slides/slide6.xml" Id="R16cc57522199431a" /><Relationship Type="http://schemas.openxmlformats.org/officeDocument/2006/relationships/slide" Target="/ppt/slides/slide7.xml" Id="R855ff673480d43f4" /><Relationship Type="http://schemas.openxmlformats.org/officeDocument/2006/relationships/slide" Target="/ppt/slides/slide8.xml" Id="Rad4dfa1b884043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2b3ff39da64b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61aebb017648d2" /><Relationship Type="http://schemas.openxmlformats.org/officeDocument/2006/relationships/notesMaster" Target="/ppt/notesMasters/notesMaster1.xml" Id="Re167ba293a3240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2f9b4e56f949b5" /><Relationship Type="http://schemas.openxmlformats.org/officeDocument/2006/relationships/notesMaster" Target="/ppt/notesMasters/notesMaster1.xml" Id="Rbde3d6a6fff64d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b6dc4d95e14daa" /><Relationship Type="http://schemas.openxmlformats.org/officeDocument/2006/relationships/notesMaster" Target="/ppt/notesMasters/notesMaster1.xml" Id="R10108ec4dec340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cb8560bd934e60" /><Relationship Type="http://schemas.openxmlformats.org/officeDocument/2006/relationships/notesMaster" Target="/ppt/notesMasters/notesMaster1.xml" Id="R1100b20a9f574b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4b5597303947f4" /><Relationship Type="http://schemas.openxmlformats.org/officeDocument/2006/relationships/notesMaster" Target="/ppt/notesMasters/notesMaster1.xml" Id="R6e18bc123d5249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e1416545d346cd" /><Relationship Type="http://schemas.openxmlformats.org/officeDocument/2006/relationships/notesMaster" Target="/ppt/notesMasters/notesMaster1.xml" Id="Ra903099675e74d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f721a18b3a4bfc" /><Relationship Type="http://schemas.openxmlformats.org/officeDocument/2006/relationships/notesMaster" Target="/ppt/notesMasters/notesMaster1.xml" Id="R2c22a3be318445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b99b29525a4f7c" /><Relationship Type="http://schemas.openxmlformats.org/officeDocument/2006/relationships/notesMaster" Target="/ppt/notesMasters/notesMaster1.xml" Id="Ra2f49ad8634943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an uncertainty that can be explored, not a conclusion to be confirmed. Specify the setting, whose experience matters and what decision the inquiry could inform. For example, asking what makes a return visit difficult leaves more room for learning than asking why residents fail to comply. Agree where community partners can influence questions, recruitment, interpretation and communication, and explain any genuine limits.</a:t>
            </a:r>
          </a:p>
          <a:p xmlns:a="http://schemas.openxmlformats.org/drawingml/2006/main">
            <a:r>
              <a:t/>
            </a:r>
          </a:p>
          <a:p xmlns:a="http://schemas.openxmlformats.org/drawingml/2006/main">
            <a:r>
              <a:t>Participation must be a meaningful choice. Separate research invitations from decisions about support and avoid suggesting that refusal will affect eligibility. Consider how staff authority, language, timing or compensation could affect participation. Agree co-researcher roles, support, information access and confidentiality before work begins. Keep a reflective note on assumptions and positional influence; reflection makes these influences discussable but does not remove bias.</a:t>
            </a:r>
          </a:p>
          <a:p xmlns:a="http://schemas.openxmlformats.org/drawingml/2006/main">
            <a:r>
              <a:t/>
            </a:r>
          </a:p>
          <a:p xmlns:a="http://schemas.openxmlformats.org/drawingml/2006/main">
            <a:r>
              <a:t>An answerable practice question identifies a specific issue, population or setting and a feasible inquiry; it should not assume its conclusion.</a:t>
            </a:r>
          </a:p>
          <a:p xmlns:a="http://schemas.openxmlformats.org/drawingml/2006/main">
            <a:r>
              <a:t/>
            </a:r>
          </a:p>
          <a:p xmlns:a="http://schemas.openxmlformats.org/drawingml/2006/main">
            <a:r>
              <a:t>Meaningful participation includes influence over relevant questions and interpretation, with roles and limits agreed in advance.</a:t>
            </a:r>
          </a:p>
          <a:p xmlns:a="http://schemas.openxmlformats.org/drawingml/2006/main">
            <a:r>
              <a:t/>
            </a:r>
          </a:p>
          <a:p xmlns:a="http://schemas.openxmlformats.org/drawingml/2006/main">
            <a:r>
              <a:t>Separate participation choices from service eligibility; make refusal possible without threatening support, and manage power differences.</a:t>
            </a:r>
          </a:p>
          <a:p xmlns:a="http://schemas.openxmlformats.org/drawingml/2006/main">
            <a:r>
              <a:t/>
            </a:r>
          </a:p>
          <a:p xmlns:a="http://schemas.openxmlformats.org/drawingml/2006/main">
            <a:r>
              <a:t>Researchers should reflect on how their role and assumptions influence questions, recruitment and interpretation; reflection does not eliminate bias.</a:t>
            </a:r>
          </a:p>
          <a:p xmlns:a="http://schemas.openxmlformats.org/drawingml/2006/main">
            <a:r>
              <a:t/>
            </a:r>
          </a:p>
          <a:p xmlns:a="http://schemas.openxmlformats.org/drawingml/2006/main">
            <a:r>
              <a:t>Agree co-researcher roles, support, compensation arrangements where applicable, access and confidentiality expectations before tasks begin.</a:t>
            </a:r>
          </a:p>
          <a:p xmlns:a="http://schemas.openxmlformats.org/drawingml/2006/main">
            <a:r>
              <a:t/>
            </a:r>
          </a:p>
          <a:p xmlns:a="http://schemas.openxmlformats.org/drawingml/2006/main">
            <a:r>
              <a:t>Cilia Vincenti, S., et al. (2025). Procedural Ethics for Participatory Research: Field-Specific Dilemmas and Recommendations From Researchers, Co-researching Community Partners and the REC Overseeing a Community-Academic ADHD Research Project. International Journal of Qualitative Methods, 24. https://doi.org/10.1177/16094069251364622 A situated account of ethical planning, not a causal evaluation or exemption from local review.</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worked example: residents reshape the centre's question from 'How do we increase compliance?' to 'What makes a second visit useful or difficult?' The team provides a separate way to decline the inquiry without changing access to advice and agrees co-researcher responsibilities.</a:t>
            </a:r>
          </a:p>
          <a:p xmlns:a="http://schemas.openxmlformats.org/drawingml/2006/main">
            <a:r>
              <a:t/>
            </a:r>
          </a:p>
          <a:p xmlns:a="http://schemas.openxmlformats.org/drawingml/2006/main">
            <a:r>
              <a:t>The question does not presume its answer. Participation roles and limits are clear, refusal is feasible, and the response acknowledges power differences.</a:t>
            </a:r>
          </a:p>
          <a:p xmlns:a="http://schemas.openxmlformats.org/drawingml/2006/main">
            <a:r>
              <a:t/>
            </a:r>
          </a:p>
          <a:p xmlns:a="http://schemas.openxmlformats.org/drawingml/2006/main">
            <a:r>
              <a:t>Start with an uncertainty that can be explored, not a conclusion to be confirmed. Specify the setting, whose experience matters and what decision the inquiry could inform. For example, asking what makes a return visit difficult leaves more room for learning than asking why residents fail to comply. Agree where community partners can influence questions, recruitment, interpretation and communication, and explain any genuine limits.</a:t>
            </a:r>
          </a:p>
          <a:p xmlns:a="http://schemas.openxmlformats.org/drawingml/2006/main">
            <a:r>
              <a:t/>
            </a:r>
          </a:p>
          <a:p xmlns:a="http://schemas.openxmlformats.org/drawingml/2006/main">
            <a:r>
              <a:t>Participation must be a meaningful choice. Separate research invitations from decisions about support and avoid suggesting that refusal will affect eligibility. Consider how staff authority, language, timing or compensation could affect participation. Agree co-researcher roles, support, information access and confidentiality before work begins. Keep a reflective note on assumptions and positional influence; reflection makes these influences discussable but does not remove bias.</a:t>
            </a:r>
          </a:p>
          <a:p xmlns:a="http://schemas.openxmlformats.org/drawingml/2006/main">
            <a:r>
              <a:t/>
            </a:r>
          </a:p>
          <a:p xmlns:a="http://schemas.openxmlformats.org/drawingml/2006/main">
            <a:r>
              <a:t>An answerable practice question identifies a specific issue, population or setting and a feasible inquiry; it should not assume its conclusion.</a:t>
            </a:r>
          </a:p>
          <a:p xmlns:a="http://schemas.openxmlformats.org/drawingml/2006/main">
            <a:r>
              <a:t/>
            </a:r>
          </a:p>
          <a:p xmlns:a="http://schemas.openxmlformats.org/drawingml/2006/main">
            <a:r>
              <a:t>Meaningful participation includes influence over relevant questions and interpretation, with roles and limits agreed in advance.</a:t>
            </a:r>
          </a:p>
          <a:p xmlns:a="http://schemas.openxmlformats.org/drawingml/2006/main">
            <a:r>
              <a:t/>
            </a:r>
          </a:p>
          <a:p xmlns:a="http://schemas.openxmlformats.org/drawingml/2006/main">
            <a:r>
              <a:t>Separate participation choices from service eligibility; make refusal possible without threatening support, and manage power differences.</a:t>
            </a:r>
          </a:p>
          <a:p xmlns:a="http://schemas.openxmlformats.org/drawingml/2006/main">
            <a:r>
              <a:t/>
            </a:r>
          </a:p>
          <a:p xmlns:a="http://schemas.openxmlformats.org/drawingml/2006/main">
            <a:r>
              <a:t>Researchers should reflect on how their role and assumptions influence questions, recruitment and interpretation; reflection does not eliminate bias.</a:t>
            </a:r>
          </a:p>
          <a:p xmlns:a="http://schemas.openxmlformats.org/drawingml/2006/main">
            <a:r>
              <a:t/>
            </a:r>
          </a:p>
          <a:p xmlns:a="http://schemas.openxmlformats.org/drawingml/2006/main">
            <a:r>
              <a:t>Agree co-researcher roles, support, compensation arrangements where applicable, access and confidentiality expectations before tasks begin.</a:t>
            </a:r>
          </a:p>
          <a:p xmlns:a="http://schemas.openxmlformats.org/drawingml/2006/main">
            <a:r>
              <a:t/>
            </a:r>
          </a:p>
          <a:p xmlns:a="http://schemas.openxmlformats.org/drawingml/2006/main">
            <a:r>
              <a:t>Cilia Vincenti, S., et al. (2025). Procedural Ethics for Participatory Research: Field-Specific Dilemmas and Recommendations From Researchers, Co-researching Community Partners and the REC Overseeing a Community-Academic ADHD Research Project. International Journal of Qualitative Methods, 24. https://doi.org/10.1177/16094069251364622 A situated account of ethical planning, not a causal evaluation or exemption from local review.</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 only what the question needs. Where feasible, separate contact information used for recruitment from responses used for analysis, and restrict access appropriately. Removing names does not guarantee anonymity: a quotation, job role and location may identify someone together. Review what a reader could infer before sharing detailed accounts, and follow the approved consent and governance arrangements.</a:t>
            </a:r>
          </a:p>
          <a:p xmlns:a="http://schemas.openxmlformats.org/drawingml/2006/main">
            <a:r>
              <a:t/>
            </a:r>
          </a:p>
          <a:p xmlns:a="http://schemas.openxmlformats.org/drawingml/2006/main">
            <a:r>
              <a:t>Recruitment shapes whose experiences you hear. Explain who was invited, who contributed and which perspectives may be missing. Do not claim that a small or self-selected sample represents every resident. Examine disagreement rather than discarding inconvenient accounts. If outcomes improve after a pilot, consider other changes, participant selection and measurement limits. A before-and-after difference alone does not establish that the pilot caused the improvement.</a:t>
            </a:r>
          </a:p>
          <a:p xmlns:a="http://schemas.openxmlformats.org/drawingml/2006/main">
            <a:r>
              <a:t/>
            </a:r>
          </a:p>
          <a:p xmlns:a="http://schemas.openxmlformats.org/drawingml/2006/main">
            <a:r>
              <a:t>Choose the minimum information needed for the question and keep recruitment contacts separate from responses where feasible.</a:t>
            </a:r>
          </a:p>
          <a:p xmlns:a="http://schemas.openxmlformats.org/drawingml/2006/main">
            <a:r>
              <a:t/>
            </a:r>
          </a:p>
          <a:p xmlns:a="http://schemas.openxmlformats.org/drawingml/2006/main">
            <a:r>
              <a:t>Small groups can be identifiable through combinations of details even when names are removed; review quotations and context before sharing.</a:t>
            </a:r>
          </a:p>
          <a:p xmlns:a="http://schemas.openxmlformats.org/drawingml/2006/main">
            <a:r>
              <a:t/>
            </a:r>
          </a:p>
          <a:p xmlns:a="http://schemas.openxmlformats.org/drawingml/2006/main">
            <a:r>
              <a:t>Recruitment methods shape whose experiences are represented; describe missing perspectives and avoid generalising beyond the sample.</a:t>
            </a:r>
          </a:p>
          <a:p xmlns:a="http://schemas.openxmlformats.org/drawingml/2006/main">
            <a:r>
              <a:t/>
            </a:r>
          </a:p>
          <a:p xmlns:a="http://schemas.openxmlformats.org/drawingml/2006/main">
            <a:r>
              <a:t>Conflicting findings should be explored and reported transparently, not removed merely to make a simple story.</a:t>
            </a:r>
          </a:p>
          <a:p xmlns:a="http://schemas.openxmlformats.org/drawingml/2006/main">
            <a:r>
              <a:t/>
            </a:r>
          </a:p>
          <a:p xmlns:a="http://schemas.openxmlformats.org/drawingml/2006/main">
            <a:r>
              <a:t>A before-and-after change alone does not establish that a pilot caused the result; consider other explanations and design limits.</a:t>
            </a:r>
          </a:p>
          <a:p xmlns:a="http://schemas.openxmlformats.org/drawingml/2006/main">
            <a:r>
              <a:t/>
            </a:r>
          </a:p>
          <a:p xmlns:a="http://schemas.openxmlformats.org/drawingml/2006/main">
            <a:r>
              <a:t>Cilia Vincenti, S., et al. (2025). Procedural Ethics for Participatory Research: Field-Specific Dilemmas and Recommendations From Researchers, Co-researching Community Partners and the REC Overseeing a Community-Academic ADHD Research Project. International Journal of Qualitative Methods, 24. https://doi.org/10.1177/16094069251364622 A situated account of ethical planning, not a causal evaluation or exemption from local review.</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worked example: only residents who returned answer a feedback form. The team reports their views as those of respondents, not all service users. It considers an approved, non-coercive way to hear from others and removes identifying contextual details from shared examples.</a:t>
            </a:r>
          </a:p>
          <a:p xmlns:a="http://schemas.openxmlformats.org/drawingml/2006/main">
            <a:r>
              <a:t/>
            </a:r>
          </a:p>
          <a:p xmlns:a="http://schemas.openxmlformats.org/drawingml/2006/main">
            <a:r>
              <a:t>The paragraph limits generalisation, preserves conflicting views, recognises indirect identification and separates observed change from causal attribution.</a:t>
            </a:r>
          </a:p>
          <a:p xmlns:a="http://schemas.openxmlformats.org/drawingml/2006/main">
            <a:r>
              <a:t/>
            </a:r>
          </a:p>
          <a:p xmlns:a="http://schemas.openxmlformats.org/drawingml/2006/main">
            <a:r>
              <a:t>Collect only what the question needs. Where feasible, separate contact information used for recruitment from responses used for analysis, and restrict access appropriately. Removing names does not guarantee anonymity: a quotation, job role and location may identify someone together. Review what a reader could infer before sharing detailed accounts, and follow the approved consent and governance arrangements.</a:t>
            </a:r>
          </a:p>
          <a:p xmlns:a="http://schemas.openxmlformats.org/drawingml/2006/main">
            <a:r>
              <a:t/>
            </a:r>
          </a:p>
          <a:p xmlns:a="http://schemas.openxmlformats.org/drawingml/2006/main">
            <a:r>
              <a:t>Recruitment shapes whose experiences you hear. Explain who was invited, who contributed and which perspectives may be missing. Do not claim that a small or self-selected sample represents every resident. Examine disagreement rather than discarding inconvenient accounts. If outcomes improve after a pilot, consider other changes, participant selection and measurement limits. A before-and-after difference alone does not establish that the pilot caused the improvement.</a:t>
            </a:r>
          </a:p>
          <a:p xmlns:a="http://schemas.openxmlformats.org/drawingml/2006/main">
            <a:r>
              <a:t/>
            </a:r>
          </a:p>
          <a:p xmlns:a="http://schemas.openxmlformats.org/drawingml/2006/main">
            <a:r>
              <a:t>Choose the minimum information needed for the question and keep recruitment contacts separate from responses where feasible.</a:t>
            </a:r>
          </a:p>
          <a:p xmlns:a="http://schemas.openxmlformats.org/drawingml/2006/main">
            <a:r>
              <a:t/>
            </a:r>
          </a:p>
          <a:p xmlns:a="http://schemas.openxmlformats.org/drawingml/2006/main">
            <a:r>
              <a:t>Small groups can be identifiable through combinations of details even when names are removed; review quotations and context before sharing.</a:t>
            </a:r>
          </a:p>
          <a:p xmlns:a="http://schemas.openxmlformats.org/drawingml/2006/main">
            <a:r>
              <a:t/>
            </a:r>
          </a:p>
          <a:p xmlns:a="http://schemas.openxmlformats.org/drawingml/2006/main">
            <a:r>
              <a:t>Recruitment methods shape whose experiences are represented; describe missing perspectives and avoid generalising beyond the sample.</a:t>
            </a:r>
          </a:p>
          <a:p xmlns:a="http://schemas.openxmlformats.org/drawingml/2006/main">
            <a:r>
              <a:t/>
            </a:r>
          </a:p>
          <a:p xmlns:a="http://schemas.openxmlformats.org/drawingml/2006/main">
            <a:r>
              <a:t>Conflicting findings should be explored and reported transparently, not removed merely to make a simple story.</a:t>
            </a:r>
          </a:p>
          <a:p xmlns:a="http://schemas.openxmlformats.org/drawingml/2006/main">
            <a:r>
              <a:t/>
            </a:r>
          </a:p>
          <a:p xmlns:a="http://schemas.openxmlformats.org/drawingml/2006/main">
            <a:r>
              <a:t>A before-and-after change alone does not establish that a pilot caused the result; consider other explanations and design limits.</a:t>
            </a:r>
          </a:p>
          <a:p xmlns:a="http://schemas.openxmlformats.org/drawingml/2006/main">
            <a:r>
              <a:t/>
            </a:r>
          </a:p>
          <a:p xmlns:a="http://schemas.openxmlformats.org/drawingml/2006/main">
            <a:r>
              <a:t>Cilia Vincenti, S., et al. (2025). Procedural Ethics for Participatory Research: Field-Specific Dilemmas and Recommendations From Researchers, Co-researching Community Partners and the REC Overseeing a Community-Academic ADHD Research Project. International Journal of Qualitative Methods, 24. https://doi.org/10.1177/16094069251364622 A situated account of ethical planning, not a causal evaluation or exemption from local review.</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a pilot's purpose, scope, participants, responsible people and safeguards before starting. Ask the relevant local authority whether research-ethics or other governance review is needed; calling an activity a pilot does not exempt it. Record the determination and obtain required approval before collecting information. Agree conditions for continuing, changing or pausing, including emerging harm or exclusion.</a:t>
            </a:r>
          </a:p>
          <a:p xmlns:a="http://schemas.openxmlformats.org/drawingml/2006/main">
            <a:r>
              <a:t/>
            </a:r>
          </a:p>
          <a:p xmlns:a="http://schemas.openxmlformats.org/drawingml/2006/main">
            <a:r>
              <a:t>Keep a dated record of changes so findings can be interpreted against the version participants experienced. When a pause condition occurs, use the agreed review route rather than continuing simply to meet a schedule. Return findings in an understandable and accessible form, explain limitations and what decisions followed, and provide a feasible response route. This feedback closes the accountability loop without promising that every suggestion can be implemented.</a:t>
            </a:r>
          </a:p>
          <a:p xmlns:a="http://schemas.openxmlformats.org/drawingml/2006/main">
            <a:r>
              <a:t/>
            </a:r>
          </a:p>
          <a:p xmlns:a="http://schemas.openxmlformats.org/drawingml/2006/main">
            <a:r>
              <a:t>Before a pilot, define the scope, participants, risks, responsible people and criteria for continuing, changing or stopping.</a:t>
            </a:r>
          </a:p>
          <a:p xmlns:a="http://schemas.openxmlformats.org/drawingml/2006/main">
            <a:r>
              <a:t/>
            </a:r>
          </a:p>
          <a:p xmlns:a="http://schemas.openxmlformats.org/drawingml/2006/main">
            <a:r>
              <a:t>A pilot label does not exempt a project from research-ethics or governance review; obtain the relevant determination before data collection.</a:t>
            </a:r>
          </a:p>
          <a:p xmlns:a="http://schemas.openxmlformats.org/drawingml/2006/main">
            <a:r>
              <a:t/>
            </a:r>
          </a:p>
          <a:p xmlns:a="http://schemas.openxmlformats.org/drawingml/2006/main">
            <a:r>
              <a:t>Stop or pause criteria should lead to timely review when harms or barriers emerge; completing the pilot schedule is not the only priority.</a:t>
            </a:r>
          </a:p>
          <a:p xmlns:a="http://schemas.openxmlformats.org/drawingml/2006/main">
            <a:r>
              <a:t/>
            </a:r>
          </a:p>
          <a:p xmlns:a="http://schemas.openxmlformats.org/drawingml/2006/main">
            <a:r>
              <a:t>Record adaptations and their timing so later readers know which version participants experienced.</a:t>
            </a:r>
          </a:p>
          <a:p xmlns:a="http://schemas.openxmlformats.org/drawingml/2006/main">
            <a:r>
              <a:t/>
            </a:r>
          </a:p>
          <a:p xmlns:a="http://schemas.openxmlformats.org/drawingml/2006/main">
            <a:r>
              <a:t>Return understandable findings to participants, explain limits and decisions, and offer a feasible way to respond.</a:t>
            </a:r>
          </a:p>
          <a:p xmlns:a="http://schemas.openxmlformats.org/drawingml/2006/main">
            <a:r>
              <a:t/>
            </a:r>
          </a:p>
          <a:p xmlns:a="http://schemas.openxmlformats.org/drawingml/2006/main">
            <a:r>
              <a:t>Cilia Vincenti, S., et al. (2025). Procedural Ethics for Participatory Research: Field-Specific Dilemmas and Recommendations From Researchers, Co-researching Community Partners and the REC Overseeing a Community-Academic ADHD Research Project. International Journal of Qualitative Methods, 24. https://doi.org/10.1177/16094069251364622 A situated account of ethical planning, not a causal evaluation or exemption from local review.</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worked example: the peer-navigation pilot excludes residents who cannot attend daytime meetings. The team uses its review process to pause expansion, discusses alternatives with affected residents, records an approved schedule change and explains the limits of the early findings.</a:t>
            </a:r>
          </a:p>
          <a:p xmlns:a="http://schemas.openxmlformats.org/drawingml/2006/main">
            <a:r>
              <a:t/>
            </a:r>
          </a:p>
          <a:p xmlns:a="http://schemas.openxmlformats.org/drawingml/2006/main">
            <a:r>
              <a:t>The brief identifies required review before data collection, makes pause criteria actionable, records versions and explains how participants will hear and respond to findings.</a:t>
            </a:r>
          </a:p>
          <a:p xmlns:a="http://schemas.openxmlformats.org/drawingml/2006/main">
            <a:r>
              <a:t/>
            </a:r>
          </a:p>
          <a:p xmlns:a="http://schemas.openxmlformats.org/drawingml/2006/main">
            <a:r>
              <a:t>Define a pilot's purpose, scope, participants, responsible people and safeguards before starting. Ask the relevant local authority whether research-ethics or other governance review is needed; calling an activity a pilot does not exempt it. Record the determination and obtain required approval before collecting information. Agree conditions for continuing, changing or pausing, including emerging harm or exclusion.</a:t>
            </a:r>
          </a:p>
          <a:p xmlns:a="http://schemas.openxmlformats.org/drawingml/2006/main">
            <a:r>
              <a:t/>
            </a:r>
          </a:p>
          <a:p xmlns:a="http://schemas.openxmlformats.org/drawingml/2006/main">
            <a:r>
              <a:t>Keep a dated record of changes so findings can be interpreted against the version participants experienced. When a pause condition occurs, use the agreed review route rather than continuing simply to meet a schedule. Return findings in an understandable and accessible form, explain limitations and what decisions followed, and provide a feasible response route. This feedback closes the accountability loop without promising that every suggestion can be implemented.</a:t>
            </a:r>
          </a:p>
          <a:p xmlns:a="http://schemas.openxmlformats.org/drawingml/2006/main">
            <a:r>
              <a:t/>
            </a:r>
          </a:p>
          <a:p xmlns:a="http://schemas.openxmlformats.org/drawingml/2006/main">
            <a:r>
              <a:t>Before a pilot, define the scope, participants, risks, responsible people and criteria for continuing, changing or stopping.</a:t>
            </a:r>
          </a:p>
          <a:p xmlns:a="http://schemas.openxmlformats.org/drawingml/2006/main">
            <a:r>
              <a:t/>
            </a:r>
          </a:p>
          <a:p xmlns:a="http://schemas.openxmlformats.org/drawingml/2006/main">
            <a:r>
              <a:t>A pilot label does not exempt a project from research-ethics or governance review; obtain the relevant determination before data collection.</a:t>
            </a:r>
          </a:p>
          <a:p xmlns:a="http://schemas.openxmlformats.org/drawingml/2006/main">
            <a:r>
              <a:t/>
            </a:r>
          </a:p>
          <a:p xmlns:a="http://schemas.openxmlformats.org/drawingml/2006/main">
            <a:r>
              <a:t>Stop or pause criteria should lead to timely review when harms or barriers emerge; completing the pilot schedule is not the only priority.</a:t>
            </a:r>
          </a:p>
          <a:p xmlns:a="http://schemas.openxmlformats.org/drawingml/2006/main">
            <a:r>
              <a:t/>
            </a:r>
          </a:p>
          <a:p xmlns:a="http://schemas.openxmlformats.org/drawingml/2006/main">
            <a:r>
              <a:t>Record adaptations and their timing so later readers know which version participants experienced.</a:t>
            </a:r>
          </a:p>
          <a:p xmlns:a="http://schemas.openxmlformats.org/drawingml/2006/main">
            <a:r>
              <a:t/>
            </a:r>
          </a:p>
          <a:p xmlns:a="http://schemas.openxmlformats.org/drawingml/2006/main">
            <a:r>
              <a:t>Return understandable findings to participants, explain limits and decisions, and offer a feasible way to respond.</a:t>
            </a:r>
          </a:p>
          <a:p xmlns:a="http://schemas.openxmlformats.org/drawingml/2006/main">
            <a:r>
              <a:t/>
            </a:r>
          </a:p>
          <a:p xmlns:a="http://schemas.openxmlformats.org/drawingml/2006/main">
            <a:r>
              <a:t>Cilia Vincenti, S., et al. (2025). Procedural Ethics for Participatory Research: Field-Specific Dilemmas and Recommendations From Researchers, Co-researching Community Partners and the REC Overseeing a Community-Academic ADHD Research Project. International Journal of Qualitative Methods, 24. https://doi.org/10.1177/16094069251364622 A situated account of ethical planning, not a causal evaluation or exemption from local review.</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Publisher PDF abstract and introductory context read; metadata checked with Crossref and OpenAlex.</a:t>
            </a:r>
          </a:p>
          <a:p xmlns:a="http://schemas.openxmlformats.org/drawingml/2006/main">
            <a:r>
              <a:t>A community-academic photovoice project describes collaboration with an ethics committee during protocol design and approval.</a:t>
            </a:r>
          </a:p>
          <a:p xmlns:a="http://schemas.openxmlformats.org/drawingml/2006/main">
            <a:r>
              <a:t>A situated account of ethical planning, not a causal evaluation or exemption from local review.</a:t>
            </a:r>
          </a:p>
          <a:p xmlns:a="http://schemas.openxmlformats.org/drawingml/2006/main">
            <a:r>
              <a:t/>
            </a:r>
          </a:p>
          <a:p xmlns:a="http://schemas.openxmlformats.org/drawingml/2006/main">
            <a:r>
              <a:t>Official ethical principles consulted.</a:t>
            </a:r>
          </a:p>
          <a:p xmlns:a="http://schemas.openxmlformats.org/drawingml/2006/main">
            <a:r>
              <a:t>Dignity, participation, confidentiality and professional accountability.</a:t>
            </a:r>
          </a:p>
          <a:p xmlns:a="http://schemas.openxmlformats.org/drawingml/2006/main">
            <a:r>
              <a:t>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281461400f49f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081dd3474f409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45fd559a42437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7ae66a4a10347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3d9b8e023b48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024bbe16c3c4a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726F44-9B7F-4BE2-AC53-D25603C028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32DE476-334E-453C-88C0-3B5C27F9EF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2BF4311-B792-47C4-8C9F-7BF637A67D1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F23557-6CC2-4AA9-982B-6CA2D96C6D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4990A1E-4C8B-4FA5-8551-D4EC64B044E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C61BF8-1B3D-46FB-AB95-E09469E7F4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99A33B-1128-4BDE-BDAF-B2001BD3D2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6AFB6A-AFBE-43D3-9A60-A00FC2FE44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F59325-9FE9-4A7D-A0E8-D737577515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519805-BA8A-4DBB-BA2F-32A8C891C0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5c2907ff7f46d1" /><Relationship Type="http://schemas.openxmlformats.org/officeDocument/2006/relationships/slideLayout" Target="/ppt/slideLayouts/slideLayout1.xml" Id="Rad11ed5935834612" /><Relationship Type="http://schemas.openxmlformats.org/officeDocument/2006/relationships/slideLayout" Target="/ppt/slideLayouts/slideLayout2.xml" Id="R4598439e0c8e440d" /><Relationship Type="http://schemas.openxmlformats.org/officeDocument/2006/relationships/slideLayout" Target="/ppt/slideLayouts/slideLayout3.xml" Id="Rc545db309a3a4a26" /><Relationship Type="http://schemas.openxmlformats.org/officeDocument/2006/relationships/slideLayout" Target="/ppt/slideLayouts/slideLayout4.xml" Id="Re018737b1fab4287" /><Relationship Type="http://schemas.openxmlformats.org/officeDocument/2006/relationships/slideLayout" Target="/ppt/slideLayouts/slideLayout5.xml" Id="Rc65f58dd794c4b46" /><Relationship Type="http://schemas.openxmlformats.org/officeDocument/2006/relationships/slideLayout" Target="/ppt/slideLayouts/slideLayout6.xml" Id="R363461e6eabf43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11ed5935834612"/>
    <p:sldLayoutId xmlns:r="http://schemas.openxmlformats.org/officeDocument/2006/relationships" id="2147483650" r:id="R4598439e0c8e440d"/>
    <p:sldLayoutId xmlns:r="http://schemas.openxmlformats.org/officeDocument/2006/relationships" id="2147483651" r:id="Rc545db309a3a4a26"/>
    <p:sldLayoutId xmlns:r="http://schemas.openxmlformats.org/officeDocument/2006/relationships" id="2147483652" r:id="Re018737b1fab4287"/>
    <p:sldLayoutId xmlns:r="http://schemas.openxmlformats.org/officeDocument/2006/relationships" id="2147483653" r:id="Rc65f58dd794c4b46"/>
    <p:sldLayoutId xmlns:r="http://schemas.openxmlformats.org/officeDocument/2006/relationships" id="2147483654" r:id="R363461e6eabf43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2c3b824c5c34cab" /><Relationship Type="http://schemas.openxmlformats.org/officeDocument/2006/relationships/notesSlide" Target="/ppt/notesSlides/notesSlide1.xml" Id="Rd6cf28eeb7f340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c66165bd264ae7" /><Relationship Type="http://schemas.openxmlformats.org/officeDocument/2006/relationships/notesSlide" Target="/ppt/notesSlides/notesSlide2.xml" Id="R53e546a95c7c4c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fa588d793494b89" /><Relationship Type="http://schemas.openxmlformats.org/officeDocument/2006/relationships/notesSlide" Target="/ppt/notesSlides/notesSlide3.xml" Id="Rc458b655c87e43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2e92a6cb4584589" /><Relationship Type="http://schemas.openxmlformats.org/officeDocument/2006/relationships/notesSlide" Target="/ppt/notesSlides/notesSlide4.xml" Id="R6cf16cc081bf40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4a47bbe1c3f4dff" /><Relationship Type="http://schemas.openxmlformats.org/officeDocument/2006/relationships/notesSlide" Target="/ppt/notesSlides/notesSlide5.xml" Id="R7ddc2263cc1d4b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9a6ea82c73a4bbc" /><Relationship Type="http://schemas.openxmlformats.org/officeDocument/2006/relationships/notesSlide" Target="/ppt/notesSlides/notesSlide6.xml" Id="R64f4b6ef4acf41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a8de9be99ee490e" /><Relationship Type="http://schemas.openxmlformats.org/officeDocument/2006/relationships/notesSlide" Target="/ppt/notesSlides/notesSlide7.xml" Id="Rc9ecc0fc5a354e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86a0e9b1d874b05" /><Relationship Type="http://schemas.openxmlformats.org/officeDocument/2006/relationships/notesSlide" Target="/ppt/notesSlides/notesSlide8.xml" Id="Rce0f3c6f206241f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E45766-B45B-43EF-A9FB-24D55B89C24C}"/>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RESEARCH INFORMED LEARNING</a:t>
            </a:r>
          </a:p>
        </p:txBody>
      </p:sp>
      <p:sp>
        <p:nvSpPr>
          <p:cNvPr id="2" name="">
            <a:extLst xmlns:a="http://schemas.openxmlformats.org/drawingml/2006/main">
              <a:ext uri="{FF2B5EF4-FFF2-40B4-BE49-F238E27FC236}">
                <a16:creationId xmlns:a16="http://schemas.microsoft.com/office/drawing/2014/main" id="{B7686174-F0D8-4555-B236-C16136BD6CE8}"/>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Participatory Research and Practice Innovation</a:t>
            </a:r>
          </a:p>
        </p:txBody>
      </p:sp>
      <p:sp>
        <p:nvSpPr>
          <p:cNvPr id="3" name="">
            <a:extLst xmlns:a="http://schemas.openxmlformats.org/drawingml/2006/main">
              <a:ext uri="{FF2B5EF4-FFF2-40B4-BE49-F238E27FC236}">
                <a16:creationId xmlns:a16="http://schemas.microsoft.com/office/drawing/2014/main" id="{D8A631EB-9605-47E8-84E9-E40CFE2C30BC}"/>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SWP-034  |  SWEEP Academy  |  1.1.0</a:t>
            </a:r>
          </a:p>
        </p:txBody>
      </p:sp>
      <p:sp>
        <p:nvSpPr>
          <p:cNvPr id="4" name="">
            <a:extLst xmlns:a="http://schemas.openxmlformats.org/drawingml/2006/main">
              <a:ext uri="{FF2B5EF4-FFF2-40B4-BE49-F238E27FC236}">
                <a16:creationId xmlns:a16="http://schemas.microsoft.com/office/drawing/2014/main" id="{0787521A-1CC1-46EF-8305-39FC90DB5024}"/>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CA1EA600-9922-4EC2-854A-5A41985B0A6A}"/>
              </a:ext>
            </a:extLst>
          </p:cNvPr>
          <p:cNvSpPr>
            <a:spLocks xmlns:a="http://schemas.openxmlformats.org/drawingml/2006/main" noGrp="1"/>
          </p:cNvSpPr>
          <p:nvPr/>
        </p:nvSpPr>
        <p:spPr>
          <a:xfrm xmlns:a="http://schemas.openxmlformats.org/drawingml/2006/main">
            <a:off x="609600" y="2190750"/>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175" b="0">
                <a:solidFill>
                  <a:srgbClr val="17223B"/>
                </a:solidFill>
                <a:latin typeface="Arial"/>
                <a:ea typeface="Arial"/>
                <a:cs typeface="Arial"/>
              </a:defRPr>
            </a:defPPr>
          </a:lstStyle>
          <a:p xmlns:a="http://schemas.openxmlformats.org/drawingml/2006/main">
            <a:pPr>
              <a:defRPr sz="2175" b="0">
                <a:solidFill>
                  <a:srgbClr val="17223B"/>
                </a:solidFill>
                <a:latin typeface="Arial"/>
                <a:ea typeface="Arial"/>
                <a:cs typeface="Arial"/>
              </a:defRPr>
            </a:pPr>
            <a:r>
              <a:rPr sz="2175" b="0">
                <a:solidFill>
                  <a:srgbClr val="17223B"/>
                </a:solidFill>
                <a:latin typeface="Arial"/>
                <a:ea typeface="Arial"/>
                <a:cs typeface="Arial"/>
              </a:rPr>
              <a:t>Plan a small, ethical, participatory practice inquiry and use the findings with communities to test and improve a service within a professional role.</a:t>
            </a:r>
          </a:p>
        </p:txBody>
      </p:sp>
      <p:sp>
        <p:nvSpPr>
          <p:cNvPr id="6" name="">
            <a:extLst xmlns:a="http://schemas.openxmlformats.org/drawingml/2006/main">
              <a:ext uri="{FF2B5EF4-FFF2-40B4-BE49-F238E27FC236}">
                <a16:creationId xmlns:a16="http://schemas.microsoft.com/office/drawing/2014/main" id="{4E135150-B284-4FD9-A108-065057066177}"/>
              </a:ext>
            </a:extLst>
          </p:cNvPr>
          <p:cNvSpPr>
            <a:spLocks xmlns:a="http://schemas.openxmlformats.org/drawingml/2006/main" noGrp="1"/>
          </p:cNvSpPr>
          <p:nvPr/>
        </p:nvSpPr>
        <p:spPr>
          <a:xfrm xmlns:a="http://schemas.openxmlformats.org/drawingml/2006/main">
            <a:off x="609600" y="39052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b="0">
                <a:solidFill>
                  <a:srgbClr val="17223B"/>
                </a:solidFill>
                <a:latin typeface="Arial"/>
                <a:ea typeface="Arial"/>
                <a:cs typeface="Arial"/>
              </a:defRPr>
            </a:defPPr>
          </a:lstStyle>
          <a:p xmlns:a="http://schemas.openxmlformats.org/drawingml/2006/main">
            <a:pPr>
              <a:defRPr sz="1800" b="0">
                <a:solidFill>
                  <a:srgbClr val="17223B"/>
                </a:solidFill>
                <a:latin typeface="Arial"/>
                <a:ea typeface="Arial"/>
                <a:cs typeface="Arial"/>
              </a:defRPr>
            </a:pPr>
            <a:r>
              <a:rPr sz="1800" b="0">
                <a:solidFill>
                  <a:srgbClr val="17223B"/>
                </a:solidFill>
                <a:latin typeface="Arial"/>
                <a:ea typeface="Arial"/>
                <a:cs typeface="Arial"/>
              </a:rPr>
              <a:t>Read the learner guide, apply each lesson, then complete the worksheet.</a:t>
            </a:r>
          </a:p>
        </p:txBody>
      </p:sp>
      <p:sp>
        <p:nvSpPr>
          <p:cNvPr id="7" name="">
            <a:extLst xmlns:a="http://schemas.openxmlformats.org/drawingml/2006/main">
              <a:ext uri="{FF2B5EF4-FFF2-40B4-BE49-F238E27FC236}">
                <a16:creationId xmlns:a16="http://schemas.microsoft.com/office/drawing/2014/main" id="{DD573EF2-F078-4E4A-A941-A38D74B6A598}"/>
              </a:ext>
            </a:extLst>
          </p:cNvPr>
          <p:cNvSpPr>
            <a:spLocks xmlns:a="http://schemas.openxmlformats.org/drawingml/2006/main" noGrp="1"/>
          </p:cNvSpPr>
          <p:nvPr/>
        </p:nvSpPr>
        <p:spPr>
          <a:xfrm xmlns:a="http://schemas.openxmlformats.org/drawingml/2006/main">
            <a:off x="609600" y="509587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0">
                <a:solidFill>
                  <a:srgbClr val="17223B"/>
                </a:solidFill>
                <a:latin typeface="Arial"/>
                <a:ea typeface="Arial"/>
                <a:cs typeface="Arial"/>
              </a:defRPr>
            </a:defPPr>
          </a:lstStyle>
          <a:p xmlns:a="http://schemas.openxmlformats.org/drawingml/2006/main">
            <a:pPr>
              <a:defRPr sz="1575" b="0">
                <a:solidFill>
                  <a:srgbClr val="17223B"/>
                </a:solidFill>
                <a:latin typeface="Arial"/>
                <a:ea typeface="Arial"/>
                <a:cs typeface="Arial"/>
              </a:defRPr>
            </a:pPr>
            <a:r>
              <a:rPr sz="1575" b="0">
                <a:solidFill>
                  <a:srgbClr val="17223B"/>
                </a:solidFill>
                <a:latin typeface="Arial"/>
                <a:ea typeface="Arial"/>
                <a:cs typeface="Arial"/>
              </a:rPr>
              <a:t>Educational material. Use applicable local procedures. Cases are fictional. Index inclusion is not expert endorsement.</a:t>
            </a:r>
          </a:p>
        </p:txBody>
      </p:sp>
    </p:spTree>
    <p:extLst>
      <p:ext uri="{BB962C8B-B14F-4D97-AF65-F5344CB8AC3E}">
        <p14:creationId xmlns:p14="http://schemas.microsoft.com/office/powerpoint/2010/main" val="18127793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60E6F2-F853-401A-A068-E1AE8DFCBDAC}"/>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1  |  REASONING</a:t>
            </a:r>
          </a:p>
        </p:txBody>
      </p:sp>
      <p:sp>
        <p:nvSpPr>
          <p:cNvPr id="2" name="">
            <a:extLst xmlns:a="http://schemas.openxmlformats.org/drawingml/2006/main">
              <a:ext uri="{FF2B5EF4-FFF2-40B4-BE49-F238E27FC236}">
                <a16:creationId xmlns:a16="http://schemas.microsoft.com/office/drawing/2014/main" id="{04AE16FE-9668-44E8-BED7-E4EEC6D807CB}"/>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Frame a question people can influence</a:t>
            </a:r>
          </a:p>
        </p:txBody>
      </p:sp>
      <p:sp>
        <p:nvSpPr>
          <p:cNvPr id="3" name="">
            <a:extLst xmlns:a="http://schemas.openxmlformats.org/drawingml/2006/main">
              <a:ext uri="{FF2B5EF4-FFF2-40B4-BE49-F238E27FC236}">
                <a16:creationId xmlns:a16="http://schemas.microsoft.com/office/drawing/2014/main" id="{3ED12A55-92D4-4A79-8921-347028FA575B}"/>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SWP-034  |  SWEEP Academy  |  1.1.0</a:t>
            </a:r>
          </a:p>
        </p:txBody>
      </p:sp>
      <p:sp>
        <p:nvSpPr>
          <p:cNvPr id="4" name="">
            <a:extLst xmlns:a="http://schemas.openxmlformats.org/drawingml/2006/main">
              <a:ext uri="{FF2B5EF4-FFF2-40B4-BE49-F238E27FC236}">
                <a16:creationId xmlns:a16="http://schemas.microsoft.com/office/drawing/2014/main" id="{89A7A2C8-443D-4775-9C05-6DC826A33991}"/>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00C65976-C5A8-4312-A514-E69396071948}"/>
              </a:ext>
            </a:extLst>
          </p:cNvPr>
          <p:cNvSpPr>
            <a:spLocks xmlns:a="http://schemas.openxmlformats.org/drawingml/2006/main" noGrp="1"/>
          </p:cNvSpPr>
          <p:nvPr/>
        </p:nvSpPr>
        <p:spPr>
          <a:xfrm xmlns:a="http://schemas.openxmlformats.org/drawingml/2006/main">
            <a:off x="609600" y="2143125"/>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250" b="0">
                <a:solidFill>
                  <a:srgbClr val="17223B"/>
                </a:solidFill>
                <a:latin typeface="Arial"/>
                <a:ea typeface="Arial"/>
                <a:cs typeface="Arial"/>
              </a:defRPr>
            </a:defPPr>
          </a:lstStyle>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Ask an answerable question without assuming its answer.</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Agree meaningful influence and clear limits.</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Keep participation separate from service eligibility.</a:t>
            </a:r>
          </a:p>
        </p:txBody>
      </p:sp>
      <p:sp>
        <p:nvSpPr>
          <p:cNvPr id="6" name="">
            <a:extLst xmlns:a="http://schemas.openxmlformats.org/drawingml/2006/main">
              <a:ext uri="{FF2B5EF4-FFF2-40B4-BE49-F238E27FC236}">
                <a16:creationId xmlns:a16="http://schemas.microsoft.com/office/drawing/2014/main" id="{8F70D951-9198-41FF-9905-E3EE898816C4}"/>
              </a:ext>
            </a:extLst>
          </p:cNvPr>
          <p:cNvSpPr>
            <a:spLocks xmlns:a="http://schemas.openxmlformats.org/drawingml/2006/main" noGrp="1"/>
          </p:cNvSpPr>
          <p:nvPr/>
        </p:nvSpPr>
        <p:spPr>
          <a:xfrm xmlns:a="http://schemas.openxmlformats.org/drawingml/2006/main">
            <a:off x="609600" y="4429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725" b="0">
                <a:solidFill>
                  <a:srgbClr val="17223B"/>
                </a:solidFill>
                <a:latin typeface="Arial"/>
                <a:ea typeface="Arial"/>
                <a:cs typeface="Arial"/>
              </a:defRPr>
            </a:defPPr>
          </a:lstStyle>
          <a:p xmlns:a="http://schemas.openxmlformats.org/drawingml/2006/main">
            <a:pPr>
              <a:defRPr sz="1725" b="0">
                <a:solidFill>
                  <a:srgbClr val="17223B"/>
                </a:solidFill>
                <a:latin typeface="Arial"/>
                <a:ea typeface="Arial"/>
                <a:cs typeface="Arial"/>
              </a:defRPr>
            </a:pPr>
            <a:r>
              <a:rPr sz="1725" b="0">
                <a:solidFill>
                  <a:srgbClr val="17223B"/>
                </a:solidFill>
                <a:latin typeface="Arial"/>
                <a:ea typeface="Arial"/>
                <a:cs typeface="Arial"/>
              </a:rPr>
              <a:t>Frame an answerable practice question and plan meaningful, voluntary participation.</a:t>
            </a:r>
          </a:p>
        </p:txBody>
      </p:sp>
    </p:spTree>
    <p:extLst>
      <p:ext uri="{BB962C8B-B14F-4D97-AF65-F5344CB8AC3E}">
        <p14:creationId xmlns:p14="http://schemas.microsoft.com/office/powerpoint/2010/main" val="16131400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C1E338-8959-4AB6-9997-1B78032262B8}"/>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1  |  FICTIONAL WORKED EXAMPLE</a:t>
            </a:r>
          </a:p>
        </p:txBody>
      </p:sp>
      <p:sp>
        <p:nvSpPr>
          <p:cNvPr id="2" name="">
            <a:extLst xmlns:a="http://schemas.openxmlformats.org/drawingml/2006/main">
              <a:ext uri="{FF2B5EF4-FFF2-40B4-BE49-F238E27FC236}">
                <a16:creationId xmlns:a16="http://schemas.microsoft.com/office/drawing/2014/main" id="{A1F1B968-5560-4FC7-9DCF-2100E5482C34}"/>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Apply the lesson</a:t>
            </a:r>
          </a:p>
        </p:txBody>
      </p:sp>
      <p:sp>
        <p:nvSpPr>
          <p:cNvPr id="3" name="">
            <a:extLst xmlns:a="http://schemas.openxmlformats.org/drawingml/2006/main">
              <a:ext uri="{FF2B5EF4-FFF2-40B4-BE49-F238E27FC236}">
                <a16:creationId xmlns:a16="http://schemas.microsoft.com/office/drawing/2014/main" id="{42D8AF07-4A64-42DC-86A1-7DC2935ABE8D}"/>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SWP-034  |  SWEEP Academy  |  1.1.0</a:t>
            </a:r>
          </a:p>
        </p:txBody>
      </p:sp>
      <p:sp>
        <p:nvSpPr>
          <p:cNvPr id="4" name="">
            <a:extLst xmlns:a="http://schemas.openxmlformats.org/drawingml/2006/main">
              <a:ext uri="{FF2B5EF4-FFF2-40B4-BE49-F238E27FC236}">
                <a16:creationId xmlns:a16="http://schemas.microsoft.com/office/drawing/2014/main" id="{110DAD3F-7DA7-4A19-95F7-F3EB6B86D565}"/>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425C14BE-AD94-49BF-9D2A-36DF58DF7497}"/>
              </a:ext>
            </a:extLst>
          </p:cNvPr>
          <p:cNvSpPr>
            <a:spLocks xmlns:a="http://schemas.openxmlformats.org/drawingml/2006/main" noGrp="1"/>
          </p:cNvSpPr>
          <p:nvPr/>
        </p:nvSpPr>
        <p:spPr>
          <a:xfrm xmlns:a="http://schemas.openxmlformats.org/drawingml/2006/main">
            <a:off x="609600" y="1952625"/>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Fictional worked example: residents reshape the centre's question from 'How do we increase compliance?' to 'What makes a second visit useful or difficult?' The team provides a separate way to decline the inquiry without changing access to advice and agrees co-researcher responsibilities.</a:t>
            </a:r>
          </a:p>
        </p:txBody>
      </p:sp>
      <p:sp>
        <p:nvSpPr>
          <p:cNvPr id="6" name="">
            <a:extLst xmlns:a="http://schemas.openxmlformats.org/drawingml/2006/main">
              <a:ext uri="{FF2B5EF4-FFF2-40B4-BE49-F238E27FC236}">
                <a16:creationId xmlns:a16="http://schemas.microsoft.com/office/drawing/2014/main" id="{E8806FA2-71D3-4190-8757-980B342EF0AC}"/>
              </a:ext>
            </a:extLst>
          </p:cNvPr>
          <p:cNvSpPr>
            <a:spLocks xmlns:a="http://schemas.openxmlformats.org/drawingml/2006/main" noGrp="1"/>
          </p:cNvSpPr>
          <p:nvPr/>
        </p:nvSpPr>
        <p:spPr>
          <a:xfrm xmlns:a="http://schemas.openxmlformats.org/drawingml/2006/main">
            <a:off x="609600" y="3857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DC76DCAE-B788-448D-8B6A-6231F3D4705D}"/>
              </a:ext>
            </a:extLst>
          </p:cNvPr>
          <p:cNvSpPr>
            <a:spLocks xmlns:a="http://schemas.openxmlformats.org/drawingml/2006/main" noGrp="1"/>
          </p:cNvSpPr>
          <p:nvPr/>
        </p:nvSpPr>
        <p:spPr>
          <a:xfrm xmlns:a="http://schemas.openxmlformats.org/drawingml/2006/main">
            <a:off x="609600" y="438150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Write an answerable question for the advice centre, identify two decisions residents can influence, and explain how someone can refuse without losing services.</a:t>
            </a:r>
          </a:p>
        </p:txBody>
      </p:sp>
    </p:spTree>
    <p:extLst>
      <p:ext uri="{BB962C8B-B14F-4D97-AF65-F5344CB8AC3E}">
        <p14:creationId xmlns:p14="http://schemas.microsoft.com/office/powerpoint/2010/main" val="6863716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802015-EF6E-4A0F-9A89-1EC94C20DA73}"/>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2  |  REASONING</a:t>
            </a:r>
          </a:p>
        </p:txBody>
      </p:sp>
      <p:sp>
        <p:nvSpPr>
          <p:cNvPr id="2" name="">
            <a:extLst xmlns:a="http://schemas.openxmlformats.org/drawingml/2006/main">
              <a:ext uri="{FF2B5EF4-FFF2-40B4-BE49-F238E27FC236}">
                <a16:creationId xmlns:a16="http://schemas.microsoft.com/office/drawing/2014/main" id="{9B4A8134-62E6-458B-A2E6-6EAFF8715A55}"/>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Interpret proportionate information carefully</a:t>
            </a:r>
          </a:p>
        </p:txBody>
      </p:sp>
      <p:sp>
        <p:nvSpPr>
          <p:cNvPr id="3" name="">
            <a:extLst xmlns:a="http://schemas.openxmlformats.org/drawingml/2006/main">
              <a:ext uri="{FF2B5EF4-FFF2-40B4-BE49-F238E27FC236}">
                <a16:creationId xmlns:a16="http://schemas.microsoft.com/office/drawing/2014/main" id="{C46C1300-45FB-4869-AEA0-0557D66F4C57}"/>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SWP-034  |  SWEEP Academy  |  1.1.0</a:t>
            </a:r>
          </a:p>
        </p:txBody>
      </p:sp>
      <p:sp>
        <p:nvSpPr>
          <p:cNvPr id="4" name="">
            <a:extLst xmlns:a="http://schemas.openxmlformats.org/drawingml/2006/main">
              <a:ext uri="{FF2B5EF4-FFF2-40B4-BE49-F238E27FC236}">
                <a16:creationId xmlns:a16="http://schemas.microsoft.com/office/drawing/2014/main" id="{2E18C65E-17EC-4F59-B9A3-3CC5E93A85F4}"/>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0C175CE2-F83B-41B0-8817-8E086092760F}"/>
              </a:ext>
            </a:extLst>
          </p:cNvPr>
          <p:cNvSpPr>
            <a:spLocks xmlns:a="http://schemas.openxmlformats.org/drawingml/2006/main" noGrp="1"/>
          </p:cNvSpPr>
          <p:nvPr/>
        </p:nvSpPr>
        <p:spPr>
          <a:xfrm xmlns:a="http://schemas.openxmlformats.org/drawingml/2006/main">
            <a:off x="609600" y="2143125"/>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250" b="0">
                <a:solidFill>
                  <a:srgbClr val="17223B"/>
                </a:solidFill>
                <a:latin typeface="Arial"/>
                <a:ea typeface="Arial"/>
                <a:cs typeface="Arial"/>
              </a:defRPr>
            </a:defPPr>
          </a:lstStyle>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Use only information needed for the question.</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Check indirect identification and missing voices.</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Report change without inventing causation.</a:t>
            </a:r>
          </a:p>
        </p:txBody>
      </p:sp>
      <p:sp>
        <p:nvSpPr>
          <p:cNvPr id="6" name="">
            <a:extLst xmlns:a="http://schemas.openxmlformats.org/drawingml/2006/main">
              <a:ext uri="{FF2B5EF4-FFF2-40B4-BE49-F238E27FC236}">
                <a16:creationId xmlns:a16="http://schemas.microsoft.com/office/drawing/2014/main" id="{7E8789CD-4098-438F-B7D0-CF585AA45C2D}"/>
              </a:ext>
            </a:extLst>
          </p:cNvPr>
          <p:cNvSpPr>
            <a:spLocks xmlns:a="http://schemas.openxmlformats.org/drawingml/2006/main" noGrp="1"/>
          </p:cNvSpPr>
          <p:nvPr/>
        </p:nvSpPr>
        <p:spPr>
          <a:xfrm xmlns:a="http://schemas.openxmlformats.org/drawingml/2006/main">
            <a:off x="609600" y="4429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725" b="0">
                <a:solidFill>
                  <a:srgbClr val="17223B"/>
                </a:solidFill>
                <a:latin typeface="Arial"/>
                <a:ea typeface="Arial"/>
                <a:cs typeface="Arial"/>
              </a:defRPr>
            </a:defPPr>
          </a:lstStyle>
          <a:p xmlns:a="http://schemas.openxmlformats.org/drawingml/2006/main">
            <a:pPr>
              <a:defRPr sz="1725" b="0">
                <a:solidFill>
                  <a:srgbClr val="17223B"/>
                </a:solidFill>
                <a:latin typeface="Arial"/>
                <a:ea typeface="Arial"/>
                <a:cs typeface="Arial"/>
              </a:defRPr>
            </a:pPr>
            <a:r>
              <a:rPr sz="1725" b="0">
                <a:solidFill>
                  <a:srgbClr val="17223B"/>
                </a:solidFill>
                <a:latin typeface="Arial"/>
                <a:ea typeface="Arial"/>
                <a:cs typeface="Arial"/>
              </a:rPr>
              <a:t>Collect proportionate information and interpret findings without overstating what the inquiry can show.</a:t>
            </a:r>
          </a:p>
        </p:txBody>
      </p:sp>
    </p:spTree>
    <p:extLst>
      <p:ext uri="{BB962C8B-B14F-4D97-AF65-F5344CB8AC3E}">
        <p14:creationId xmlns:p14="http://schemas.microsoft.com/office/powerpoint/2010/main" val="10786345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A1D6BA-26AB-4CD9-86A6-059BD1754042}"/>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2  |  FICTIONAL WORKED EXAMPLE</a:t>
            </a:r>
          </a:p>
        </p:txBody>
      </p:sp>
      <p:sp>
        <p:nvSpPr>
          <p:cNvPr id="2" name="">
            <a:extLst xmlns:a="http://schemas.openxmlformats.org/drawingml/2006/main">
              <a:ext uri="{FF2B5EF4-FFF2-40B4-BE49-F238E27FC236}">
                <a16:creationId xmlns:a16="http://schemas.microsoft.com/office/drawing/2014/main" id="{2E77587E-5BEA-4BF2-99DA-0F1562D99AEE}"/>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Apply the lesson</a:t>
            </a:r>
          </a:p>
        </p:txBody>
      </p:sp>
      <p:sp>
        <p:nvSpPr>
          <p:cNvPr id="3" name="">
            <a:extLst xmlns:a="http://schemas.openxmlformats.org/drawingml/2006/main">
              <a:ext uri="{FF2B5EF4-FFF2-40B4-BE49-F238E27FC236}">
                <a16:creationId xmlns:a16="http://schemas.microsoft.com/office/drawing/2014/main" id="{20DAF043-CABC-4A66-9C3A-8F11EE9F5CB5}"/>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SWP-034  |  SWEEP Academy  |  1.1.0</a:t>
            </a:r>
          </a:p>
        </p:txBody>
      </p:sp>
      <p:sp>
        <p:nvSpPr>
          <p:cNvPr id="4" name="">
            <a:extLst xmlns:a="http://schemas.openxmlformats.org/drawingml/2006/main">
              <a:ext uri="{FF2B5EF4-FFF2-40B4-BE49-F238E27FC236}">
                <a16:creationId xmlns:a16="http://schemas.microsoft.com/office/drawing/2014/main" id="{38E20551-4D35-48D0-A19F-B03E68D3841F}"/>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5</a:t>
            </a:r>
          </a:p>
        </p:txBody>
      </p:sp>
      <p:sp>
        <p:nvSpPr>
          <p:cNvPr id="5" name="">
            <a:extLst xmlns:a="http://schemas.openxmlformats.org/drawingml/2006/main">
              <a:ext uri="{FF2B5EF4-FFF2-40B4-BE49-F238E27FC236}">
                <a16:creationId xmlns:a16="http://schemas.microsoft.com/office/drawing/2014/main" id="{65A3265D-C1E3-4C54-9DFA-B63DEADAE206}"/>
              </a:ext>
            </a:extLst>
          </p:cNvPr>
          <p:cNvSpPr>
            <a:spLocks xmlns:a="http://schemas.openxmlformats.org/drawingml/2006/main" noGrp="1"/>
          </p:cNvSpPr>
          <p:nvPr/>
        </p:nvSpPr>
        <p:spPr>
          <a:xfrm xmlns:a="http://schemas.openxmlformats.org/drawingml/2006/main">
            <a:off x="609600" y="1952625"/>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Fictional worked example: only residents who returned answer a feedback form. The team reports their views as those of respondents, not all service users. It considers an approved, non-coercive way to hear from others and removes identifying contextual details from shared examples.</a:t>
            </a:r>
          </a:p>
        </p:txBody>
      </p:sp>
      <p:sp>
        <p:nvSpPr>
          <p:cNvPr id="6" name="">
            <a:extLst xmlns:a="http://schemas.openxmlformats.org/drawingml/2006/main">
              <a:ext uri="{FF2B5EF4-FFF2-40B4-BE49-F238E27FC236}">
                <a16:creationId xmlns:a16="http://schemas.microsoft.com/office/drawing/2014/main" id="{46673F42-3AB1-40F8-A026-1BF5F09510C9}"/>
              </a:ext>
            </a:extLst>
          </p:cNvPr>
          <p:cNvSpPr>
            <a:spLocks xmlns:a="http://schemas.openxmlformats.org/drawingml/2006/main" noGrp="1"/>
          </p:cNvSpPr>
          <p:nvPr/>
        </p:nvSpPr>
        <p:spPr>
          <a:xfrm xmlns:a="http://schemas.openxmlformats.org/drawingml/2006/main">
            <a:off x="609600" y="3857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CB0E5FBD-6808-4994-8B4C-F3A82C11A66E}"/>
              </a:ext>
            </a:extLst>
          </p:cNvPr>
          <p:cNvSpPr>
            <a:spLocks xmlns:a="http://schemas.openxmlformats.org/drawingml/2006/main" noGrp="1"/>
          </p:cNvSpPr>
          <p:nvPr/>
        </p:nvSpPr>
        <p:spPr>
          <a:xfrm xmlns:a="http://schemas.openxmlformats.org/drawingml/2006/main">
            <a:off x="609600" y="438150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Draft a short limitations paragraph for feedback from a small, self-selected group. Identify a disclosure risk and an alternative explanation for an observed change.</a:t>
            </a:r>
          </a:p>
        </p:txBody>
      </p:sp>
    </p:spTree>
    <p:extLst>
      <p:ext uri="{BB962C8B-B14F-4D97-AF65-F5344CB8AC3E}">
        <p14:creationId xmlns:p14="http://schemas.microsoft.com/office/powerpoint/2010/main" val="11992369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E4CBCA-774F-4427-B7BA-7619C339C7E0}"/>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3  |  REASONING</a:t>
            </a:r>
          </a:p>
        </p:txBody>
      </p:sp>
      <p:sp>
        <p:nvSpPr>
          <p:cNvPr id="2" name="">
            <a:extLst xmlns:a="http://schemas.openxmlformats.org/drawingml/2006/main">
              <a:ext uri="{FF2B5EF4-FFF2-40B4-BE49-F238E27FC236}">
                <a16:creationId xmlns:a16="http://schemas.microsoft.com/office/drawing/2014/main" id="{D8DD2680-F531-464B-9155-9C53B2A08F18}"/>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Run a bounded pilot with ethical oversight</a:t>
            </a:r>
          </a:p>
        </p:txBody>
      </p:sp>
      <p:sp>
        <p:nvSpPr>
          <p:cNvPr id="3" name="">
            <a:extLst xmlns:a="http://schemas.openxmlformats.org/drawingml/2006/main">
              <a:ext uri="{FF2B5EF4-FFF2-40B4-BE49-F238E27FC236}">
                <a16:creationId xmlns:a16="http://schemas.microsoft.com/office/drawing/2014/main" id="{3179E311-37E1-400E-9381-A5D6B6AADEAE}"/>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SWP-034  |  SWEEP Academy  |  1.1.0</a:t>
            </a:r>
          </a:p>
        </p:txBody>
      </p:sp>
      <p:sp>
        <p:nvSpPr>
          <p:cNvPr id="4" name="">
            <a:extLst xmlns:a="http://schemas.openxmlformats.org/drawingml/2006/main">
              <a:ext uri="{FF2B5EF4-FFF2-40B4-BE49-F238E27FC236}">
                <a16:creationId xmlns:a16="http://schemas.microsoft.com/office/drawing/2014/main" id="{5A49D705-B0FA-42E1-8ED1-72F490FC22FF}"/>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6</a:t>
            </a:r>
          </a:p>
        </p:txBody>
      </p:sp>
      <p:sp>
        <p:nvSpPr>
          <p:cNvPr id="5" name="">
            <a:extLst xmlns:a="http://schemas.openxmlformats.org/drawingml/2006/main">
              <a:ext uri="{FF2B5EF4-FFF2-40B4-BE49-F238E27FC236}">
                <a16:creationId xmlns:a16="http://schemas.microsoft.com/office/drawing/2014/main" id="{3B4A8F25-5DA0-46D4-8174-216058B00CDF}"/>
              </a:ext>
            </a:extLst>
          </p:cNvPr>
          <p:cNvSpPr>
            <a:spLocks xmlns:a="http://schemas.openxmlformats.org/drawingml/2006/main" noGrp="1"/>
          </p:cNvSpPr>
          <p:nvPr/>
        </p:nvSpPr>
        <p:spPr>
          <a:xfrm xmlns:a="http://schemas.openxmlformats.org/drawingml/2006/main">
            <a:off x="609600" y="2143125"/>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250" b="0">
                <a:solidFill>
                  <a:srgbClr val="17223B"/>
                </a:solidFill>
                <a:latin typeface="Arial"/>
                <a:ea typeface="Arial"/>
                <a:cs typeface="Arial"/>
              </a:defRPr>
            </a:defPPr>
          </a:lstStyle>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Obtain the relevant governance determination first.</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Define continue, change and pause criteria.</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Record adaptations and return useful findings.</a:t>
            </a:r>
          </a:p>
        </p:txBody>
      </p:sp>
      <p:sp>
        <p:nvSpPr>
          <p:cNvPr id="6" name="">
            <a:extLst xmlns:a="http://schemas.openxmlformats.org/drawingml/2006/main">
              <a:ext uri="{FF2B5EF4-FFF2-40B4-BE49-F238E27FC236}">
                <a16:creationId xmlns:a16="http://schemas.microsoft.com/office/drawing/2014/main" id="{C9CAB2F7-8D97-431F-B58A-D90EB6E9A738}"/>
              </a:ext>
            </a:extLst>
          </p:cNvPr>
          <p:cNvSpPr>
            <a:spLocks xmlns:a="http://schemas.openxmlformats.org/drawingml/2006/main" noGrp="1"/>
          </p:cNvSpPr>
          <p:nvPr/>
        </p:nvSpPr>
        <p:spPr>
          <a:xfrm xmlns:a="http://schemas.openxmlformats.org/drawingml/2006/main">
            <a:off x="609600" y="4429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725" b="0">
                <a:solidFill>
                  <a:srgbClr val="17223B"/>
                </a:solidFill>
                <a:latin typeface="Arial"/>
                <a:ea typeface="Arial"/>
                <a:cs typeface="Arial"/>
              </a:defRPr>
            </a:defPPr>
          </a:lstStyle>
          <a:p xmlns:a="http://schemas.openxmlformats.org/drawingml/2006/main">
            <a:pPr>
              <a:defRPr sz="1725" b="0">
                <a:solidFill>
                  <a:srgbClr val="17223B"/>
                </a:solidFill>
                <a:latin typeface="Arial"/>
                <a:ea typeface="Arial"/>
                <a:cs typeface="Arial"/>
              </a:defRPr>
            </a:pPr>
            <a:r>
              <a:rPr sz="1725" b="0">
                <a:solidFill>
                  <a:srgbClr val="17223B"/>
                </a:solidFill>
                <a:latin typeface="Arial"/>
                <a:ea typeface="Arial"/>
                <a:cs typeface="Arial"/>
              </a:rPr>
              <a:t>Plan a bounded, reviewable service pilot with safeguards and a useful feedback loop.</a:t>
            </a:r>
          </a:p>
        </p:txBody>
      </p:sp>
    </p:spTree>
    <p:extLst>
      <p:ext uri="{BB962C8B-B14F-4D97-AF65-F5344CB8AC3E}">
        <p14:creationId xmlns:p14="http://schemas.microsoft.com/office/powerpoint/2010/main" val="18942379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B19266-8BC7-4D59-A2CF-740B5CFA0577}"/>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3  |  FICTIONAL WORKED EXAMPLE</a:t>
            </a:r>
          </a:p>
        </p:txBody>
      </p:sp>
      <p:sp>
        <p:nvSpPr>
          <p:cNvPr id="2" name="">
            <a:extLst xmlns:a="http://schemas.openxmlformats.org/drawingml/2006/main">
              <a:ext uri="{FF2B5EF4-FFF2-40B4-BE49-F238E27FC236}">
                <a16:creationId xmlns:a16="http://schemas.microsoft.com/office/drawing/2014/main" id="{91D5173D-4A11-4563-B684-A9CB51503BCC}"/>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Apply the lesson</a:t>
            </a:r>
          </a:p>
        </p:txBody>
      </p:sp>
      <p:sp>
        <p:nvSpPr>
          <p:cNvPr id="3" name="">
            <a:extLst xmlns:a="http://schemas.openxmlformats.org/drawingml/2006/main">
              <a:ext uri="{FF2B5EF4-FFF2-40B4-BE49-F238E27FC236}">
                <a16:creationId xmlns:a16="http://schemas.microsoft.com/office/drawing/2014/main" id="{D003D362-B4C7-4BDD-B0F2-0D47E5EB3EED}"/>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SWP-034  |  SWEEP Academy  |  1.1.0</a:t>
            </a:r>
          </a:p>
        </p:txBody>
      </p:sp>
      <p:sp>
        <p:nvSpPr>
          <p:cNvPr id="4" name="">
            <a:extLst xmlns:a="http://schemas.openxmlformats.org/drawingml/2006/main">
              <a:ext uri="{FF2B5EF4-FFF2-40B4-BE49-F238E27FC236}">
                <a16:creationId xmlns:a16="http://schemas.microsoft.com/office/drawing/2014/main" id="{7A5A7F1C-0F7B-45AE-86DF-8A2E783362D6}"/>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7</a:t>
            </a:r>
          </a:p>
        </p:txBody>
      </p:sp>
      <p:sp>
        <p:nvSpPr>
          <p:cNvPr id="5" name="">
            <a:extLst xmlns:a="http://schemas.openxmlformats.org/drawingml/2006/main">
              <a:ext uri="{FF2B5EF4-FFF2-40B4-BE49-F238E27FC236}">
                <a16:creationId xmlns:a16="http://schemas.microsoft.com/office/drawing/2014/main" id="{CB9FCC83-00A8-4C01-8352-B0FDE2F7C3E5}"/>
              </a:ext>
            </a:extLst>
          </p:cNvPr>
          <p:cNvSpPr>
            <a:spLocks xmlns:a="http://schemas.openxmlformats.org/drawingml/2006/main" noGrp="1"/>
          </p:cNvSpPr>
          <p:nvPr/>
        </p:nvSpPr>
        <p:spPr>
          <a:xfrm xmlns:a="http://schemas.openxmlformats.org/drawingml/2006/main">
            <a:off x="609600" y="1952625"/>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Fictional worked example: the peer-navigation pilot excludes residents who cannot attend daytime meetings. The team uses its review process to pause expansion, discusses alternatives with affected residents, records an approved schedule change and explains the limits of the early findings.</a:t>
            </a:r>
          </a:p>
        </p:txBody>
      </p:sp>
      <p:sp>
        <p:nvSpPr>
          <p:cNvPr id="6" name="">
            <a:extLst xmlns:a="http://schemas.openxmlformats.org/drawingml/2006/main">
              <a:ext uri="{FF2B5EF4-FFF2-40B4-BE49-F238E27FC236}">
                <a16:creationId xmlns:a16="http://schemas.microsoft.com/office/drawing/2014/main" id="{091041C9-510A-4248-B464-BD27AA7D0FCA}"/>
              </a:ext>
            </a:extLst>
          </p:cNvPr>
          <p:cNvSpPr>
            <a:spLocks xmlns:a="http://schemas.openxmlformats.org/drawingml/2006/main" noGrp="1"/>
          </p:cNvSpPr>
          <p:nvPr/>
        </p:nvSpPr>
        <p:spPr>
          <a:xfrm xmlns:a="http://schemas.openxmlformats.org/drawingml/2006/main">
            <a:off x="609600" y="3857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CA507B66-F3CF-441D-8587-BA033A3128A9}"/>
              </a:ext>
            </a:extLst>
          </p:cNvPr>
          <p:cNvSpPr>
            <a:spLocks xmlns:a="http://schemas.openxmlformats.org/drawingml/2006/main" noGrp="1"/>
          </p:cNvSpPr>
          <p:nvPr/>
        </p:nvSpPr>
        <p:spPr>
          <a:xfrm xmlns:a="http://schemas.openxmlformats.org/drawingml/2006/main">
            <a:off x="609600" y="438150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Create a one-page pilot brief with scope, oversight, a pause trigger, a change record and a plan for returning findings.</a:t>
            </a:r>
          </a:p>
        </p:txBody>
      </p:sp>
    </p:spTree>
    <p:extLst>
      <p:ext uri="{BB962C8B-B14F-4D97-AF65-F5344CB8AC3E}">
        <p14:creationId xmlns:p14="http://schemas.microsoft.com/office/powerpoint/2010/main" val="1359197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BFEC29-ADB0-4778-AD26-51871BA48EB7}"/>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EVIDENCE CHECK</a:t>
            </a:r>
          </a:p>
        </p:txBody>
      </p:sp>
      <p:sp>
        <p:nvSpPr>
          <p:cNvPr id="2" name="">
            <a:extLst xmlns:a="http://schemas.openxmlformats.org/drawingml/2006/main">
              <a:ext uri="{FF2B5EF4-FFF2-40B4-BE49-F238E27FC236}">
                <a16:creationId xmlns:a16="http://schemas.microsoft.com/office/drawing/2014/main" id="{5DCC6F60-F9FC-439B-8983-FDAC865C5302}"/>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Sources and limits</a:t>
            </a:r>
          </a:p>
        </p:txBody>
      </p:sp>
      <p:sp>
        <p:nvSpPr>
          <p:cNvPr id="3" name="">
            <a:extLst xmlns:a="http://schemas.openxmlformats.org/drawingml/2006/main">
              <a:ext uri="{FF2B5EF4-FFF2-40B4-BE49-F238E27FC236}">
                <a16:creationId xmlns:a16="http://schemas.microsoft.com/office/drawing/2014/main" id="{EB882428-0485-4345-9D93-71D7EEF2EEBD}"/>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SWP-034  |  SWEEP Academy  |  1.1.0</a:t>
            </a:r>
          </a:p>
        </p:txBody>
      </p:sp>
      <p:sp>
        <p:nvSpPr>
          <p:cNvPr id="4" name="">
            <a:extLst xmlns:a="http://schemas.openxmlformats.org/drawingml/2006/main">
              <a:ext uri="{FF2B5EF4-FFF2-40B4-BE49-F238E27FC236}">
                <a16:creationId xmlns:a16="http://schemas.microsoft.com/office/drawing/2014/main" id="{26D71D61-EB08-4D5F-84EF-35E564FD2B8B}"/>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8</a:t>
            </a:r>
          </a:p>
        </p:txBody>
      </p:sp>
      <p:sp>
        <p:nvSpPr>
          <p:cNvPr id="5" name="">
            <a:extLst xmlns:a="http://schemas.openxmlformats.org/drawingml/2006/main">
              <a:ext uri="{FF2B5EF4-FFF2-40B4-BE49-F238E27FC236}">
                <a16:creationId xmlns:a16="http://schemas.microsoft.com/office/drawing/2014/main" id="{4F323DE9-40F8-42F6-A8E4-BC07734ABA8D}"/>
              </a:ext>
            </a:extLst>
          </p:cNvPr>
          <p:cNvSpPr>
            <a:spLocks xmlns:a="http://schemas.openxmlformats.org/drawingml/2006/main" noGrp="1"/>
          </p:cNvSpPr>
          <p:nvPr/>
        </p:nvSpPr>
        <p:spPr>
          <a:xfrm xmlns:a="http://schemas.openxmlformats.org/drawingml/2006/main">
            <a:off x="609600" y="1905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1">
                <a:solidFill>
                  <a:srgbClr val="17223B"/>
                </a:solidFill>
                <a:latin typeface="Arial"/>
                <a:ea typeface="Arial"/>
                <a:cs typeface="Arial"/>
              </a:defRPr>
            </a:defPPr>
          </a:lstStyle>
          <a:p xmlns:a="http://schemas.openxmlformats.org/drawingml/2006/main">
            <a:pPr>
              <a:defRPr sz="1575" b="1">
                <a:solidFill>
                  <a:srgbClr val="17223B"/>
                </a:solidFill>
                <a:latin typeface="Arial"/>
                <a:ea typeface="Arial"/>
                <a:cs typeface="Arial"/>
              </a:defRPr>
            </a:pPr>
            <a:r>
              <a:rPr sz="1575" b="1">
                <a:solidFill>
                  <a:srgbClr val="17223B"/>
                </a:solidFill>
                <a:latin typeface="Arial"/>
                <a:ea typeface="Arial"/>
                <a:cs typeface="Arial"/>
              </a:rPr>
              <a:t>[R4] Cilia Vincenti, S., et al. (2025). Procedural Ethics for Participatory Research: Field-Specific Dilemmas and Recommendations From Researchers, Co-researching Community Partners and the REC Overseeing a Community-Academic ADHD Research Project. International Journal of Qualitative Methods, 24.</a:t>
            </a:r>
          </a:p>
        </p:txBody>
      </p:sp>
      <p:sp>
        <p:nvSpPr>
          <p:cNvPr id="6" name="">
            <a:extLst xmlns:a="http://schemas.openxmlformats.org/drawingml/2006/main">
              <a:ext uri="{FF2B5EF4-FFF2-40B4-BE49-F238E27FC236}">
                <a16:creationId xmlns:a16="http://schemas.microsoft.com/office/drawing/2014/main" id="{5C67BD1E-6FA8-48AA-98E4-4D860160DD33}"/>
              </a:ext>
            </a:extLst>
          </p:cNvPr>
          <p:cNvSpPr>
            <a:spLocks xmlns:a="http://schemas.openxmlformats.org/drawingml/2006/main" noGrp="1"/>
          </p:cNvSpPr>
          <p:nvPr/>
        </p:nvSpPr>
        <p:spPr>
          <a:xfrm xmlns:a="http://schemas.openxmlformats.org/drawingml/2006/main">
            <a:off x="609600" y="2905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0">
                <a:solidFill>
                  <a:srgbClr val="17223B"/>
                </a:solidFill>
                <a:latin typeface="Arial"/>
                <a:ea typeface="Arial"/>
                <a:cs typeface="Arial"/>
              </a:defRPr>
            </a:defPPr>
          </a:lstStyle>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https://doi.org/10.1177/16094069251364622</a:t>
            </a:r>
          </a:p>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A situated account of ethical planning, not a causal evaluation or exemption from local review.</a:t>
            </a:r>
          </a:p>
        </p:txBody>
      </p:sp>
      <p:sp>
        <p:nvSpPr>
          <p:cNvPr id="7" name="">
            <a:extLst xmlns:a="http://schemas.openxmlformats.org/drawingml/2006/main">
              <a:ext uri="{FF2B5EF4-FFF2-40B4-BE49-F238E27FC236}">
                <a16:creationId xmlns:a16="http://schemas.microsoft.com/office/drawing/2014/main" id="{5622CCFC-6BB9-4034-99D2-5380D808660C}"/>
              </a:ext>
            </a:extLst>
          </p:cNvPr>
          <p:cNvSpPr>
            <a:spLocks xmlns:a="http://schemas.openxmlformats.org/drawingml/2006/main" noGrp="1"/>
          </p:cNvSpPr>
          <p:nvPr/>
        </p:nvSpPr>
        <p:spPr>
          <a:xfrm xmlns:a="http://schemas.openxmlformats.org/drawingml/2006/main">
            <a:off x="609600" y="39052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1">
                <a:solidFill>
                  <a:srgbClr val="17223B"/>
                </a:solidFill>
                <a:latin typeface="Arial"/>
                <a:ea typeface="Arial"/>
                <a:cs typeface="Arial"/>
              </a:defRPr>
            </a:defPPr>
          </a:lstStyle>
          <a:p xmlns:a="http://schemas.openxmlformats.org/drawingml/2006/main">
            <a:pPr>
              <a:defRPr sz="1575" b="1">
                <a:solidFill>
                  <a:srgbClr val="17223B"/>
                </a:solidFill>
                <a:latin typeface="Arial"/>
                <a:ea typeface="Arial"/>
                <a:cs typeface="Arial"/>
              </a:defRPr>
            </a:pPr>
            <a:r>
              <a:rPr sz="1575" b="1">
                <a:solidFill>
                  <a:srgbClr val="17223B"/>
                </a:solidFill>
                <a:latin typeface="Arial"/>
                <a:ea typeface="Arial"/>
                <a:cs typeface="Arial"/>
              </a:rPr>
              <a:t>[S4] IFSW (2018). Global Social Work Statement of Ethical Principles.</a:t>
            </a:r>
          </a:p>
        </p:txBody>
      </p:sp>
      <p:sp>
        <p:nvSpPr>
          <p:cNvPr id="8" name="">
            <a:extLst xmlns:a="http://schemas.openxmlformats.org/drawingml/2006/main">
              <a:ext uri="{FF2B5EF4-FFF2-40B4-BE49-F238E27FC236}">
                <a16:creationId xmlns:a16="http://schemas.microsoft.com/office/drawing/2014/main" id="{C609E19D-B1B8-4179-B525-DFC4BC151DB4}"/>
              </a:ext>
            </a:extLst>
          </p:cNvPr>
          <p:cNvSpPr>
            <a:spLocks xmlns:a="http://schemas.openxmlformats.org/drawingml/2006/main" noGrp="1"/>
          </p:cNvSpPr>
          <p:nvPr/>
        </p:nvSpPr>
        <p:spPr>
          <a:xfrm xmlns:a="http://schemas.openxmlformats.org/drawingml/2006/main">
            <a:off x="609600" y="49053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0">
                <a:solidFill>
                  <a:srgbClr val="17223B"/>
                </a:solidFill>
                <a:latin typeface="Arial"/>
                <a:ea typeface="Arial"/>
                <a:cs typeface="Arial"/>
              </a:defRPr>
            </a:defPPr>
          </a:lstStyle>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https://www.ifsw.org/global-social-work-statement-of-ethical-principles/</a:t>
            </a:r>
          </a:p>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Does not replace applicable law or organisational safeguarding procedures.</a:t>
            </a:r>
          </a:p>
        </p:txBody>
      </p:sp>
    </p:spTree>
    <p:extLst>
      <p:ext uri="{BB962C8B-B14F-4D97-AF65-F5344CB8AC3E}">
        <p14:creationId xmlns:p14="http://schemas.microsoft.com/office/powerpoint/2010/main" val="6586815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2026-10-17T09:57:03.8310000Z</dcterms:created>
  <dcterms:modified xsi:type="dcterms:W3CDTF">2026-10-17T09:57:03.8310000Z</dcterms:modified>
</coreProperties>
</file>