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74a03d82724455" /><Relationship Type="http://schemas.openxmlformats.org/officeDocument/2006/relationships/extended-properties" Target="/docProps/app.xml" Id="R6fe0fd61d54849f7" /><Relationship Type="http://schemas.openxmlformats.org/officeDocument/2006/relationships/officeDocument" Target="/ppt/presentation.xml" Id="R1d0d5e90159b45a2" /></Relationships>
</file>

<file path=ppt/presentation.xml><?xml version="1.0" encoding="utf-8"?>
<p:presentation xmlns:p="http://schemas.openxmlformats.org/presentationml/2006/main">
  <p:sldMasterIdLst>
    <p:sldMasterId xmlns:r="http://schemas.openxmlformats.org/officeDocument/2006/relationships" id="2147483648" r:id="Re2adc4e0396a4bcd"/>
  </p:sldMasterIdLst>
  <p:notesMasterIdLst>
    <p:notesMasterId xmlns:r="http://schemas.openxmlformats.org/officeDocument/2006/relationships" r:id="R598556f2abb94d46"/>
  </p:notesMasterIdLst>
  <p:sldIdLst>
    <p:sldId xmlns:r="http://schemas.openxmlformats.org/officeDocument/2006/relationships" id="256" r:id="Ra077620ae9c84efd"/>
    <p:sldId xmlns:r="http://schemas.openxmlformats.org/officeDocument/2006/relationships" id="257" r:id="Rac3907cd80a94644"/>
    <p:sldId xmlns:r="http://schemas.openxmlformats.org/officeDocument/2006/relationships" id="258" r:id="Rcd58f49159e2499f"/>
    <p:sldId xmlns:r="http://schemas.openxmlformats.org/officeDocument/2006/relationships" id="259" r:id="Rc94cf24d28204711"/>
    <p:sldId xmlns:r="http://schemas.openxmlformats.org/officeDocument/2006/relationships" id="260" r:id="Rb53d77abef684cf2"/>
    <p:sldId xmlns:r="http://schemas.openxmlformats.org/officeDocument/2006/relationships" id="261" r:id="R90ac1c99bf0a4b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0547d4347f4b3b" /><Relationship Type="http://schemas.openxmlformats.org/officeDocument/2006/relationships/slideMaster" Target="/ppt/slideMasters/slideMaster1.xml" Id="Re2adc4e0396a4bcd" /><Relationship Type="http://schemas.openxmlformats.org/officeDocument/2006/relationships/notesMaster" Target="/ppt/notesMasters/notesMaster1.xml" Id="R598556f2abb94d46" /><Relationship Type="http://schemas.openxmlformats.org/officeDocument/2006/relationships/presProps" Target="/ppt/presProps.xml" Id="R5ae7a76a70e44df4" /><Relationship Type="http://schemas.openxmlformats.org/officeDocument/2006/relationships/tableStyles" Target="/ppt/tableStyles.xml" Id="Ra8c22bf1f5ef494c" /><Relationship Type="http://schemas.openxmlformats.org/officeDocument/2006/relationships/slide" Target="/ppt/slides/slide1.xml" Id="Ra077620ae9c84efd" /><Relationship Type="http://schemas.openxmlformats.org/officeDocument/2006/relationships/slide" Target="/ppt/slides/slide2.xml" Id="Rac3907cd80a94644" /><Relationship Type="http://schemas.openxmlformats.org/officeDocument/2006/relationships/slide" Target="/ppt/slides/slide3.xml" Id="Rcd58f49159e2499f" /><Relationship Type="http://schemas.openxmlformats.org/officeDocument/2006/relationships/slide" Target="/ppt/slides/slide4.xml" Id="Rc94cf24d28204711" /><Relationship Type="http://schemas.openxmlformats.org/officeDocument/2006/relationships/slide" Target="/ppt/slides/slide5.xml" Id="Rb53d77abef684cf2" /><Relationship Type="http://schemas.openxmlformats.org/officeDocument/2006/relationships/slide" Target="/ppt/slides/slide6.xml" Id="R90ac1c99bf0a4b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9980675def45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57cee614784610" /><Relationship Type="http://schemas.openxmlformats.org/officeDocument/2006/relationships/notesMaster" Target="/ppt/notesMasters/notesMaster1.xml" Id="R90860a8eca204b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c520b325d34679" /><Relationship Type="http://schemas.openxmlformats.org/officeDocument/2006/relationships/notesMaster" Target="/ppt/notesMasters/notesMaster1.xml" Id="Rf7dba7e36cb442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bf1751c3eb4c08" /><Relationship Type="http://schemas.openxmlformats.org/officeDocument/2006/relationships/notesMaster" Target="/ppt/notesMasters/notesMaster1.xml" Id="R7d6b647f5de84a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b4a57bfa4549d0" /><Relationship Type="http://schemas.openxmlformats.org/officeDocument/2006/relationships/notesMaster" Target="/ppt/notesMasters/notesMaster1.xml" Id="R31ef0e7788c949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f532fa1d61414a" /><Relationship Type="http://schemas.openxmlformats.org/officeDocument/2006/relationships/notesMaster" Target="/ppt/notesMasters/notesMaster1.xml" Id="Rb042cf7b8a9848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cf9491e1e144c9" /><Relationship Type="http://schemas.openxmlformats.org/officeDocument/2006/relationships/notesMaster" Target="/ppt/notesMasters/notesMaster1.xml" Id="Rbef09b4d243a41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Cover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Course outcome and delivery safeguard.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1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2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3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Practice activity and assessment preparation.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201717a3a84b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3de16b04f742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48070a50114e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7f49a4280744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54414dd1594f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b14d14fcfc42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533BF9-4EC3-4C59-865B-96AA122A88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E7ADDE-1C72-4353-A2F1-3E4D5C1A5F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99B25C-861C-4D24-B1E4-C7E6D789C5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C4A640-AE55-4F09-9620-54947B6F77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03CCA0-B7C9-46BE-90D5-6AAED7A876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6BFBBC-88DE-4F84-90A3-66D41C105F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EB90BD-2DC3-4514-9802-CEC6FCDDA4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D5A66B-1DCA-49E4-B432-8EE80E023B0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9EDBD4-9940-4C07-9D2C-7476281BFC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B74764-C4B3-48B1-9AC5-AE25E81F09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995974d3ec4394" /><Relationship Type="http://schemas.openxmlformats.org/officeDocument/2006/relationships/slideLayout" Target="/ppt/slideLayouts/slideLayout1.xml" Id="R0152a3ca4ed34cdc" /><Relationship Type="http://schemas.openxmlformats.org/officeDocument/2006/relationships/slideLayout" Target="/ppt/slideLayouts/slideLayout2.xml" Id="R290ce246fa024621" /><Relationship Type="http://schemas.openxmlformats.org/officeDocument/2006/relationships/slideLayout" Target="/ppt/slideLayouts/slideLayout3.xml" Id="Read1cf96b48242a6" /><Relationship Type="http://schemas.openxmlformats.org/officeDocument/2006/relationships/slideLayout" Target="/ppt/slideLayouts/slideLayout4.xml" Id="R86c8bd36ee31455b" /><Relationship Type="http://schemas.openxmlformats.org/officeDocument/2006/relationships/slideLayout" Target="/ppt/slideLayouts/slideLayout5.xml" Id="Rd650c9c8396d4452" /><Relationship Type="http://schemas.openxmlformats.org/officeDocument/2006/relationships/slideLayout" Target="/ppt/slideLayouts/slideLayout6.xml" Id="Rba5983e41f3f42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52a3ca4ed34cdc"/>
    <p:sldLayoutId xmlns:r="http://schemas.openxmlformats.org/officeDocument/2006/relationships" id="2147483650" r:id="R290ce246fa024621"/>
    <p:sldLayoutId xmlns:r="http://schemas.openxmlformats.org/officeDocument/2006/relationships" id="2147483651" r:id="Read1cf96b48242a6"/>
    <p:sldLayoutId xmlns:r="http://schemas.openxmlformats.org/officeDocument/2006/relationships" id="2147483652" r:id="R86c8bd36ee31455b"/>
    <p:sldLayoutId xmlns:r="http://schemas.openxmlformats.org/officeDocument/2006/relationships" id="2147483653" r:id="Rd650c9c8396d4452"/>
    <p:sldLayoutId xmlns:r="http://schemas.openxmlformats.org/officeDocument/2006/relationships" id="2147483654" r:id="Rba5983e41f3f42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4c9db2d51243fc" /><Relationship Type="http://schemas.openxmlformats.org/officeDocument/2006/relationships/image" Target="/ppt/media/image.png" Id="R4dee47585dc04fe1" /><Relationship Type="http://schemas.openxmlformats.org/officeDocument/2006/relationships/notesSlide" Target="/ppt/notesSlides/notesSlide1.xml" Id="R61496ffe2d9748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386bd79b124a1f" /><Relationship Type="http://schemas.openxmlformats.org/officeDocument/2006/relationships/notesSlide" Target="/ppt/notesSlides/notesSlide2.xml" Id="R9cfed8f3041945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95647e3cb0477d" /><Relationship Type="http://schemas.openxmlformats.org/officeDocument/2006/relationships/notesSlide" Target="/ppt/notesSlides/notesSlide3.xml" Id="R982c9e0cc65840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4f5a2529054806" /><Relationship Type="http://schemas.openxmlformats.org/officeDocument/2006/relationships/notesSlide" Target="/ppt/notesSlides/notesSlide4.xml" Id="Re11ed9be57474c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8de1cd3cf54394" /><Relationship Type="http://schemas.openxmlformats.org/officeDocument/2006/relationships/notesSlide" Target="/ppt/notesSlides/notesSlide5.xml" Id="Rfb13adac4b6b48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d5ab00ea394f35" /><Relationship Type="http://schemas.openxmlformats.org/officeDocument/2006/relationships/notesSlide" Target="/ppt/notesSlides/notesSlide6.xml" Id="Rbbb9608488fa4e3c"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C36D5AC-0E74-42DE-B5AC-5D6054B8DED2}"/>
              </a:ext>
            </a:extLst>
          </p:cNvPr>
          <p:cNvPicPr>
            <a:picLocks xmlns:a="http://schemas.openxmlformats.org/drawingml/2006/main" noChangeAspect="1"/>
          </p:cNvPicPr>
          <p:nvPr/>
        </p:nvPicPr>
        <p:blipFill>
          <a:blip xmlns:r="http://schemas.openxmlformats.org/officeDocument/2006/relationships" xmlns:a="http://schemas.openxmlformats.org/drawingml/2006/main" r:embed="R4dee47585dc04fe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5A87A3-716C-4494-98EE-6B44977FBBC1}"/>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026"/>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Leadership Supervision and Programme Management</a:t>
            </a:r>
          </a:p>
        </p:txBody>
      </p:sp>
      <p:sp>
        <p:nvSpPr>
          <p:cNvPr id="3" name="">
            <a:extLst xmlns:a="http://schemas.openxmlformats.org/drawingml/2006/main">
              <a:ext uri="{FF2B5EF4-FFF2-40B4-BE49-F238E27FC236}">
                <a16:creationId xmlns:a16="http://schemas.microsoft.com/office/drawing/2014/main" id="{8B236C97-78B8-4DBD-9925-B797C5BAAC56}"/>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FFFFFF"/>
                </a:solidFill>
                <a:latin typeface="Arial"/>
                <a:ea typeface="Arial"/>
                <a:cs typeface="Arial"/>
              </a:defRPr>
            </a:defPPr>
          </a:lstStyle>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Community &amp; Macro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SWP-033</a:t>
            </a:r>
          </a:p>
        </p:txBody>
      </p:sp>
      <p:sp>
        <p:nvSpPr>
          <p:cNvPr id="4" name="">
            <a:extLst xmlns:a="http://schemas.openxmlformats.org/drawingml/2006/main">
              <a:ext uri="{FF2B5EF4-FFF2-40B4-BE49-F238E27FC236}">
                <a16:creationId xmlns:a16="http://schemas.microsoft.com/office/drawing/2014/main" id="{048AA488-70E9-42F3-9F4C-07BD7E181C0B}"/>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228741130"/>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C22AB7-7411-4017-8789-7AC35388485F}"/>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defPPr>
              <a:defRPr sz="2850" b="1">
                <a:solidFill>
                  <a:srgbClr val="0B2C7A"/>
                </a:solidFill>
                <a:latin typeface="Arial"/>
                <a:ea typeface="Arial"/>
                <a:cs typeface="Arial"/>
              </a:defRPr>
            </a:defPPr>
          </a:lstStyle>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0C202EE4-4999-4407-816E-499493C71F67}"/>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400" b="1">
                <a:solidFill>
                  <a:srgbClr val="17223B"/>
                </a:solidFill>
                <a:latin typeface="Arial"/>
                <a:ea typeface="Arial"/>
                <a:cs typeface="Arial"/>
              </a:defRPr>
            </a:defPPr>
          </a:lstStyle>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Lead and support teams, use reflective supervision, and manage community programmes with accountable governance within a professional role.</a:t>
            </a:r>
          </a:p>
        </p:txBody>
      </p:sp>
      <p:sp>
        <p:nvSpPr>
          <p:cNvPr id="3" name="">
            <a:extLst xmlns:a="http://schemas.openxmlformats.org/drawingml/2006/main">
              <a:ext uri="{FF2B5EF4-FFF2-40B4-BE49-F238E27FC236}">
                <a16:creationId xmlns:a16="http://schemas.microsoft.com/office/drawing/2014/main" id="{F7461E0A-61DC-4E98-91C0-AC0C2D3F9E5D}"/>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86FA2F20-CF50-4435-9C94-F5723A729948}"/>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a:solidFill>
                  <a:srgbClr val="17223B"/>
                </a:solidFill>
                <a:latin typeface="Arial"/>
                <a:ea typeface="Arial"/>
                <a:cs typeface="Arial"/>
              </a:defRPr>
            </a:defPPr>
          </a:lstStyle>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B16C7AE7-73E6-4BDF-B75D-3DBCBCE2DD7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SWP-033   SWEEP Academy</a:t>
            </a:r>
          </a:p>
        </p:txBody>
      </p:sp>
      <p:sp>
        <p:nvSpPr>
          <p:cNvPr id="6" name="">
            <a:extLst xmlns:a="http://schemas.openxmlformats.org/drawingml/2006/main">
              <a:ext uri="{FF2B5EF4-FFF2-40B4-BE49-F238E27FC236}">
                <a16:creationId xmlns:a16="http://schemas.microsoft.com/office/drawing/2014/main" id="{6A5B8FDC-D0E1-4198-A12E-4D731B8149C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4232175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CCC324-CF19-4DC4-BF14-79F5360B8DB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88B036A7-76CE-4CC2-9FBF-1719C436959B}"/>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Leadership governance and role clarity</a:t>
            </a:r>
          </a:p>
        </p:txBody>
      </p:sp>
      <p:sp>
        <p:nvSpPr>
          <p:cNvPr id="3" name="">
            <a:extLst xmlns:a="http://schemas.openxmlformats.org/drawingml/2006/main">
              <a:ext uri="{FF2B5EF4-FFF2-40B4-BE49-F238E27FC236}">
                <a16:creationId xmlns:a16="http://schemas.microsoft.com/office/drawing/2014/main" id="{C913D76C-0E82-4AB1-BDE7-7D8F5E0742E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shared purpose, delegated authority, inclusive decisions, power, accountability, and professional boundaries</a:t>
            </a:r>
          </a:p>
        </p:txBody>
      </p:sp>
      <p:sp>
        <p:nvSpPr>
          <p:cNvPr id="4" name="">
            <a:extLst xmlns:a="http://schemas.openxmlformats.org/drawingml/2006/main">
              <a:ext uri="{FF2B5EF4-FFF2-40B4-BE49-F238E27FC236}">
                <a16:creationId xmlns:a16="http://schemas.microsoft.com/office/drawing/2014/main" id="{DD64FADD-C830-4656-A85F-5DA350089334}"/>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shared purpose, delegated authority, inclusive decisions, power, accountability, and professional boundaries.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D613A28-1C30-4356-8CE6-E5704CE0184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0A61EF9-72CC-449D-9374-2D33EC608C2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SWP-033   SWEEP Academy</a:t>
            </a:r>
          </a:p>
        </p:txBody>
      </p:sp>
      <p:sp>
        <p:nvSpPr>
          <p:cNvPr id="7" name="">
            <a:extLst xmlns:a="http://schemas.openxmlformats.org/drawingml/2006/main">
              <a:ext uri="{FF2B5EF4-FFF2-40B4-BE49-F238E27FC236}">
                <a16:creationId xmlns:a16="http://schemas.microsoft.com/office/drawing/2014/main" id="{B420E766-FB07-4DBB-91BF-A968E50DF3C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9894998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A9B98D-2862-4901-8D49-EFE8C450C346}"/>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C2C72F59-3BBA-4147-A919-4E7E0C3712F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Reflective supervision and team support</a:t>
            </a:r>
          </a:p>
        </p:txBody>
      </p:sp>
      <p:sp>
        <p:nvSpPr>
          <p:cNvPr id="3" name="">
            <a:extLst xmlns:a="http://schemas.openxmlformats.org/drawingml/2006/main">
              <a:ext uri="{FF2B5EF4-FFF2-40B4-BE49-F238E27FC236}">
                <a16:creationId xmlns:a16="http://schemas.microsoft.com/office/drawing/2014/main" id="{64329590-C7DF-4EC9-90AC-D7593A8FE0BE}"/>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supervision agreements, feedback, workload, wellbeing, safeguarding boundaries, escalation, and support for learning</a:t>
            </a:r>
          </a:p>
        </p:txBody>
      </p:sp>
      <p:sp>
        <p:nvSpPr>
          <p:cNvPr id="4" name="">
            <a:extLst xmlns:a="http://schemas.openxmlformats.org/drawingml/2006/main">
              <a:ext uri="{FF2B5EF4-FFF2-40B4-BE49-F238E27FC236}">
                <a16:creationId xmlns:a16="http://schemas.microsoft.com/office/drawing/2014/main" id="{A69D0B5D-4A98-4E28-B506-97E9C755C0EA}"/>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supervision agreements, feedback, workload, wellbeing, safeguarding boundaries, escalation, and support for learning.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56A6842-D206-45C4-ADF6-223F4793636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9BA58BB8-5295-46A5-9F10-5E798CBBB59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SWP-033   SWEEP Academy</a:t>
            </a:r>
          </a:p>
        </p:txBody>
      </p:sp>
      <p:sp>
        <p:nvSpPr>
          <p:cNvPr id="7" name="">
            <a:extLst xmlns:a="http://schemas.openxmlformats.org/drawingml/2006/main">
              <a:ext uri="{FF2B5EF4-FFF2-40B4-BE49-F238E27FC236}">
                <a16:creationId xmlns:a16="http://schemas.microsoft.com/office/drawing/2014/main" id="{06148BCA-C701-4824-828A-0C93C31697C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3120680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CBF54A-753D-4BE0-815A-5D9B36A9AA2C}"/>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33707D1-00D6-43CA-B798-B8CA4A6C946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Programme management and learning</a:t>
            </a:r>
          </a:p>
        </p:txBody>
      </p:sp>
      <p:sp>
        <p:nvSpPr>
          <p:cNvPr id="3" name="">
            <a:extLst xmlns:a="http://schemas.openxmlformats.org/drawingml/2006/main">
              <a:ext uri="{FF2B5EF4-FFF2-40B4-BE49-F238E27FC236}">
                <a16:creationId xmlns:a16="http://schemas.microsoft.com/office/drawing/2014/main" id="{121EAC42-B7F5-4A9F-A78A-E1CB0BE0E22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delivery oversight, resourcing, governance risks, implementation monitoring, issue escalation, and proportionate learning adjustments</a:t>
            </a:r>
          </a:p>
        </p:txBody>
      </p:sp>
      <p:sp>
        <p:nvSpPr>
          <p:cNvPr id="4" name="">
            <a:extLst xmlns:a="http://schemas.openxmlformats.org/drawingml/2006/main">
              <a:ext uri="{FF2B5EF4-FFF2-40B4-BE49-F238E27FC236}">
                <a16:creationId xmlns:a16="http://schemas.microsoft.com/office/drawing/2014/main" id="{EF291AF3-1816-4E6D-946F-E8A04022CBE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delivery oversight, resourcing, governance risks, implementation monitoring, issue escalation, and proportionate learning adjustments.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5F6E2F1C-AE52-44F5-B262-803A8BC5C8FE}"/>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CB3246D-D715-4F6B-B34D-307CEAB7212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SWP-033   SWEEP Academy</a:t>
            </a:r>
          </a:p>
        </p:txBody>
      </p:sp>
      <p:sp>
        <p:nvSpPr>
          <p:cNvPr id="7" name="">
            <a:extLst xmlns:a="http://schemas.openxmlformats.org/drawingml/2006/main">
              <a:ext uri="{FF2B5EF4-FFF2-40B4-BE49-F238E27FC236}">
                <a16:creationId xmlns:a16="http://schemas.microsoft.com/office/drawing/2014/main" id="{10ED6425-521C-4697-9AB9-92B568B1A21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713589539"/>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711E51-D83E-48F7-847F-8BA9B23719CA}"/>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700" b="1">
                <a:solidFill>
                  <a:srgbClr val="0B2C7A"/>
                </a:solidFill>
                <a:latin typeface="Arial"/>
                <a:ea typeface="Arial"/>
                <a:cs typeface="Arial"/>
              </a:defRPr>
            </a:defPPr>
          </a:lstStyle>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3EE116AF-C4BA-4407-9B46-39948E7F8551}"/>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17223B"/>
                </a:solidFill>
                <a:latin typeface="Arial"/>
                <a:ea typeface="Arial"/>
                <a:cs typeface="Arial"/>
              </a:defRPr>
            </a:defPPr>
          </a:lstStyle>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4AD4E1CB-73F6-466A-BEF7-5DA3DF65C34D}"/>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defPPr>
              <a:defRPr sz="1650" b="1">
                <a:solidFill>
                  <a:srgbClr val="4C8B1D"/>
                </a:solidFill>
                <a:latin typeface="Arial"/>
                <a:ea typeface="Arial"/>
                <a:cs typeface="Arial"/>
              </a:defRPr>
            </a:defPPr>
          </a:lstStyle>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45683945-EA24-4011-9466-D34205A2360F}"/>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974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leadership accountability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role boundaries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reflective supervision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team wellbeing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5. programme governance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6. escalation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7. learning from delivery</a:t>
            </a:r>
          </a:p>
        </p:txBody>
      </p:sp>
      <p:sp>
        <p:nvSpPr>
          <p:cNvPr id="5" name="">
            <a:extLst xmlns:a="http://schemas.openxmlformats.org/drawingml/2006/main">
              <a:ext uri="{FF2B5EF4-FFF2-40B4-BE49-F238E27FC236}">
                <a16:creationId xmlns:a16="http://schemas.microsoft.com/office/drawing/2014/main" id="{3A052664-33C0-4D42-8172-0CA625671F17}"/>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1">
                <a:solidFill>
                  <a:srgbClr val="F5A400"/>
                </a:solidFill>
                <a:latin typeface="Arial"/>
                <a:ea typeface="Arial"/>
                <a:cs typeface="Arial"/>
              </a:defRPr>
            </a:defPPr>
          </a:lstStyle>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861A981F-784C-47E9-81C6-E260034179C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SWP-033   SWEEP Academy</a:t>
            </a:r>
          </a:p>
        </p:txBody>
      </p:sp>
      <p:sp>
        <p:nvSpPr>
          <p:cNvPr id="7" name="">
            <a:extLst xmlns:a="http://schemas.openxmlformats.org/drawingml/2006/main">
              <a:ext uri="{FF2B5EF4-FFF2-40B4-BE49-F238E27FC236}">
                <a16:creationId xmlns:a16="http://schemas.microsoft.com/office/drawing/2014/main" id="{F1689A13-5FCE-4C86-8898-49FDF994901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2088019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2026-10-16T15:07:24.4020000Z</dcterms:created>
  <dcterms:modified xsi:type="dcterms:W3CDTF">2026-10-16T15:07:24.4020000Z</dcterms:modified>
</coreProperties>
</file>