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416ed19be10147b4" /><Relationship Type="http://schemas.openxmlformats.org/officeDocument/2006/relationships/extended-properties" Target="/docProps/app.xml" Id="R17eb981d722f4713" /><Relationship Type="http://schemas.openxmlformats.org/officeDocument/2006/relationships/officeDocument" Target="/ppt/presentation.xml" Id="R1abb1962ebf84242" /></Relationships>
</file>

<file path=ppt/presentation.xml><?xml version="1.0" encoding="utf-8"?>
<p:presentation xmlns:p="http://schemas.openxmlformats.org/presentationml/2006/main">
  <p:sldMasterIdLst>
    <p:sldMasterId xmlns:r="http://schemas.openxmlformats.org/officeDocument/2006/relationships" id="2147483648" r:id="R49e9e78d8f464276"/>
  </p:sldMasterIdLst>
  <p:notesMasterIdLst>
    <p:notesMasterId xmlns:r="http://schemas.openxmlformats.org/officeDocument/2006/relationships" r:id="Rb7f8eaa216f443ba"/>
  </p:notesMasterIdLst>
  <p:sldIdLst>
    <p:sldId xmlns:r="http://schemas.openxmlformats.org/officeDocument/2006/relationships" id="256" r:id="R87ce1e43bd12437f"/>
    <p:sldId xmlns:r="http://schemas.openxmlformats.org/officeDocument/2006/relationships" id="257" r:id="R1effe0036cfb42bc"/>
    <p:sldId xmlns:r="http://schemas.openxmlformats.org/officeDocument/2006/relationships" id="258" r:id="R753005fcd06649b6"/>
    <p:sldId xmlns:r="http://schemas.openxmlformats.org/officeDocument/2006/relationships" id="259" r:id="R0ec551a591344cde"/>
    <p:sldId xmlns:r="http://schemas.openxmlformats.org/officeDocument/2006/relationships" id="260" r:id="Rbdcdb8d0cc0c4ca7"/>
    <p:sldId xmlns:r="http://schemas.openxmlformats.org/officeDocument/2006/relationships" id="261" r:id="R2f867053a174449e"/>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9fda4ee2290c4755" /><Relationship Type="http://schemas.openxmlformats.org/officeDocument/2006/relationships/slideMaster" Target="/ppt/slideMasters/slideMaster1.xml" Id="R49e9e78d8f464276" /><Relationship Type="http://schemas.openxmlformats.org/officeDocument/2006/relationships/notesMaster" Target="/ppt/notesMasters/notesMaster1.xml" Id="Rb7f8eaa216f443ba" /><Relationship Type="http://schemas.openxmlformats.org/officeDocument/2006/relationships/presProps" Target="/ppt/presProps.xml" Id="R1ff289af12464a74" /><Relationship Type="http://schemas.openxmlformats.org/officeDocument/2006/relationships/tableStyles" Target="/ppt/tableStyles.xml" Id="Rf0218aee04fd4168" /><Relationship Type="http://schemas.openxmlformats.org/officeDocument/2006/relationships/slide" Target="/ppt/slides/slide1.xml" Id="R87ce1e43bd12437f" /><Relationship Type="http://schemas.openxmlformats.org/officeDocument/2006/relationships/slide" Target="/ppt/slides/slide2.xml" Id="R1effe0036cfb42bc" /><Relationship Type="http://schemas.openxmlformats.org/officeDocument/2006/relationships/slide" Target="/ppt/slides/slide3.xml" Id="R753005fcd06649b6" /><Relationship Type="http://schemas.openxmlformats.org/officeDocument/2006/relationships/slide" Target="/ppt/slides/slide4.xml" Id="R0ec551a591344cde" /><Relationship Type="http://schemas.openxmlformats.org/officeDocument/2006/relationships/slide" Target="/ppt/slides/slide5.xml" Id="Rbdcdb8d0cc0c4ca7" /><Relationship Type="http://schemas.openxmlformats.org/officeDocument/2006/relationships/slide" Target="/ppt/slides/slide6.xml" Id="R2f867053a174449e"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00d89046cb8485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c68b5530f5114555" /><Relationship Type="http://schemas.openxmlformats.org/officeDocument/2006/relationships/notesMaster" Target="/ppt/notesMasters/notesMaster1.xml" Id="R8624d7de386647da" /></Relationships>
</file>

<file path=ppt/notesSlides/_rels/notesSlide2.xml.rels>&#65279;<?xml version="1.0" encoding="utf-8"?><Relationships xmlns="http://schemas.openxmlformats.org/package/2006/relationships"><Relationship Type="http://schemas.openxmlformats.org/officeDocument/2006/relationships/slide" Target="/ppt/slides/slide2.xml" Id="R0786d9882ab041b0" /><Relationship Type="http://schemas.openxmlformats.org/officeDocument/2006/relationships/notesMaster" Target="/ppt/notesMasters/notesMaster1.xml" Id="R84ac919908194495" /></Relationships>
</file>

<file path=ppt/notesSlides/_rels/notesSlide3.xml.rels>&#65279;<?xml version="1.0" encoding="utf-8"?><Relationships xmlns="http://schemas.openxmlformats.org/package/2006/relationships"><Relationship Type="http://schemas.openxmlformats.org/officeDocument/2006/relationships/slide" Target="/ppt/slides/slide3.xml" Id="Rb47f3b3138c548d2" /><Relationship Type="http://schemas.openxmlformats.org/officeDocument/2006/relationships/notesMaster" Target="/ppt/notesMasters/notesMaster1.xml" Id="R82a04c5844594ecf" /></Relationships>
</file>

<file path=ppt/notesSlides/_rels/notesSlide4.xml.rels>&#65279;<?xml version="1.0" encoding="utf-8"?><Relationships xmlns="http://schemas.openxmlformats.org/package/2006/relationships"><Relationship Type="http://schemas.openxmlformats.org/officeDocument/2006/relationships/slide" Target="/ppt/slides/slide4.xml" Id="R367d5e55ed964129" /><Relationship Type="http://schemas.openxmlformats.org/officeDocument/2006/relationships/notesMaster" Target="/ppt/notesMasters/notesMaster1.xml" Id="Re9bc988ccb114e50" /></Relationships>
</file>

<file path=ppt/notesSlides/_rels/notesSlide5.xml.rels>&#65279;<?xml version="1.0" encoding="utf-8"?><Relationships xmlns="http://schemas.openxmlformats.org/package/2006/relationships"><Relationship Type="http://schemas.openxmlformats.org/officeDocument/2006/relationships/slide" Target="/ppt/slides/slide5.xml" Id="Rf690b23dc4914061" /><Relationship Type="http://schemas.openxmlformats.org/officeDocument/2006/relationships/notesMaster" Target="/ppt/notesMasters/notesMaster1.xml" Id="Rd746bf13d222482e" /></Relationships>
</file>

<file path=ppt/notesSlides/_rels/notesSlide6.xml.rels>&#65279;<?xml version="1.0" encoding="utf-8"?><Relationships xmlns="http://schemas.openxmlformats.org/package/2006/relationships"><Relationship Type="http://schemas.openxmlformats.org/officeDocument/2006/relationships/slide" Target="/ppt/slides/slide6.xml" Id="R2203caad7ac84902" /><Relationship Type="http://schemas.openxmlformats.org/officeDocument/2006/relationships/notesMaster" Target="/ppt/notesMasters/notesMaster1.xml" Id="Rdab95049e8614cc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SWEEP Academy Course Content Outlines, approved catalogue. Cover slide. The deck uses a SWEEP Academy generated illustration as the cover background. Facilitators must confirm local law, policy, and referral routes before delivery.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SWEEP Academy Course Content Outlines, approved catalogue. Course outcome and delivery safeguard. The deck uses a SWEEP Academy generated illustration as the cover background. Facilitators must confirm local law, policy, and referral routes before delivery.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SWEEP Academy Course Content Outlines, approved catalogue. Module 1 teaching slide. The deck uses a SWEEP Academy generated illustration as the cover background. Facilitators must confirm local law, policy, and referral routes before delivery.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SWEEP Academy Course Content Outlines, approved catalogue. Module 2 teaching slide. The deck uses a SWEEP Academy generated illustration as the cover background. Facilitators must confirm local law, policy, and referral routes before delivery.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SWEEP Academy Course Content Outlines, approved catalogue. Module 3 teaching slide. The deck uses a SWEEP Academy generated illustration as the cover background. Facilitators must confirm local law, policy, and referral routes before delivery.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SWEEP Academy Course Content Outlines, approved catalogue. Practice activity and assessment preparation. The deck uses a SWEEP Academy generated illustration as the cover background. Facilitators must confirm local law, policy, and referral routes before delivery.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83930abbf684f8a"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e358bec9e2446e7" /><Relationship Type="http://schemas.openxmlformats.org/officeDocument/2006/relationships/slideLayout" Target="/ppt/slideLayouts/slideLayout1.xml" Id="Rc56979fda5ea4f9c"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c56979fda5ea4f9c"/>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c355937df5484bc3" /><Relationship Type="http://schemas.openxmlformats.org/officeDocument/2006/relationships/image" Target="/ppt/media/image.png" Id="R6efb03c85bd84adf" /><Relationship Type="http://schemas.openxmlformats.org/officeDocument/2006/relationships/notesSlide" Target="/ppt/notesSlides/notesSlide1.xml" Id="Rfc20f3f7adac49c8"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149544d094ed4584" /><Relationship Type="http://schemas.openxmlformats.org/officeDocument/2006/relationships/notesSlide" Target="/ppt/notesSlides/notesSlide2.xml" Id="R85a8d06dbc284af5"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4da9b28232f548c8" /><Relationship Type="http://schemas.openxmlformats.org/officeDocument/2006/relationships/notesSlide" Target="/ppt/notesSlides/notesSlide3.xml" Id="Rb34232ca1822455a"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82fad906e0244f31" /><Relationship Type="http://schemas.openxmlformats.org/officeDocument/2006/relationships/notesSlide" Target="/ppt/notesSlides/notesSlide4.xml" Id="Rcafa91eab88d4a40"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dfbcf7348a374329" /><Relationship Type="http://schemas.openxmlformats.org/officeDocument/2006/relationships/notesSlide" Target="/ppt/notesSlides/notesSlide5.xml" Id="R5267026645bb43ed"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6bb26e40928b4999" /><Relationship Type="http://schemas.openxmlformats.org/officeDocument/2006/relationships/notesSlide" Target="/ppt/notesSlides/notesSlide6.xml" Id="R8978c26b80224af8" /></Relationships>
</file>

<file path=ppt/slides/slide1.xml><?xml version="1.0" encoding="utf-8"?>
<p:sld xmlns:p="http://schemas.openxmlformats.org/presentationml/2006/main">
  <p:cSld>
    <p:bg>
      <p:bgPr>
        <a:solidFill xmlns:a="http://schemas.openxmlformats.org/drawingml/2006/main">
          <a:srgbClr val="071D52"/>
        </a:solidFill>
      </p:bgPr>
    </p:bg>
    <p:spTree>
      <p:nvGrpSpPr>
        <p:cNvPr id="1" name=""/>
        <p:cNvGrpSpPr/>
        <p:nvPr/>
      </p:nvGrpSpPr>
      <p:grpSpPr>
        <a:xfrm xmlns:a="http://schemas.openxmlformats.org/drawingml/2006/main"/>
      </p:grpSpPr>
      <p:pic>
        <p:nvPicPr>
          <p:cNvPr id="5" name=""/>
          <p:cNvPicPr>
            <a:picLocks xmlns:a="http://schemas.openxmlformats.org/drawingml/2006/main" noChangeAspect="1"/>
          </p:cNvPicPr>
          <p:nvPr/>
        </p:nvPicPr>
        <p:blipFill>
          <a:blip xmlns:r="http://schemas.openxmlformats.org/officeDocument/2006/relationships" xmlns:a="http://schemas.openxmlformats.org/drawingml/2006/main" r:embed="R6efb03c85bd84adf"/>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F8272893-A935-4ED3-BA25-CA745C6C9219}"/>
              </a:ext>
            </a:extLst>
          </p:cNvPr>
          <p:cNvSpPr>
            <a:spLocks xmlns:a="http://schemas.openxmlformats.org/drawingml/2006/main" noGrp="1"/>
          </p:cNvSpPr>
          <p:nvPr/>
        </p:nvSpPr>
        <p:spPr>
          <a:xfrm xmlns:a="http://schemas.openxmlformats.org/drawingml/2006/main">
            <a:off x="685800" y="1238250"/>
            <a:ext cx="590550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3900" b="1">
                <a:solidFill>
                  <a:srgbClr val="FFFFFF"/>
                </a:solidFill>
                <a:latin typeface="Arial"/>
                <a:ea typeface="Arial"/>
                <a:cs typeface="Arial"/>
              </a:defRPr>
            </a:pPr>
            <a:r>
              <a:rPr sz="3900" b="1">
                <a:solidFill>
                  <a:srgbClr val="FFFFFF"/>
                </a:solidFill>
                <a:latin typeface="Arial"/>
                <a:ea typeface="Arial"/>
                <a:cs typeface="Arial"/>
              </a:rPr>
              <a:t>Screening &amp; Brief Intervention (SBIRT)</a:t>
            </a:r>
          </a:p>
        </p:txBody>
      </p:sp>
      <p:sp>
        <p:nvSpPr>
          <p:cNvPr id="3" name="">
            <a:extLst xmlns:a="http://schemas.openxmlformats.org/drawingml/2006/main">
              <a:ext uri="{FF2B5EF4-FFF2-40B4-BE49-F238E27FC236}">
                <a16:creationId xmlns:a16="http://schemas.microsoft.com/office/drawing/2014/main" id="{758CD880-212B-4C98-8E54-574F1A450663}"/>
              </a:ext>
            </a:extLst>
          </p:cNvPr>
          <p:cNvSpPr>
            <a:spLocks xmlns:a="http://schemas.openxmlformats.org/drawingml/2006/main" noGrp="1"/>
          </p:cNvSpPr>
          <p:nvPr/>
        </p:nvSpPr>
        <p:spPr>
          <a:xfrm xmlns:a="http://schemas.openxmlformats.org/drawingml/2006/main">
            <a:off x="704850" y="3333750"/>
            <a:ext cx="4572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500">
                <a:solidFill>
                  <a:srgbClr val="FFFFFF"/>
                </a:solidFill>
                <a:latin typeface="Arial"/>
                <a:ea typeface="Arial"/>
                <a:cs typeface="Arial"/>
              </a:defRPr>
            </a:pPr>
            <a:r>
              <a:rPr sz="1500">
                <a:solidFill>
                  <a:srgbClr val="FFFFFF"/>
                </a:solidFill>
                <a:latin typeface="Arial"/>
                <a:ea typeface="Arial"/>
                <a:cs typeface="Arial"/>
              </a:rPr>
              <a:t>School of Substance Use &amp; Addiction Recovery</a:t>
            </a:r>
          </a:p>
          <a:p xmlns:a="http://schemas.openxmlformats.org/drawingml/2006/main">
            <a:pPr>
              <a:defRPr sz="1500">
                <a:solidFill>
                  <a:srgbClr val="FFFFFF"/>
                </a:solidFill>
                <a:latin typeface="Arial"/>
                <a:ea typeface="Arial"/>
                <a:cs typeface="Arial"/>
              </a:defRPr>
            </a:pPr>
            <a:r>
              <a:rPr sz="1500">
                <a:solidFill>
                  <a:srgbClr val="FFFFFF"/>
                </a:solidFill>
                <a:latin typeface="Arial"/>
                <a:ea typeface="Arial"/>
                <a:cs typeface="Arial"/>
              </a:rPr>
              <a:t>undefined</a:t>
            </a:r>
          </a:p>
        </p:txBody>
      </p:sp>
      <p:sp>
        <p:nvSpPr>
          <p:cNvPr id="4" name="">
            <a:extLst xmlns:a="http://schemas.openxmlformats.org/drawingml/2006/main">
              <a:ext uri="{FF2B5EF4-FFF2-40B4-BE49-F238E27FC236}">
                <a16:creationId xmlns:a16="http://schemas.microsoft.com/office/drawing/2014/main" id="{7D17DB83-909F-4E97-97FB-06D9503DB2C0}"/>
              </a:ext>
            </a:extLst>
          </p:cNvPr>
          <p:cNvSpPr>
            <a:spLocks xmlns:a="http://schemas.openxmlformats.org/drawingml/2006/main" noGrp="1"/>
          </p:cNvSpPr>
          <p:nvPr/>
        </p:nvSpPr>
        <p:spPr>
          <a:xfrm xmlns:a="http://schemas.openxmlformats.org/drawingml/2006/main">
            <a:off x="704850" y="5953125"/>
            <a:ext cx="285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275" b="1">
                <a:solidFill>
                  <a:srgbClr val="FFFFFF"/>
                </a:solidFill>
                <a:latin typeface="Arial"/>
                <a:ea typeface="Arial"/>
                <a:cs typeface="Arial"/>
              </a:defRPr>
            </a:pPr>
            <a:r>
              <a:rPr sz="1275" b="1">
                <a:solidFill>
                  <a:srgbClr val="FFFFFF"/>
                </a:solidFill>
                <a:latin typeface="Arial"/>
                <a:ea typeface="Arial"/>
                <a:cs typeface="Arial"/>
              </a:rPr>
              <a:t>SWEEP Academy</a:t>
            </a:r>
          </a:p>
        </p:txBody>
      </p:sp>
    </p:spTree>
    <p:extLst>
      <p:ext uri="{BB962C8B-B14F-4D97-AF65-F5344CB8AC3E}">
        <p14:creationId xmlns:p14="http://schemas.microsoft.com/office/powerpoint/2010/main" val="319802385"/>
      </p:ext>
    </p:extLst>
  </p:cSld>
</p:sld>
</file>

<file path=ppt/slides/slide2.xml><?xml version="1.0" encoding="utf-8"?>
<p:sld xmlns:p="http://schemas.openxmlformats.org/presentationml/2006/main">
  <p:cSld>
    <p:bg>
      <p:bgPr>
        <a:solidFill xmlns:a="http://schemas.openxmlformats.org/drawingml/2006/main">
          <a:srgbClr val="FAF8F2"/>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781AC670-F8E9-4116-A6DA-04E7A9CBD4FF}"/>
              </a:ext>
            </a:extLst>
          </p:cNvPr>
          <p:cNvSpPr>
            <a:spLocks xmlns:a="http://schemas.openxmlformats.org/drawingml/2006/main" noGrp="1"/>
          </p:cNvSpPr>
          <p:nvPr/>
        </p:nvSpPr>
        <p:spPr>
          <a:xfrm xmlns:a="http://schemas.openxmlformats.org/drawingml/2006/main">
            <a:off x="685800" y="647700"/>
            <a:ext cx="8191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9561"/>
          </a:bodyPr>
          <a:lstStyle xmlns:a="http://schemas.openxmlformats.org/drawingml/2006/main"/>
          <a:p xmlns:a="http://schemas.openxmlformats.org/drawingml/2006/main">
            <a:pPr>
              <a:defRPr sz="2850" b="1">
                <a:solidFill>
                  <a:srgbClr val="0B2C7A"/>
                </a:solidFill>
                <a:latin typeface="Arial"/>
                <a:ea typeface="Arial"/>
                <a:cs typeface="Arial"/>
              </a:defRPr>
            </a:pPr>
            <a:r>
              <a:rPr sz="2850" b="1">
                <a:solidFill>
                  <a:srgbClr val="0B2C7A"/>
                </a:solidFill>
                <a:latin typeface="Arial"/>
                <a:ea typeface="Arial"/>
                <a:cs typeface="Arial"/>
              </a:rPr>
              <a:t>Course outcome</a:t>
            </a:r>
          </a:p>
        </p:txBody>
      </p:sp>
      <p:sp>
        <p:nvSpPr>
          <p:cNvPr id="2" name="">
            <a:extLst xmlns:a="http://schemas.openxmlformats.org/drawingml/2006/main">
              <a:ext uri="{FF2B5EF4-FFF2-40B4-BE49-F238E27FC236}">
                <a16:creationId xmlns:a16="http://schemas.microsoft.com/office/drawing/2014/main" id="{114C9887-2BC1-410B-9C04-7251C7745988}"/>
              </a:ext>
            </a:extLst>
          </p:cNvPr>
          <p:cNvSpPr>
            <a:spLocks xmlns:a="http://schemas.openxmlformats.org/drawingml/2006/main" noGrp="1"/>
          </p:cNvSpPr>
          <p:nvPr/>
        </p:nvSpPr>
        <p:spPr>
          <a:xfrm xmlns:a="http://schemas.openxmlformats.org/drawingml/2006/main">
            <a:off x="685800" y="1676400"/>
            <a:ext cx="95250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400" b="1">
                <a:solidFill>
                  <a:srgbClr val="17223B"/>
                </a:solidFill>
                <a:latin typeface="Arial"/>
                <a:ea typeface="Arial"/>
                <a:cs typeface="Arial"/>
              </a:defRPr>
            </a:pPr>
            <a:r>
              <a:rPr sz="2400" b="1">
                <a:solidFill>
                  <a:srgbClr val="17223B"/>
                </a:solidFill>
                <a:latin typeface="Arial"/>
                <a:ea typeface="Arial"/>
                <a:cs typeface="Arial"/>
              </a:rPr>
              <a:t>Use screening and brief-intervention principles to identify and respond to risky substance use.</a:t>
            </a:r>
          </a:p>
        </p:txBody>
      </p:sp>
      <p:sp>
        <p:nvSpPr>
          <p:cNvPr id="3" name="">
            <a:extLst xmlns:a="http://schemas.openxmlformats.org/drawingml/2006/main">
              <a:ext uri="{FF2B5EF4-FFF2-40B4-BE49-F238E27FC236}">
                <a16:creationId xmlns:a16="http://schemas.microsoft.com/office/drawing/2014/main" id="{ADB1A8B3-850D-4B57-B8EC-00DBAED25D0E}"/>
              </a:ext>
            </a:extLst>
          </p:cNvPr>
          <p:cNvSpPr>
            <a:spLocks xmlns:a="http://schemas.openxmlformats.org/drawingml/2006/main" noGrp="1"/>
          </p:cNvSpPr>
          <p:nvPr/>
        </p:nvSpPr>
        <p:spPr>
          <a:xfrm xmlns:a="http://schemas.openxmlformats.org/drawingml/2006/main">
            <a:off x="685800" y="3810000"/>
            <a:ext cx="2286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500" b="1">
                <a:solidFill>
                  <a:srgbClr val="4C8B1D"/>
                </a:solidFill>
                <a:latin typeface="Arial"/>
                <a:ea typeface="Arial"/>
                <a:cs typeface="Arial"/>
              </a:defRPr>
            </a:pPr>
            <a:r>
              <a:rPr sz="1500" b="1">
                <a:solidFill>
                  <a:srgbClr val="4C8B1D"/>
                </a:solidFill>
                <a:latin typeface="Arial"/>
                <a:ea typeface="Arial"/>
                <a:cs typeface="Arial"/>
              </a:rPr>
              <a:t>Practice notice</a:t>
            </a:r>
          </a:p>
        </p:txBody>
      </p:sp>
      <p:sp>
        <p:nvSpPr>
          <p:cNvPr id="4" name="">
            <a:extLst xmlns:a="http://schemas.openxmlformats.org/drawingml/2006/main">
              <a:ext uri="{FF2B5EF4-FFF2-40B4-BE49-F238E27FC236}">
                <a16:creationId xmlns:a16="http://schemas.microsoft.com/office/drawing/2014/main" id="{F20CFBCF-A7C5-40D2-A2BE-40B6891092E4}"/>
              </a:ext>
            </a:extLst>
          </p:cNvPr>
          <p:cNvSpPr>
            <a:spLocks xmlns:a="http://schemas.openxmlformats.org/drawingml/2006/main" noGrp="1"/>
          </p:cNvSpPr>
          <p:nvPr/>
        </p:nvSpPr>
        <p:spPr>
          <a:xfrm xmlns:a="http://schemas.openxmlformats.org/drawingml/2006/main">
            <a:off x="685800" y="4286250"/>
            <a:ext cx="9906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575">
                <a:solidFill>
                  <a:srgbClr val="17223B"/>
                </a:solidFill>
                <a:latin typeface="Arial"/>
                <a:ea typeface="Arial"/>
                <a:cs typeface="Arial"/>
              </a:defRPr>
            </a:pPr>
            <a:r>
              <a:rPr sz="1575">
                <a:solidFill>
                  <a:srgbClr val="17223B"/>
                </a:solidFill>
                <a:latin typeface="Arial"/>
                <a:ea typeface="Arial"/>
                <a:cs typeface="Arial"/>
              </a:rPr>
              <a:t>Apply the law, organisational policy, supervision requirements, and approved referral pathways that govern your setting. This course supports learning and does not replace urgent safeguarding, clinical, or legal procedures.</a:t>
            </a:r>
          </a:p>
        </p:txBody>
      </p:sp>
      <p:sp>
        <p:nvSpPr>
          <p:cNvPr id="5" name="">
            <a:extLst xmlns:a="http://schemas.openxmlformats.org/drawingml/2006/main">
              <a:ext uri="{FF2B5EF4-FFF2-40B4-BE49-F238E27FC236}">
                <a16:creationId xmlns:a16="http://schemas.microsoft.com/office/drawing/2014/main" id="{C0AEE731-E939-40EF-A229-419EA2688A71}"/>
              </a:ext>
            </a:extLst>
          </p:cNvPr>
          <p:cNvSpPr>
            <a:spLocks xmlns:a="http://schemas.openxmlformats.org/drawingml/2006/main" noGrp="1"/>
          </p:cNvSpPr>
          <p:nvPr/>
        </p:nvSpPr>
        <p:spPr>
          <a:xfrm xmlns:a="http://schemas.openxmlformats.org/drawingml/2006/main">
            <a:off x="666750" y="6419850"/>
            <a:ext cx="571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6111"/>
          </a:bodyPr>
          <a:lstStyle xmlns:a="http://schemas.openxmlformats.org/drawingml/2006/main"/>
          <a:p xmlns:a="http://schemas.openxmlformats.org/drawingml/2006/main">
            <a:pPr>
              <a:defRPr sz="900">
                <a:solidFill>
                  <a:srgbClr val="52617D"/>
                </a:solidFill>
                <a:latin typeface="Arial"/>
                <a:ea typeface="Arial"/>
                <a:cs typeface="Arial"/>
              </a:defRPr>
            </a:pPr>
            <a:r>
              <a:rPr sz="900">
                <a:solidFill>
                  <a:srgbClr val="52617D"/>
                </a:solidFill>
                <a:latin typeface="Arial"/>
                <a:ea typeface="Arial"/>
                <a:cs typeface="Arial"/>
              </a:rPr>
              <a:t>undefined   SWEEP Academy</a:t>
            </a:r>
          </a:p>
        </p:txBody>
      </p:sp>
      <p:sp>
        <p:nvSpPr>
          <p:cNvPr id="6" name="">
            <a:extLst xmlns:a="http://schemas.openxmlformats.org/drawingml/2006/main">
              <a:ext uri="{FF2B5EF4-FFF2-40B4-BE49-F238E27FC236}">
                <a16:creationId xmlns:a16="http://schemas.microsoft.com/office/drawing/2014/main" id="{2FEA6660-B85C-4745-B308-0B3D92C4F3C2}"/>
              </a:ext>
            </a:extLst>
          </p:cNvPr>
          <p:cNvSpPr>
            <a:spLocks xmlns:a="http://schemas.openxmlformats.org/drawingml/2006/main" noGrp="1"/>
          </p:cNvSpPr>
          <p:nvPr/>
        </p:nvSpPr>
        <p:spPr>
          <a:xfrm xmlns:a="http://schemas.openxmlformats.org/drawingml/2006/main">
            <a:off x="11049000" y="6419850"/>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6111"/>
          </a:bodyPr>
          <a:lstStyle xmlns:a="http://schemas.openxmlformats.org/drawingml/2006/main"/>
          <a:p xmlns:a="http://schemas.openxmlformats.org/drawingml/2006/main">
            <a:pPr algn="r">
              <a:defRPr sz="900">
                <a:solidFill>
                  <a:srgbClr val="52617D"/>
                </a:solidFill>
                <a:latin typeface="Arial"/>
                <a:ea typeface="Arial"/>
                <a:cs typeface="Arial"/>
              </a:defRPr>
            </a:pPr>
            <a:r>
              <a:rPr sz="900">
                <a:solidFill>
                  <a:srgbClr val="52617D"/>
                </a:solidFill>
                <a:latin typeface="Arial"/>
                <a:ea typeface="Arial"/>
                <a:cs typeface="Arial"/>
              </a:rPr>
              <a:t>02</a:t>
            </a:r>
          </a:p>
        </p:txBody>
      </p:sp>
    </p:spTree>
    <p:extLst>
      <p:ext uri="{BB962C8B-B14F-4D97-AF65-F5344CB8AC3E}">
        <p14:creationId xmlns:p14="http://schemas.microsoft.com/office/powerpoint/2010/main" val="1404952243"/>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630F8801-3566-467F-9B14-7ADB08C35774}"/>
              </a:ext>
            </a:extLst>
          </p:cNvPr>
          <p:cNvSpPr>
            <a:spLocks xmlns:a="http://schemas.openxmlformats.org/drawingml/2006/main" noGrp="1"/>
          </p:cNvSpPr>
          <p:nvPr/>
        </p:nvSpPr>
        <p:spPr>
          <a:xfrm xmlns:a="http://schemas.openxmlformats.org/drawingml/2006/main">
            <a:off x="685800" y="590550"/>
            <a:ext cx="2857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500" b="1">
                <a:solidFill>
                  <a:srgbClr val="4C8B1D"/>
                </a:solidFill>
                <a:latin typeface="Arial"/>
                <a:ea typeface="Arial"/>
                <a:cs typeface="Arial"/>
              </a:defRPr>
            </a:pPr>
            <a:r>
              <a:rPr sz="1500" b="1">
                <a:solidFill>
                  <a:srgbClr val="4C8B1D"/>
                </a:solidFill>
                <a:latin typeface="Arial"/>
                <a:ea typeface="Arial"/>
                <a:cs typeface="Arial"/>
              </a:rPr>
              <a:t>Module 1</a:t>
            </a:r>
          </a:p>
        </p:txBody>
      </p:sp>
      <p:sp>
        <p:nvSpPr>
          <p:cNvPr id="2" name="">
            <a:extLst xmlns:a="http://schemas.openxmlformats.org/drawingml/2006/main">
              <a:ext uri="{FF2B5EF4-FFF2-40B4-BE49-F238E27FC236}">
                <a16:creationId xmlns:a16="http://schemas.microsoft.com/office/drawing/2014/main" id="{49C2E219-F71B-46AD-BA7E-D52D00EDAC6A}"/>
              </a:ext>
            </a:extLst>
          </p:cNvPr>
          <p:cNvSpPr>
            <a:spLocks xmlns:a="http://schemas.openxmlformats.org/drawingml/2006/main" noGrp="1"/>
          </p:cNvSpPr>
          <p:nvPr/>
        </p:nvSpPr>
        <p:spPr>
          <a:xfrm xmlns:a="http://schemas.openxmlformats.org/drawingml/2006/main">
            <a:off x="685800" y="1047750"/>
            <a:ext cx="9334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3000" b="1">
                <a:solidFill>
                  <a:srgbClr val="0B2C7A"/>
                </a:solidFill>
                <a:latin typeface="Arial"/>
                <a:ea typeface="Arial"/>
                <a:cs typeface="Arial"/>
              </a:defRPr>
            </a:pPr>
            <a:r>
              <a:rPr sz="3000" b="1">
                <a:solidFill>
                  <a:srgbClr val="0B2C7A"/>
                </a:solidFill>
                <a:latin typeface="Arial"/>
                <a:ea typeface="Arial"/>
                <a:cs typeface="Arial"/>
              </a:rPr>
              <a:t>Substance-use continuum</a:t>
            </a:r>
          </a:p>
        </p:txBody>
      </p:sp>
      <p:sp>
        <p:nvSpPr>
          <p:cNvPr id="3" name="">
            <a:extLst xmlns:a="http://schemas.openxmlformats.org/drawingml/2006/main">
              <a:ext uri="{FF2B5EF4-FFF2-40B4-BE49-F238E27FC236}">
                <a16:creationId xmlns:a16="http://schemas.microsoft.com/office/drawing/2014/main" id="{1082B04C-BE4F-467B-A2F2-B6F44F4FD161}"/>
              </a:ext>
            </a:extLst>
          </p:cNvPr>
          <p:cNvSpPr>
            <a:spLocks xmlns:a="http://schemas.openxmlformats.org/drawingml/2006/main" noGrp="1"/>
          </p:cNvSpPr>
          <p:nvPr/>
        </p:nvSpPr>
        <p:spPr>
          <a:xfrm xmlns:a="http://schemas.openxmlformats.org/drawingml/2006/main">
            <a:off x="685800" y="2333625"/>
            <a:ext cx="10096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875" b="1">
                <a:solidFill>
                  <a:srgbClr val="17223B"/>
                </a:solidFill>
                <a:latin typeface="Arial"/>
                <a:ea typeface="Arial"/>
                <a:cs typeface="Arial"/>
              </a:defRPr>
            </a:pPr>
            <a:r>
              <a:rPr sz="1875" b="1">
                <a:solidFill>
                  <a:srgbClr val="17223B"/>
                </a:solidFill>
                <a:latin typeface="Arial"/>
                <a:ea typeface="Arial"/>
                <a:cs typeface="Arial"/>
              </a:rPr>
              <a:t>stigma-free language, risk factors, protective factors, and screening purpose</a:t>
            </a:r>
          </a:p>
        </p:txBody>
      </p:sp>
      <p:sp>
        <p:nvSpPr>
          <p:cNvPr id="4" name="">
            <a:extLst xmlns:a="http://schemas.openxmlformats.org/drawingml/2006/main">
              <a:ext uri="{FF2B5EF4-FFF2-40B4-BE49-F238E27FC236}">
                <a16:creationId xmlns:a16="http://schemas.microsoft.com/office/drawing/2014/main" id="{77F64DC4-078B-418D-A5E7-BF57B4F16670}"/>
              </a:ext>
            </a:extLst>
          </p:cNvPr>
          <p:cNvSpPr>
            <a:spLocks xmlns:a="http://schemas.openxmlformats.org/drawingml/2006/main" noGrp="1"/>
          </p:cNvSpPr>
          <p:nvPr/>
        </p:nvSpPr>
        <p:spPr>
          <a:xfrm xmlns:a="http://schemas.openxmlformats.org/drawingml/2006/main">
            <a:off x="685800" y="3714750"/>
            <a:ext cx="100012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650">
                <a:solidFill>
                  <a:srgbClr val="17223B"/>
                </a:solidFill>
                <a:latin typeface="Arial"/>
                <a:ea typeface="Arial"/>
                <a:cs typeface="Arial"/>
              </a:defRPr>
            </a:pPr>
            <a:r>
              <a:rPr sz="1650">
                <a:solidFill>
                  <a:srgbClr val="17223B"/>
                </a:solidFill>
                <a:latin typeface="Arial"/>
                <a:ea typeface="Arial"/>
                <a:cs typeface="Arial"/>
              </a:rPr>
              <a:t>This module covers stigma-free language, risk factors, protective factors, and screening purpose. Work from the learner guide to separate observed information from assumptions, involve the person or community appropriately, and use supervision or local policy when the decision falls outside your authority.</a:t>
            </a:r>
          </a:p>
        </p:txBody>
      </p:sp>
      <p:sp>
        <p:nvSpPr>
          <p:cNvPr id="5" name="">
            <a:extLst xmlns:a="http://schemas.openxmlformats.org/drawingml/2006/main">
              <a:ext uri="{FF2B5EF4-FFF2-40B4-BE49-F238E27FC236}">
                <a16:creationId xmlns:a16="http://schemas.microsoft.com/office/drawing/2014/main" id="{AAD30254-DB66-4657-9439-2A59B20DAE70}"/>
              </a:ext>
            </a:extLst>
          </p:cNvPr>
          <p:cNvSpPr>
            <a:spLocks xmlns:a="http://schemas.openxmlformats.org/drawingml/2006/main" noGrp="1"/>
          </p:cNvSpPr>
          <p:nvPr/>
        </p:nvSpPr>
        <p:spPr>
          <a:xfrm xmlns:a="http://schemas.openxmlformats.org/drawingml/2006/main">
            <a:off x="685800" y="5381625"/>
            <a:ext cx="9810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350">
                <a:solidFill>
                  <a:srgbClr val="52617D"/>
                </a:solidFill>
                <a:latin typeface="Arial"/>
                <a:ea typeface="Arial"/>
                <a:cs typeface="Arial"/>
              </a:defRPr>
            </a:pPr>
            <a:r>
              <a:rPr sz="1350">
                <a:solidFill>
                  <a:srgbClr val="52617D"/>
                </a:solidFill>
                <a:latin typeface="Arial"/>
                <a:ea typeface="Arial"/>
                <a:cs typeface="Arial"/>
              </a:rPr>
              <a:t>Reflection: What information do you need to verify, and where would your local procedure set a limit or escalation point?</a:t>
            </a:r>
          </a:p>
        </p:txBody>
      </p:sp>
      <p:sp>
        <p:nvSpPr>
          <p:cNvPr id="6" name="">
            <a:extLst xmlns:a="http://schemas.openxmlformats.org/drawingml/2006/main">
              <a:ext uri="{FF2B5EF4-FFF2-40B4-BE49-F238E27FC236}">
                <a16:creationId xmlns:a16="http://schemas.microsoft.com/office/drawing/2014/main" id="{8B5DAF3B-5EDA-41E3-95BE-42499F8CFA85}"/>
              </a:ext>
            </a:extLst>
          </p:cNvPr>
          <p:cNvSpPr>
            <a:spLocks xmlns:a="http://schemas.openxmlformats.org/drawingml/2006/main" noGrp="1"/>
          </p:cNvSpPr>
          <p:nvPr/>
        </p:nvSpPr>
        <p:spPr>
          <a:xfrm xmlns:a="http://schemas.openxmlformats.org/drawingml/2006/main">
            <a:off x="666750" y="6419850"/>
            <a:ext cx="571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6111"/>
          </a:bodyPr>
          <a:lstStyle xmlns:a="http://schemas.openxmlformats.org/drawingml/2006/main"/>
          <a:p xmlns:a="http://schemas.openxmlformats.org/drawingml/2006/main">
            <a:pPr>
              <a:defRPr sz="900">
                <a:solidFill>
                  <a:srgbClr val="52617D"/>
                </a:solidFill>
                <a:latin typeface="Arial"/>
                <a:ea typeface="Arial"/>
                <a:cs typeface="Arial"/>
              </a:defRPr>
            </a:pPr>
            <a:r>
              <a:rPr sz="900">
                <a:solidFill>
                  <a:srgbClr val="52617D"/>
                </a:solidFill>
                <a:latin typeface="Arial"/>
                <a:ea typeface="Arial"/>
                <a:cs typeface="Arial"/>
              </a:rPr>
              <a:t>undefined   SWEEP Academy</a:t>
            </a:r>
          </a:p>
        </p:txBody>
      </p:sp>
      <p:sp>
        <p:nvSpPr>
          <p:cNvPr id="7" name="">
            <a:extLst xmlns:a="http://schemas.openxmlformats.org/drawingml/2006/main">
              <a:ext uri="{FF2B5EF4-FFF2-40B4-BE49-F238E27FC236}">
                <a16:creationId xmlns:a16="http://schemas.microsoft.com/office/drawing/2014/main" id="{AC93B145-1EB3-4E4F-ADC4-414A9AE1FE1F}"/>
              </a:ext>
            </a:extLst>
          </p:cNvPr>
          <p:cNvSpPr>
            <a:spLocks xmlns:a="http://schemas.openxmlformats.org/drawingml/2006/main" noGrp="1"/>
          </p:cNvSpPr>
          <p:nvPr/>
        </p:nvSpPr>
        <p:spPr>
          <a:xfrm xmlns:a="http://schemas.openxmlformats.org/drawingml/2006/main">
            <a:off x="11049000" y="6419850"/>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6111"/>
          </a:bodyPr>
          <a:lstStyle xmlns:a="http://schemas.openxmlformats.org/drawingml/2006/main"/>
          <a:p xmlns:a="http://schemas.openxmlformats.org/drawingml/2006/main">
            <a:pPr algn="r">
              <a:defRPr sz="900">
                <a:solidFill>
                  <a:srgbClr val="52617D"/>
                </a:solidFill>
                <a:latin typeface="Arial"/>
                <a:ea typeface="Arial"/>
                <a:cs typeface="Arial"/>
              </a:defRPr>
            </a:pPr>
            <a:r>
              <a:rPr sz="900">
                <a:solidFill>
                  <a:srgbClr val="52617D"/>
                </a:solidFill>
                <a:latin typeface="Arial"/>
                <a:ea typeface="Arial"/>
                <a:cs typeface="Arial"/>
              </a:rPr>
              <a:t>03</a:t>
            </a:r>
          </a:p>
        </p:txBody>
      </p:sp>
    </p:spTree>
    <p:extLst>
      <p:ext uri="{BB962C8B-B14F-4D97-AF65-F5344CB8AC3E}">
        <p14:creationId xmlns:p14="http://schemas.microsoft.com/office/powerpoint/2010/main" val="1752348496"/>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BE89356C-982E-4964-B68B-BA696C15873C}"/>
              </a:ext>
            </a:extLst>
          </p:cNvPr>
          <p:cNvSpPr>
            <a:spLocks xmlns:a="http://schemas.openxmlformats.org/drawingml/2006/main" noGrp="1"/>
          </p:cNvSpPr>
          <p:nvPr/>
        </p:nvSpPr>
        <p:spPr>
          <a:xfrm xmlns:a="http://schemas.openxmlformats.org/drawingml/2006/main">
            <a:off x="685800" y="590550"/>
            <a:ext cx="2857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500" b="1">
                <a:solidFill>
                  <a:srgbClr val="4C8B1D"/>
                </a:solidFill>
                <a:latin typeface="Arial"/>
                <a:ea typeface="Arial"/>
                <a:cs typeface="Arial"/>
              </a:defRPr>
            </a:pPr>
            <a:r>
              <a:rPr sz="1500" b="1">
                <a:solidFill>
                  <a:srgbClr val="4C8B1D"/>
                </a:solidFill>
                <a:latin typeface="Arial"/>
                <a:ea typeface="Arial"/>
                <a:cs typeface="Arial"/>
              </a:rPr>
              <a:t>Module 2</a:t>
            </a:r>
          </a:p>
        </p:txBody>
      </p:sp>
      <p:sp>
        <p:nvSpPr>
          <p:cNvPr id="2" name="">
            <a:extLst xmlns:a="http://schemas.openxmlformats.org/drawingml/2006/main">
              <a:ext uri="{FF2B5EF4-FFF2-40B4-BE49-F238E27FC236}">
                <a16:creationId xmlns:a16="http://schemas.microsoft.com/office/drawing/2014/main" id="{417B7C1E-998E-4C99-AAE1-9AD46675CD0A}"/>
              </a:ext>
            </a:extLst>
          </p:cNvPr>
          <p:cNvSpPr>
            <a:spLocks xmlns:a="http://schemas.openxmlformats.org/drawingml/2006/main" noGrp="1"/>
          </p:cNvSpPr>
          <p:nvPr/>
        </p:nvSpPr>
        <p:spPr>
          <a:xfrm xmlns:a="http://schemas.openxmlformats.org/drawingml/2006/main">
            <a:off x="685800" y="1047750"/>
            <a:ext cx="9334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3000" b="1">
                <a:solidFill>
                  <a:srgbClr val="0B2C7A"/>
                </a:solidFill>
                <a:latin typeface="Arial"/>
                <a:ea typeface="Arial"/>
                <a:cs typeface="Arial"/>
              </a:defRPr>
            </a:pPr>
            <a:r>
              <a:rPr sz="3000" b="1">
                <a:solidFill>
                  <a:srgbClr val="0B2C7A"/>
                </a:solidFill>
                <a:latin typeface="Arial"/>
                <a:ea typeface="Arial"/>
                <a:cs typeface="Arial"/>
              </a:rPr>
              <a:t>Screening and feedback</a:t>
            </a:r>
          </a:p>
        </p:txBody>
      </p:sp>
      <p:sp>
        <p:nvSpPr>
          <p:cNvPr id="3" name="">
            <a:extLst xmlns:a="http://schemas.openxmlformats.org/drawingml/2006/main">
              <a:ext uri="{FF2B5EF4-FFF2-40B4-BE49-F238E27FC236}">
                <a16:creationId xmlns:a16="http://schemas.microsoft.com/office/drawing/2014/main" id="{1AA72FA9-D9DF-49B9-9CDF-DC980D01514F}"/>
              </a:ext>
            </a:extLst>
          </p:cNvPr>
          <p:cNvSpPr>
            <a:spLocks xmlns:a="http://schemas.openxmlformats.org/drawingml/2006/main" noGrp="1"/>
          </p:cNvSpPr>
          <p:nvPr/>
        </p:nvSpPr>
        <p:spPr>
          <a:xfrm xmlns:a="http://schemas.openxmlformats.org/drawingml/2006/main">
            <a:off x="685800" y="2333625"/>
            <a:ext cx="10096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875" b="1">
                <a:solidFill>
                  <a:srgbClr val="17223B"/>
                </a:solidFill>
                <a:latin typeface="Arial"/>
                <a:ea typeface="Arial"/>
                <a:cs typeface="Arial"/>
              </a:defRPr>
            </a:pPr>
            <a:r>
              <a:rPr sz="1875" b="1">
                <a:solidFill>
                  <a:srgbClr val="17223B"/>
                </a:solidFill>
                <a:latin typeface="Arial"/>
                <a:ea typeface="Arial"/>
                <a:cs typeface="Arial"/>
              </a:rPr>
              <a:t>validated-tool principles, consent, interpretation, and brief feedback</a:t>
            </a:r>
          </a:p>
        </p:txBody>
      </p:sp>
      <p:sp>
        <p:nvSpPr>
          <p:cNvPr id="4" name="">
            <a:extLst xmlns:a="http://schemas.openxmlformats.org/drawingml/2006/main">
              <a:ext uri="{FF2B5EF4-FFF2-40B4-BE49-F238E27FC236}">
                <a16:creationId xmlns:a16="http://schemas.microsoft.com/office/drawing/2014/main" id="{FCB0CD22-7B5B-4224-AC46-03A29CD9303B}"/>
              </a:ext>
            </a:extLst>
          </p:cNvPr>
          <p:cNvSpPr>
            <a:spLocks xmlns:a="http://schemas.openxmlformats.org/drawingml/2006/main" noGrp="1"/>
          </p:cNvSpPr>
          <p:nvPr/>
        </p:nvSpPr>
        <p:spPr>
          <a:xfrm xmlns:a="http://schemas.openxmlformats.org/drawingml/2006/main">
            <a:off x="685800" y="3714750"/>
            <a:ext cx="100012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650">
                <a:solidFill>
                  <a:srgbClr val="17223B"/>
                </a:solidFill>
                <a:latin typeface="Arial"/>
                <a:ea typeface="Arial"/>
                <a:cs typeface="Arial"/>
              </a:defRPr>
            </a:pPr>
            <a:r>
              <a:rPr sz="1650">
                <a:solidFill>
                  <a:srgbClr val="17223B"/>
                </a:solidFill>
                <a:latin typeface="Arial"/>
                <a:ea typeface="Arial"/>
                <a:cs typeface="Arial"/>
              </a:rPr>
              <a:t>This module covers validated-tool principles, consent, interpretation, and brief feedback. Work from the learner guide to separate observed information from assumptions, involve the person or community appropriately, and use supervision or local policy when the decision falls outside your authority.</a:t>
            </a:r>
          </a:p>
        </p:txBody>
      </p:sp>
      <p:sp>
        <p:nvSpPr>
          <p:cNvPr id="5" name="">
            <a:extLst xmlns:a="http://schemas.openxmlformats.org/drawingml/2006/main">
              <a:ext uri="{FF2B5EF4-FFF2-40B4-BE49-F238E27FC236}">
                <a16:creationId xmlns:a16="http://schemas.microsoft.com/office/drawing/2014/main" id="{4D74E7A8-C1A0-40A4-83F7-93A662169892}"/>
              </a:ext>
            </a:extLst>
          </p:cNvPr>
          <p:cNvSpPr>
            <a:spLocks xmlns:a="http://schemas.openxmlformats.org/drawingml/2006/main" noGrp="1"/>
          </p:cNvSpPr>
          <p:nvPr/>
        </p:nvSpPr>
        <p:spPr>
          <a:xfrm xmlns:a="http://schemas.openxmlformats.org/drawingml/2006/main">
            <a:off x="685800" y="5381625"/>
            <a:ext cx="9810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350">
                <a:solidFill>
                  <a:srgbClr val="52617D"/>
                </a:solidFill>
                <a:latin typeface="Arial"/>
                <a:ea typeface="Arial"/>
                <a:cs typeface="Arial"/>
              </a:defRPr>
            </a:pPr>
            <a:r>
              <a:rPr sz="1350">
                <a:solidFill>
                  <a:srgbClr val="52617D"/>
                </a:solidFill>
                <a:latin typeface="Arial"/>
                <a:ea typeface="Arial"/>
                <a:cs typeface="Arial"/>
              </a:rPr>
              <a:t>Reflection: What information do you need to verify, and where would your local procedure set a limit or escalation point?</a:t>
            </a:r>
          </a:p>
        </p:txBody>
      </p:sp>
      <p:sp>
        <p:nvSpPr>
          <p:cNvPr id="6" name="">
            <a:extLst xmlns:a="http://schemas.openxmlformats.org/drawingml/2006/main">
              <a:ext uri="{FF2B5EF4-FFF2-40B4-BE49-F238E27FC236}">
                <a16:creationId xmlns:a16="http://schemas.microsoft.com/office/drawing/2014/main" id="{DF1241B7-19C7-4CF7-B824-0695783CCCDA}"/>
              </a:ext>
            </a:extLst>
          </p:cNvPr>
          <p:cNvSpPr>
            <a:spLocks xmlns:a="http://schemas.openxmlformats.org/drawingml/2006/main" noGrp="1"/>
          </p:cNvSpPr>
          <p:nvPr/>
        </p:nvSpPr>
        <p:spPr>
          <a:xfrm xmlns:a="http://schemas.openxmlformats.org/drawingml/2006/main">
            <a:off x="666750" y="6419850"/>
            <a:ext cx="571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6111"/>
          </a:bodyPr>
          <a:lstStyle xmlns:a="http://schemas.openxmlformats.org/drawingml/2006/main"/>
          <a:p xmlns:a="http://schemas.openxmlformats.org/drawingml/2006/main">
            <a:pPr>
              <a:defRPr sz="900">
                <a:solidFill>
                  <a:srgbClr val="52617D"/>
                </a:solidFill>
                <a:latin typeface="Arial"/>
                <a:ea typeface="Arial"/>
                <a:cs typeface="Arial"/>
              </a:defRPr>
            </a:pPr>
            <a:r>
              <a:rPr sz="900">
                <a:solidFill>
                  <a:srgbClr val="52617D"/>
                </a:solidFill>
                <a:latin typeface="Arial"/>
                <a:ea typeface="Arial"/>
                <a:cs typeface="Arial"/>
              </a:rPr>
              <a:t>undefined   SWEEP Academy</a:t>
            </a:r>
          </a:p>
        </p:txBody>
      </p:sp>
      <p:sp>
        <p:nvSpPr>
          <p:cNvPr id="7" name="">
            <a:extLst xmlns:a="http://schemas.openxmlformats.org/drawingml/2006/main">
              <a:ext uri="{FF2B5EF4-FFF2-40B4-BE49-F238E27FC236}">
                <a16:creationId xmlns:a16="http://schemas.microsoft.com/office/drawing/2014/main" id="{63F26F80-9E43-4A30-B84C-E3EEFB485FB0}"/>
              </a:ext>
            </a:extLst>
          </p:cNvPr>
          <p:cNvSpPr>
            <a:spLocks xmlns:a="http://schemas.openxmlformats.org/drawingml/2006/main" noGrp="1"/>
          </p:cNvSpPr>
          <p:nvPr/>
        </p:nvSpPr>
        <p:spPr>
          <a:xfrm xmlns:a="http://schemas.openxmlformats.org/drawingml/2006/main">
            <a:off x="11049000" y="6419850"/>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6111"/>
          </a:bodyPr>
          <a:lstStyle xmlns:a="http://schemas.openxmlformats.org/drawingml/2006/main"/>
          <a:p xmlns:a="http://schemas.openxmlformats.org/drawingml/2006/main">
            <a:pPr algn="r">
              <a:defRPr sz="900">
                <a:solidFill>
                  <a:srgbClr val="52617D"/>
                </a:solidFill>
                <a:latin typeface="Arial"/>
                <a:ea typeface="Arial"/>
                <a:cs typeface="Arial"/>
              </a:defRPr>
            </a:pPr>
            <a:r>
              <a:rPr sz="900">
                <a:solidFill>
                  <a:srgbClr val="52617D"/>
                </a:solidFill>
                <a:latin typeface="Arial"/>
                <a:ea typeface="Arial"/>
                <a:cs typeface="Arial"/>
              </a:rPr>
              <a:t>04</a:t>
            </a:r>
          </a:p>
        </p:txBody>
      </p:sp>
    </p:spTree>
    <p:extLst>
      <p:ext uri="{BB962C8B-B14F-4D97-AF65-F5344CB8AC3E}">
        <p14:creationId xmlns:p14="http://schemas.microsoft.com/office/powerpoint/2010/main" val="230985835"/>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EEAA7CCF-2DE6-45AC-99FE-32F945B87F21}"/>
              </a:ext>
            </a:extLst>
          </p:cNvPr>
          <p:cNvSpPr>
            <a:spLocks xmlns:a="http://schemas.openxmlformats.org/drawingml/2006/main" noGrp="1"/>
          </p:cNvSpPr>
          <p:nvPr/>
        </p:nvSpPr>
        <p:spPr>
          <a:xfrm xmlns:a="http://schemas.openxmlformats.org/drawingml/2006/main">
            <a:off x="685800" y="590550"/>
            <a:ext cx="2857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500" b="1">
                <a:solidFill>
                  <a:srgbClr val="4C8B1D"/>
                </a:solidFill>
                <a:latin typeface="Arial"/>
                <a:ea typeface="Arial"/>
                <a:cs typeface="Arial"/>
              </a:defRPr>
            </a:pPr>
            <a:r>
              <a:rPr sz="1500" b="1">
                <a:solidFill>
                  <a:srgbClr val="4C8B1D"/>
                </a:solidFill>
                <a:latin typeface="Arial"/>
                <a:ea typeface="Arial"/>
                <a:cs typeface="Arial"/>
              </a:rPr>
              <a:t>Module 3</a:t>
            </a:r>
          </a:p>
        </p:txBody>
      </p:sp>
      <p:sp>
        <p:nvSpPr>
          <p:cNvPr id="2" name="">
            <a:extLst xmlns:a="http://schemas.openxmlformats.org/drawingml/2006/main">
              <a:ext uri="{FF2B5EF4-FFF2-40B4-BE49-F238E27FC236}">
                <a16:creationId xmlns:a16="http://schemas.microsoft.com/office/drawing/2014/main" id="{29A8756B-CCA1-400C-B3BA-B21F35069F28}"/>
              </a:ext>
            </a:extLst>
          </p:cNvPr>
          <p:cNvSpPr>
            <a:spLocks xmlns:a="http://schemas.openxmlformats.org/drawingml/2006/main" noGrp="1"/>
          </p:cNvSpPr>
          <p:nvPr/>
        </p:nvSpPr>
        <p:spPr>
          <a:xfrm xmlns:a="http://schemas.openxmlformats.org/drawingml/2006/main">
            <a:off x="685800" y="1047750"/>
            <a:ext cx="9334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3000" b="1">
                <a:solidFill>
                  <a:srgbClr val="0B2C7A"/>
                </a:solidFill>
                <a:latin typeface="Arial"/>
                <a:ea typeface="Arial"/>
                <a:cs typeface="Arial"/>
              </a:defRPr>
            </a:pPr>
            <a:r>
              <a:rPr sz="3000" b="1">
                <a:solidFill>
                  <a:srgbClr val="0B2C7A"/>
                </a:solidFill>
                <a:latin typeface="Arial"/>
                <a:ea typeface="Arial"/>
                <a:cs typeface="Arial"/>
              </a:rPr>
              <a:t>Brief intervention and referral</a:t>
            </a:r>
          </a:p>
        </p:txBody>
      </p:sp>
      <p:sp>
        <p:nvSpPr>
          <p:cNvPr id="3" name="">
            <a:extLst xmlns:a="http://schemas.openxmlformats.org/drawingml/2006/main">
              <a:ext uri="{FF2B5EF4-FFF2-40B4-BE49-F238E27FC236}">
                <a16:creationId xmlns:a16="http://schemas.microsoft.com/office/drawing/2014/main" id="{2774F649-10DF-4AC5-AF38-DC44A7E70464}"/>
              </a:ext>
            </a:extLst>
          </p:cNvPr>
          <p:cNvSpPr>
            <a:spLocks xmlns:a="http://schemas.openxmlformats.org/drawingml/2006/main" noGrp="1"/>
          </p:cNvSpPr>
          <p:nvPr/>
        </p:nvSpPr>
        <p:spPr>
          <a:xfrm xmlns:a="http://schemas.openxmlformats.org/drawingml/2006/main">
            <a:off x="685800" y="2333625"/>
            <a:ext cx="10096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875" b="1">
                <a:solidFill>
                  <a:srgbClr val="17223B"/>
                </a:solidFill>
                <a:latin typeface="Arial"/>
                <a:ea typeface="Arial"/>
                <a:cs typeface="Arial"/>
              </a:defRPr>
            </a:pPr>
            <a:r>
              <a:rPr sz="1875" b="1">
                <a:solidFill>
                  <a:srgbClr val="17223B"/>
                </a:solidFill>
                <a:latin typeface="Arial"/>
                <a:ea typeface="Arial"/>
                <a:cs typeface="Arial"/>
              </a:rPr>
              <a:t>motivational conversation, harm reduction, referral matching, and documentation</a:t>
            </a:r>
          </a:p>
        </p:txBody>
      </p:sp>
      <p:sp>
        <p:nvSpPr>
          <p:cNvPr id="4" name="">
            <a:extLst xmlns:a="http://schemas.openxmlformats.org/drawingml/2006/main">
              <a:ext uri="{FF2B5EF4-FFF2-40B4-BE49-F238E27FC236}">
                <a16:creationId xmlns:a16="http://schemas.microsoft.com/office/drawing/2014/main" id="{4F15C9FD-9423-4504-AA13-0FCD7E0557D7}"/>
              </a:ext>
            </a:extLst>
          </p:cNvPr>
          <p:cNvSpPr>
            <a:spLocks xmlns:a="http://schemas.openxmlformats.org/drawingml/2006/main" noGrp="1"/>
          </p:cNvSpPr>
          <p:nvPr/>
        </p:nvSpPr>
        <p:spPr>
          <a:xfrm xmlns:a="http://schemas.openxmlformats.org/drawingml/2006/main">
            <a:off x="685800" y="3714750"/>
            <a:ext cx="100012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650">
                <a:solidFill>
                  <a:srgbClr val="17223B"/>
                </a:solidFill>
                <a:latin typeface="Arial"/>
                <a:ea typeface="Arial"/>
                <a:cs typeface="Arial"/>
              </a:defRPr>
            </a:pPr>
            <a:r>
              <a:rPr sz="1650">
                <a:solidFill>
                  <a:srgbClr val="17223B"/>
                </a:solidFill>
                <a:latin typeface="Arial"/>
                <a:ea typeface="Arial"/>
                <a:cs typeface="Arial"/>
              </a:rPr>
              <a:t>This module covers motivational conversation, harm reduction, referral matching, and documentation. Work from the learner guide to separate observed information from assumptions, involve the person or community appropriately, and use supervision or local policy when the decision falls outside your authority.</a:t>
            </a:r>
          </a:p>
        </p:txBody>
      </p:sp>
      <p:sp>
        <p:nvSpPr>
          <p:cNvPr id="5" name="">
            <a:extLst xmlns:a="http://schemas.openxmlformats.org/drawingml/2006/main">
              <a:ext uri="{FF2B5EF4-FFF2-40B4-BE49-F238E27FC236}">
                <a16:creationId xmlns:a16="http://schemas.microsoft.com/office/drawing/2014/main" id="{1A8FBEB3-D02A-4DAC-9C3F-DD2812D93CCF}"/>
              </a:ext>
            </a:extLst>
          </p:cNvPr>
          <p:cNvSpPr>
            <a:spLocks xmlns:a="http://schemas.openxmlformats.org/drawingml/2006/main" noGrp="1"/>
          </p:cNvSpPr>
          <p:nvPr/>
        </p:nvSpPr>
        <p:spPr>
          <a:xfrm xmlns:a="http://schemas.openxmlformats.org/drawingml/2006/main">
            <a:off x="685800" y="5381625"/>
            <a:ext cx="9810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350">
                <a:solidFill>
                  <a:srgbClr val="52617D"/>
                </a:solidFill>
                <a:latin typeface="Arial"/>
                <a:ea typeface="Arial"/>
                <a:cs typeface="Arial"/>
              </a:defRPr>
            </a:pPr>
            <a:r>
              <a:rPr sz="1350">
                <a:solidFill>
                  <a:srgbClr val="52617D"/>
                </a:solidFill>
                <a:latin typeface="Arial"/>
                <a:ea typeface="Arial"/>
                <a:cs typeface="Arial"/>
              </a:rPr>
              <a:t>Reflection: What information do you need to verify, and where would your local procedure set a limit or escalation point?</a:t>
            </a:r>
          </a:p>
        </p:txBody>
      </p:sp>
      <p:sp>
        <p:nvSpPr>
          <p:cNvPr id="6" name="">
            <a:extLst xmlns:a="http://schemas.openxmlformats.org/drawingml/2006/main">
              <a:ext uri="{FF2B5EF4-FFF2-40B4-BE49-F238E27FC236}">
                <a16:creationId xmlns:a16="http://schemas.microsoft.com/office/drawing/2014/main" id="{A3BFD03C-E6BD-46EC-AE9D-7591C2774A46}"/>
              </a:ext>
            </a:extLst>
          </p:cNvPr>
          <p:cNvSpPr>
            <a:spLocks xmlns:a="http://schemas.openxmlformats.org/drawingml/2006/main" noGrp="1"/>
          </p:cNvSpPr>
          <p:nvPr/>
        </p:nvSpPr>
        <p:spPr>
          <a:xfrm xmlns:a="http://schemas.openxmlformats.org/drawingml/2006/main">
            <a:off x="666750" y="6419850"/>
            <a:ext cx="571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6111"/>
          </a:bodyPr>
          <a:lstStyle xmlns:a="http://schemas.openxmlformats.org/drawingml/2006/main"/>
          <a:p xmlns:a="http://schemas.openxmlformats.org/drawingml/2006/main">
            <a:pPr>
              <a:defRPr sz="900">
                <a:solidFill>
                  <a:srgbClr val="52617D"/>
                </a:solidFill>
                <a:latin typeface="Arial"/>
                <a:ea typeface="Arial"/>
                <a:cs typeface="Arial"/>
              </a:defRPr>
            </a:pPr>
            <a:r>
              <a:rPr sz="900">
                <a:solidFill>
                  <a:srgbClr val="52617D"/>
                </a:solidFill>
                <a:latin typeface="Arial"/>
                <a:ea typeface="Arial"/>
                <a:cs typeface="Arial"/>
              </a:rPr>
              <a:t>undefined   SWEEP Academy</a:t>
            </a:r>
          </a:p>
        </p:txBody>
      </p:sp>
      <p:sp>
        <p:nvSpPr>
          <p:cNvPr id="7" name="">
            <a:extLst xmlns:a="http://schemas.openxmlformats.org/drawingml/2006/main">
              <a:ext uri="{FF2B5EF4-FFF2-40B4-BE49-F238E27FC236}">
                <a16:creationId xmlns:a16="http://schemas.microsoft.com/office/drawing/2014/main" id="{1294CCE1-1908-4061-96C0-2531C614F762}"/>
              </a:ext>
            </a:extLst>
          </p:cNvPr>
          <p:cNvSpPr>
            <a:spLocks xmlns:a="http://schemas.openxmlformats.org/drawingml/2006/main" noGrp="1"/>
          </p:cNvSpPr>
          <p:nvPr/>
        </p:nvSpPr>
        <p:spPr>
          <a:xfrm xmlns:a="http://schemas.openxmlformats.org/drawingml/2006/main">
            <a:off x="11049000" y="6419850"/>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6111"/>
          </a:bodyPr>
          <a:lstStyle xmlns:a="http://schemas.openxmlformats.org/drawingml/2006/main"/>
          <a:p xmlns:a="http://schemas.openxmlformats.org/drawingml/2006/main">
            <a:pPr algn="r">
              <a:defRPr sz="900">
                <a:solidFill>
                  <a:srgbClr val="52617D"/>
                </a:solidFill>
                <a:latin typeface="Arial"/>
                <a:ea typeface="Arial"/>
                <a:cs typeface="Arial"/>
              </a:defRPr>
            </a:pPr>
            <a:r>
              <a:rPr sz="900">
                <a:solidFill>
                  <a:srgbClr val="52617D"/>
                </a:solidFill>
                <a:latin typeface="Arial"/>
                <a:ea typeface="Arial"/>
                <a:cs typeface="Arial"/>
              </a:rPr>
              <a:t>05</a:t>
            </a:r>
          </a:p>
        </p:txBody>
      </p:sp>
    </p:spTree>
    <p:extLst>
      <p:ext uri="{BB962C8B-B14F-4D97-AF65-F5344CB8AC3E}">
        <p14:creationId xmlns:p14="http://schemas.microsoft.com/office/powerpoint/2010/main" val="1258815324"/>
      </p:ext>
    </p:extLst>
  </p:cSld>
</p:sld>
</file>

<file path=ppt/slides/slide6.xml><?xml version="1.0" encoding="utf-8"?>
<p:sld xmlns:p="http://schemas.openxmlformats.org/presentationml/2006/main">
  <p:cSld>
    <p:bg>
      <p:bgPr>
        <a:solidFill xmlns:a="http://schemas.openxmlformats.org/drawingml/2006/main">
          <a:srgbClr val="FAF8F2"/>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57B6344F-8B49-4B5C-A192-5DF0B25DDAB8}"/>
              </a:ext>
            </a:extLst>
          </p:cNvPr>
          <p:cNvSpPr>
            <a:spLocks xmlns:a="http://schemas.openxmlformats.org/drawingml/2006/main" noGrp="1"/>
          </p:cNvSpPr>
          <p:nvPr/>
        </p:nvSpPr>
        <p:spPr>
          <a:xfrm xmlns:a="http://schemas.openxmlformats.org/drawingml/2006/main">
            <a:off x="685800" y="647700"/>
            <a:ext cx="10001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700" b="1">
                <a:solidFill>
                  <a:srgbClr val="0B2C7A"/>
                </a:solidFill>
                <a:latin typeface="Arial"/>
                <a:ea typeface="Arial"/>
                <a:cs typeface="Arial"/>
              </a:defRPr>
            </a:pPr>
            <a:r>
              <a:rPr sz="2700" b="1">
                <a:solidFill>
                  <a:srgbClr val="0B2C7A"/>
                </a:solidFill>
                <a:latin typeface="Arial"/>
                <a:ea typeface="Arial"/>
                <a:cs typeface="Arial"/>
              </a:rPr>
              <a:t>Practice activity and assessment preparation</a:t>
            </a:r>
          </a:p>
        </p:txBody>
      </p:sp>
      <p:sp>
        <p:nvSpPr>
          <p:cNvPr id="2" name="">
            <a:extLst xmlns:a="http://schemas.openxmlformats.org/drawingml/2006/main">
              <a:ext uri="{FF2B5EF4-FFF2-40B4-BE49-F238E27FC236}">
                <a16:creationId xmlns:a16="http://schemas.microsoft.com/office/drawing/2014/main" id="{933E49FD-25EF-467F-AC1D-9D059CC0F3F5}"/>
              </a:ext>
            </a:extLst>
          </p:cNvPr>
          <p:cNvSpPr>
            <a:spLocks xmlns:a="http://schemas.openxmlformats.org/drawingml/2006/main" noGrp="1"/>
          </p:cNvSpPr>
          <p:nvPr/>
        </p:nvSpPr>
        <p:spPr>
          <a:xfrm xmlns:a="http://schemas.openxmlformats.org/drawingml/2006/main">
            <a:off x="685800" y="1695450"/>
            <a:ext cx="99060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800">
                <a:solidFill>
                  <a:srgbClr val="17223B"/>
                </a:solidFill>
                <a:latin typeface="Arial"/>
                <a:ea typeface="Arial"/>
                <a:cs typeface="Arial"/>
              </a:defRPr>
            </a:pPr>
            <a:r>
              <a:rPr sz="1800">
                <a:solidFill>
                  <a:srgbClr val="17223B"/>
                </a:solidFill>
                <a:latin typeface="Arial"/>
                <a:ea typeface="Arial"/>
                <a:cs typeface="Arial"/>
              </a:rPr>
              <a:t>Use the course worksheet to apply the three modules to a de-identified case. Describe what you notice, the action that sits within your role, and what needs consultation, referral, or verification.</a:t>
            </a:r>
          </a:p>
        </p:txBody>
      </p:sp>
      <p:sp>
        <p:nvSpPr>
          <p:cNvPr id="3" name="">
            <a:extLst xmlns:a="http://schemas.openxmlformats.org/drawingml/2006/main">
              <a:ext uri="{FF2B5EF4-FFF2-40B4-BE49-F238E27FC236}">
                <a16:creationId xmlns:a16="http://schemas.microsoft.com/office/drawing/2014/main" id="{EC500221-7ED2-4F9C-A9D9-B3231A88D13D}"/>
              </a:ext>
            </a:extLst>
          </p:cNvPr>
          <p:cNvSpPr>
            <a:spLocks xmlns:a="http://schemas.openxmlformats.org/drawingml/2006/main" noGrp="1"/>
          </p:cNvSpPr>
          <p:nvPr/>
        </p:nvSpPr>
        <p:spPr>
          <a:xfrm xmlns:a="http://schemas.openxmlformats.org/drawingml/2006/main">
            <a:off x="685800" y="3524250"/>
            <a:ext cx="2476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2424"/>
          </a:bodyPr>
          <a:lstStyle xmlns:a="http://schemas.openxmlformats.org/drawingml/2006/main"/>
          <a:p xmlns:a="http://schemas.openxmlformats.org/drawingml/2006/main">
            <a:pPr>
              <a:defRPr sz="1650" b="1">
                <a:solidFill>
                  <a:srgbClr val="4C8B1D"/>
                </a:solidFill>
                <a:latin typeface="Arial"/>
                <a:ea typeface="Arial"/>
                <a:cs typeface="Arial"/>
              </a:defRPr>
            </a:pPr>
            <a:r>
              <a:rPr sz="1650" b="1">
                <a:solidFill>
                  <a:srgbClr val="4C8B1D"/>
                </a:solidFill>
                <a:latin typeface="Arial"/>
                <a:ea typeface="Arial"/>
                <a:cs typeface="Arial"/>
              </a:rPr>
              <a:t>Assessment focus</a:t>
            </a:r>
          </a:p>
        </p:txBody>
      </p:sp>
      <p:sp>
        <p:nvSpPr>
          <p:cNvPr id="4" name="">
            <a:extLst xmlns:a="http://schemas.openxmlformats.org/drawingml/2006/main">
              <a:ext uri="{FF2B5EF4-FFF2-40B4-BE49-F238E27FC236}">
                <a16:creationId xmlns:a16="http://schemas.microsoft.com/office/drawing/2014/main" id="{23B4AE15-F723-42E3-9967-933513D0366C}"/>
              </a:ext>
            </a:extLst>
          </p:cNvPr>
          <p:cNvSpPr>
            <a:spLocks xmlns:a="http://schemas.openxmlformats.org/drawingml/2006/main" noGrp="1"/>
          </p:cNvSpPr>
          <p:nvPr/>
        </p:nvSpPr>
        <p:spPr>
          <a:xfrm xmlns:a="http://schemas.openxmlformats.org/drawingml/2006/main">
            <a:off x="685800" y="4048125"/>
            <a:ext cx="8763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650">
                <a:solidFill>
                  <a:srgbClr val="17223B"/>
                </a:solidFill>
                <a:latin typeface="Arial"/>
                <a:ea typeface="Arial"/>
                <a:cs typeface="Arial"/>
              </a:defRPr>
            </a:pPr>
            <a:r>
              <a:rPr sz="1650">
                <a:solidFill>
                  <a:srgbClr val="17223B"/>
                </a:solidFill>
                <a:latin typeface="Arial"/>
                <a:ea typeface="Arial"/>
                <a:cs typeface="Arial"/>
              </a:rPr>
              <a:t>1. SBIRT sequence</a:t>
            </a:r>
          </a:p>
          <a:p xmlns:a="http://schemas.openxmlformats.org/drawingml/2006/main">
            <a:pPr>
              <a:defRPr sz="1650">
                <a:solidFill>
                  <a:srgbClr val="17223B"/>
                </a:solidFill>
                <a:latin typeface="Arial"/>
                <a:ea typeface="Arial"/>
                <a:cs typeface="Arial"/>
              </a:defRPr>
            </a:pPr>
            <a:r>
              <a:rPr sz="1650">
                <a:solidFill>
                  <a:srgbClr val="17223B"/>
                </a:solidFill>
                <a:latin typeface="Arial"/>
                <a:ea typeface="Arial"/>
                <a:cs typeface="Arial"/>
              </a:rPr>
              <a:t>2. interpretation</a:t>
            </a:r>
          </a:p>
          <a:p xmlns:a="http://schemas.openxmlformats.org/drawingml/2006/main">
            <a:pPr>
              <a:defRPr sz="1650">
                <a:solidFill>
                  <a:srgbClr val="17223B"/>
                </a:solidFill>
                <a:latin typeface="Arial"/>
                <a:ea typeface="Arial"/>
                <a:cs typeface="Arial"/>
              </a:defRPr>
            </a:pPr>
            <a:r>
              <a:rPr sz="1650">
                <a:solidFill>
                  <a:srgbClr val="17223B"/>
                </a:solidFill>
                <a:latin typeface="Arial"/>
                <a:ea typeface="Arial"/>
                <a:cs typeface="Arial"/>
              </a:rPr>
              <a:t>3. harm reduction</a:t>
            </a:r>
          </a:p>
          <a:p xmlns:a="http://schemas.openxmlformats.org/drawingml/2006/main">
            <a:pPr>
              <a:defRPr sz="1650">
                <a:solidFill>
                  <a:srgbClr val="17223B"/>
                </a:solidFill>
                <a:latin typeface="Arial"/>
                <a:ea typeface="Arial"/>
                <a:cs typeface="Arial"/>
              </a:defRPr>
            </a:pPr>
            <a:r>
              <a:rPr sz="1650">
                <a:solidFill>
                  <a:srgbClr val="17223B"/>
                </a:solidFill>
                <a:latin typeface="Arial"/>
                <a:ea typeface="Arial"/>
                <a:cs typeface="Arial"/>
              </a:rPr>
              <a:t>4. referral</a:t>
            </a:r>
          </a:p>
        </p:txBody>
      </p:sp>
      <p:sp>
        <p:nvSpPr>
          <p:cNvPr id="5" name="">
            <a:extLst xmlns:a="http://schemas.openxmlformats.org/drawingml/2006/main">
              <a:ext uri="{FF2B5EF4-FFF2-40B4-BE49-F238E27FC236}">
                <a16:creationId xmlns:a16="http://schemas.microsoft.com/office/drawing/2014/main" id="{F7ED1770-D709-4348-80B4-BAE5A6AE5D14}"/>
              </a:ext>
            </a:extLst>
          </p:cNvPr>
          <p:cNvSpPr>
            <a:spLocks xmlns:a="http://schemas.openxmlformats.org/drawingml/2006/main" noGrp="1"/>
          </p:cNvSpPr>
          <p:nvPr/>
        </p:nvSpPr>
        <p:spPr>
          <a:xfrm xmlns:a="http://schemas.openxmlformats.org/drawingml/2006/main">
            <a:off x="685800" y="5638800"/>
            <a:ext cx="2571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350" b="1">
                <a:solidFill>
                  <a:srgbClr val="F5A400"/>
                </a:solidFill>
                <a:latin typeface="Arial"/>
                <a:ea typeface="Arial"/>
                <a:cs typeface="Arial"/>
              </a:defRPr>
            </a:pPr>
            <a:r>
              <a:rPr sz="1350" b="1">
                <a:solidFill>
                  <a:srgbClr val="F5A400"/>
                </a:solidFill>
                <a:latin typeface="Arial"/>
                <a:ea typeface="Arial"/>
                <a:cs typeface="Arial"/>
              </a:rPr>
              <a:t>Pass mark: 70%</a:t>
            </a:r>
          </a:p>
        </p:txBody>
      </p:sp>
      <p:sp>
        <p:nvSpPr>
          <p:cNvPr id="6" name="">
            <a:extLst xmlns:a="http://schemas.openxmlformats.org/drawingml/2006/main">
              <a:ext uri="{FF2B5EF4-FFF2-40B4-BE49-F238E27FC236}">
                <a16:creationId xmlns:a16="http://schemas.microsoft.com/office/drawing/2014/main" id="{A0E1C267-6136-4766-97FC-83D72BFAF3DC}"/>
              </a:ext>
            </a:extLst>
          </p:cNvPr>
          <p:cNvSpPr>
            <a:spLocks xmlns:a="http://schemas.openxmlformats.org/drawingml/2006/main" noGrp="1"/>
          </p:cNvSpPr>
          <p:nvPr/>
        </p:nvSpPr>
        <p:spPr>
          <a:xfrm xmlns:a="http://schemas.openxmlformats.org/drawingml/2006/main">
            <a:off x="666750" y="6419850"/>
            <a:ext cx="571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6111"/>
          </a:bodyPr>
          <a:lstStyle xmlns:a="http://schemas.openxmlformats.org/drawingml/2006/main"/>
          <a:p xmlns:a="http://schemas.openxmlformats.org/drawingml/2006/main">
            <a:pPr>
              <a:defRPr sz="900">
                <a:solidFill>
                  <a:srgbClr val="52617D"/>
                </a:solidFill>
                <a:latin typeface="Arial"/>
                <a:ea typeface="Arial"/>
                <a:cs typeface="Arial"/>
              </a:defRPr>
            </a:pPr>
            <a:r>
              <a:rPr sz="900">
                <a:solidFill>
                  <a:srgbClr val="52617D"/>
                </a:solidFill>
                <a:latin typeface="Arial"/>
                <a:ea typeface="Arial"/>
                <a:cs typeface="Arial"/>
              </a:rPr>
              <a:t>undefined   SWEEP Academy</a:t>
            </a:r>
          </a:p>
        </p:txBody>
      </p:sp>
      <p:sp>
        <p:nvSpPr>
          <p:cNvPr id="7" name="">
            <a:extLst xmlns:a="http://schemas.openxmlformats.org/drawingml/2006/main">
              <a:ext uri="{FF2B5EF4-FFF2-40B4-BE49-F238E27FC236}">
                <a16:creationId xmlns:a16="http://schemas.microsoft.com/office/drawing/2014/main" id="{3F94C518-D31D-4B17-8BA5-850C1444E2DC}"/>
              </a:ext>
            </a:extLst>
          </p:cNvPr>
          <p:cNvSpPr>
            <a:spLocks xmlns:a="http://schemas.openxmlformats.org/drawingml/2006/main" noGrp="1"/>
          </p:cNvSpPr>
          <p:nvPr/>
        </p:nvSpPr>
        <p:spPr>
          <a:xfrm xmlns:a="http://schemas.openxmlformats.org/drawingml/2006/main">
            <a:off x="11049000" y="6419850"/>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6111"/>
          </a:bodyPr>
          <a:lstStyle xmlns:a="http://schemas.openxmlformats.org/drawingml/2006/main"/>
          <a:p xmlns:a="http://schemas.openxmlformats.org/drawingml/2006/main">
            <a:pPr algn="r">
              <a:defRPr sz="900">
                <a:solidFill>
                  <a:srgbClr val="52617D"/>
                </a:solidFill>
                <a:latin typeface="Arial"/>
                <a:ea typeface="Arial"/>
                <a:cs typeface="Arial"/>
              </a:defRPr>
            </a:pPr>
            <a:r>
              <a:rPr sz="900">
                <a:solidFill>
                  <a:srgbClr val="52617D"/>
                </a:solidFill>
                <a:latin typeface="Arial"/>
                <a:ea typeface="Arial"/>
                <a:cs typeface="Arial"/>
              </a:rPr>
              <a:t>06</a:t>
            </a:r>
          </a:p>
        </p:txBody>
      </p:sp>
    </p:spTree>
    <p:extLst>
      <p:ext uri="{BB962C8B-B14F-4D97-AF65-F5344CB8AC3E}">
        <p14:creationId xmlns:p14="http://schemas.microsoft.com/office/powerpoint/2010/main" val="90213936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2026-10-03T16:20:48.5080000Z</dcterms:created>
  <dcterms:modified xsi:type="dcterms:W3CDTF">2026-10-03T16:20:48.5080000Z</dcterms:modified>
</coreProperties>
</file>