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3422cc8cecc14d41" /><Relationship Type="http://schemas.openxmlformats.org/officeDocument/2006/relationships/extended-properties" Target="/docProps/app.xml" Id="Ra3939bcdf48e410b" /><Relationship Type="http://schemas.openxmlformats.org/officeDocument/2006/relationships/officeDocument" Target="/ppt/presentation.xml" Id="R96fe0bbbdd0f4d64" /></Relationships>
</file>

<file path=ppt/presentation.xml><?xml version="1.0" encoding="utf-8"?>
<p:presentation xmlns:p="http://schemas.openxmlformats.org/presentationml/2006/main">
  <p:sldMasterIdLst>
    <p:sldMasterId xmlns:r="http://schemas.openxmlformats.org/officeDocument/2006/relationships" id="2147483648" r:id="R83931d3b6c334eb1"/>
  </p:sldMasterIdLst>
  <p:notesMasterIdLst>
    <p:notesMasterId xmlns:r="http://schemas.openxmlformats.org/officeDocument/2006/relationships" r:id="R3f65e28878854ad6"/>
  </p:notesMasterIdLst>
  <p:sldIdLst>
    <p:sldId xmlns:r="http://schemas.openxmlformats.org/officeDocument/2006/relationships" id="256" r:id="Re855a5c885b24c79"/>
    <p:sldId xmlns:r="http://schemas.openxmlformats.org/officeDocument/2006/relationships" id="257" r:id="R316d9e6de7fd4b84"/>
    <p:sldId xmlns:r="http://schemas.openxmlformats.org/officeDocument/2006/relationships" id="258" r:id="R83685fd09aec469c"/>
    <p:sldId xmlns:r="http://schemas.openxmlformats.org/officeDocument/2006/relationships" id="259" r:id="R8a88af5b1dc543f0"/>
    <p:sldId xmlns:r="http://schemas.openxmlformats.org/officeDocument/2006/relationships" id="260" r:id="R86621d9bfda74dd4"/>
    <p:sldId xmlns:r="http://schemas.openxmlformats.org/officeDocument/2006/relationships" id="261" r:id="Rde2ffd52ffcd4afc"/>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0a7cefbc030f47c2" /><Relationship Type="http://schemas.openxmlformats.org/officeDocument/2006/relationships/slideMaster" Target="/ppt/slideMasters/slideMaster1.xml" Id="R83931d3b6c334eb1" /><Relationship Type="http://schemas.openxmlformats.org/officeDocument/2006/relationships/notesMaster" Target="/ppt/notesMasters/notesMaster1.xml" Id="R3f65e28878854ad6" /><Relationship Type="http://schemas.openxmlformats.org/officeDocument/2006/relationships/presProps" Target="/ppt/presProps.xml" Id="R4dc76d5ec7624461" /><Relationship Type="http://schemas.openxmlformats.org/officeDocument/2006/relationships/tableStyles" Target="/ppt/tableStyles.xml" Id="R71bfff01e4034c07" /><Relationship Type="http://schemas.openxmlformats.org/officeDocument/2006/relationships/slide" Target="/ppt/slides/slide1.xml" Id="Re855a5c885b24c79" /><Relationship Type="http://schemas.openxmlformats.org/officeDocument/2006/relationships/slide" Target="/ppt/slides/slide2.xml" Id="R316d9e6de7fd4b84" /><Relationship Type="http://schemas.openxmlformats.org/officeDocument/2006/relationships/slide" Target="/ppt/slides/slide3.xml" Id="R83685fd09aec469c" /><Relationship Type="http://schemas.openxmlformats.org/officeDocument/2006/relationships/slide" Target="/ppt/slides/slide4.xml" Id="R8a88af5b1dc543f0" /><Relationship Type="http://schemas.openxmlformats.org/officeDocument/2006/relationships/slide" Target="/ppt/slides/slide5.xml" Id="R86621d9bfda74dd4" /><Relationship Type="http://schemas.openxmlformats.org/officeDocument/2006/relationships/slide" Target="/ppt/slides/slide6.xml" Id="Rde2ffd52ffcd4afc"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86bdbd05dff94bf7"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85e4c4b823f94b26" /><Relationship Type="http://schemas.openxmlformats.org/officeDocument/2006/relationships/notesMaster" Target="/ppt/notesMasters/notesMaster1.xml" Id="Re0bf995501164b4f" /></Relationships>
</file>

<file path=ppt/notesSlides/_rels/notesSlide2.xml.rels>&#65279;<?xml version="1.0" encoding="utf-8"?><Relationships xmlns="http://schemas.openxmlformats.org/package/2006/relationships"><Relationship Type="http://schemas.openxmlformats.org/officeDocument/2006/relationships/slide" Target="/ppt/slides/slide2.xml" Id="R926482e15a644d48" /><Relationship Type="http://schemas.openxmlformats.org/officeDocument/2006/relationships/notesMaster" Target="/ppt/notesMasters/notesMaster1.xml" Id="R56ce8ca46ea847f4" /></Relationships>
</file>

<file path=ppt/notesSlides/_rels/notesSlide3.xml.rels>&#65279;<?xml version="1.0" encoding="utf-8"?><Relationships xmlns="http://schemas.openxmlformats.org/package/2006/relationships"><Relationship Type="http://schemas.openxmlformats.org/officeDocument/2006/relationships/slide" Target="/ppt/slides/slide3.xml" Id="R6099b28bb8864ece" /><Relationship Type="http://schemas.openxmlformats.org/officeDocument/2006/relationships/notesMaster" Target="/ppt/notesMasters/notesMaster1.xml" Id="R8279ee835ee64de0" /></Relationships>
</file>

<file path=ppt/notesSlides/_rels/notesSlide4.xml.rels>&#65279;<?xml version="1.0" encoding="utf-8"?><Relationships xmlns="http://schemas.openxmlformats.org/package/2006/relationships"><Relationship Type="http://schemas.openxmlformats.org/officeDocument/2006/relationships/slide" Target="/ppt/slides/slide4.xml" Id="R003093eb4c37449c" /><Relationship Type="http://schemas.openxmlformats.org/officeDocument/2006/relationships/notesMaster" Target="/ppt/notesMasters/notesMaster1.xml" Id="Rf25d995acc144ca3" /></Relationships>
</file>

<file path=ppt/notesSlides/_rels/notesSlide5.xml.rels>&#65279;<?xml version="1.0" encoding="utf-8"?><Relationships xmlns="http://schemas.openxmlformats.org/package/2006/relationships"><Relationship Type="http://schemas.openxmlformats.org/officeDocument/2006/relationships/slide" Target="/ppt/slides/slide5.xml" Id="R75b6e1f6d723455a" /><Relationship Type="http://schemas.openxmlformats.org/officeDocument/2006/relationships/notesMaster" Target="/ppt/notesMasters/notesMaster1.xml" Id="Rf4a822d33a10423a" /></Relationships>
</file>

<file path=ppt/notesSlides/_rels/notesSlide6.xml.rels>&#65279;<?xml version="1.0" encoding="utf-8"?><Relationships xmlns="http://schemas.openxmlformats.org/package/2006/relationships"><Relationship Type="http://schemas.openxmlformats.org/officeDocument/2006/relationships/slide" Target="/ppt/slides/slide6.xml" Id="R04e1004e5c6c47ac" /><Relationship Type="http://schemas.openxmlformats.org/officeDocument/2006/relationships/notesMaster" Target="/ppt/notesMasters/notesMaster1.xml" Id="R0bcea5a7413b421a"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SWEEP Academy Course Content Outlines, approved catalogue. Cover slide. The deck uses a SWEEP Academy generated illustration as the cover background. Facilitators must confirm local law, policy, and referral routes before delivery.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SWEEP Academy Course Content Outlines, approved catalogue. Course outcome and delivery safeguard. The deck uses a SWEEP Academy generated illustration as the cover background. Facilitators must confirm local law, policy, and referral routes before delivery.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SWEEP Academy Course Content Outlines, approved catalogue. Module 1 teaching slide. The deck uses a SWEEP Academy generated illustration as the cover background. Facilitators must confirm local law, policy, and referral routes before delivery.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SWEEP Academy Course Content Outlines, approved catalogue. Module 2 teaching slide. The deck uses a SWEEP Academy generated illustration as the cover background. Facilitators must confirm local law, policy, and referral routes before delivery.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SWEEP Academy Course Content Outlines, approved catalogue. Module 3 teaching slide. The deck uses a SWEEP Academy generated illustration as the cover background. Facilitators must confirm local law, policy, and referral routes before delivery.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SWEEP Academy Course Content Outlines, approved catalogue. Practice activity and assessment preparation. The deck uses a SWEEP Academy generated illustration as the cover background. Facilitators must confirm local law, policy, and referral routes before delivery.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08547543508d4b84"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0113436e7e3741ab" /><Relationship Type="http://schemas.openxmlformats.org/officeDocument/2006/relationships/slideLayout" Target="/ppt/slideLayouts/slideLayout1.xml" Id="Rd2f67890ae8945fa"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d2f67890ae8945fa"/>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fb05a2cba1b3446f" /><Relationship Type="http://schemas.openxmlformats.org/officeDocument/2006/relationships/image" Target="/ppt/media/image.png" Id="Ref0eb15fb1704488" /><Relationship Type="http://schemas.openxmlformats.org/officeDocument/2006/relationships/notesSlide" Target="/ppt/notesSlides/notesSlide1.xml" Id="Rb27a5fa4fb0845a4"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f4085cae2f39421d" /><Relationship Type="http://schemas.openxmlformats.org/officeDocument/2006/relationships/notesSlide" Target="/ppt/notesSlides/notesSlide2.xml" Id="Rad3e4daaf77b4f27"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9fb89a3ec20c402f" /><Relationship Type="http://schemas.openxmlformats.org/officeDocument/2006/relationships/notesSlide" Target="/ppt/notesSlides/notesSlide3.xml" Id="R498943eff9b64a07"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108e6a37b052410d" /><Relationship Type="http://schemas.openxmlformats.org/officeDocument/2006/relationships/notesSlide" Target="/ppt/notesSlides/notesSlide4.xml" Id="R230451b0c13e48f4"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5a37d2e6e1f94ca7" /><Relationship Type="http://schemas.openxmlformats.org/officeDocument/2006/relationships/notesSlide" Target="/ppt/notesSlides/notesSlide5.xml" Id="Ra314dbb74fb64833"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a9023b66f3db49be" /><Relationship Type="http://schemas.openxmlformats.org/officeDocument/2006/relationships/notesSlide" Target="/ppt/notesSlides/notesSlide6.xml" Id="R96ca2aa835d843dc" /></Relationships>
</file>

<file path=ppt/slides/slide1.xml><?xml version="1.0" encoding="utf-8"?>
<p:sld xmlns:p="http://schemas.openxmlformats.org/presentationml/2006/main">
  <p:cSld>
    <p:bg>
      <p:bgPr>
        <a:solidFill xmlns:a="http://schemas.openxmlformats.org/drawingml/2006/main">
          <a:srgbClr val="071D52"/>
        </a:solidFill>
      </p:bgPr>
    </p:bg>
    <p:spTree>
      <p:nvGrpSpPr>
        <p:cNvPr id="1" name=""/>
        <p:cNvGrpSpPr/>
        <p:nvPr/>
      </p:nvGrpSpPr>
      <p:grpSpPr>
        <a:xfrm xmlns:a="http://schemas.openxmlformats.org/drawingml/2006/main"/>
      </p:grpSpPr>
      <p:pic>
        <p:nvPicPr>
          <p:cNvPr id="5" name=""/>
          <p:cNvPicPr>
            <a:picLocks xmlns:a="http://schemas.openxmlformats.org/drawingml/2006/main" noChangeAspect="1"/>
          </p:cNvPicPr>
          <p:nvPr/>
        </p:nvPicPr>
        <p:blipFill>
          <a:blip xmlns:r="http://schemas.openxmlformats.org/officeDocument/2006/relationships" xmlns:a="http://schemas.openxmlformats.org/drawingml/2006/main" r:embed="Ref0eb15fb1704488"/>
          <a:srcRect xmlns:a="http://schemas.openxmlformats.org/drawingml/2006/main" l="0" t="27" r="0" b="27"/>
          <a:stretch xmlns:a="http://schemas.openxmlformats.org/drawingml/2006/main">
            <a:fillRect l="0" t="0" r="0" b="0"/>
          </a:stretch>
        </p:blipFill>
        <p:spPr>
          <a:xfrm xmlns:a="http://schemas.openxmlformats.org/drawingml/2006/main">
            <a:off x="0" y="0"/>
            <a:ext cx="12192000" cy="6858000"/>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B7534ABB-817C-43A3-A07E-3BEF20A50062}"/>
              </a:ext>
            </a:extLst>
          </p:cNvPr>
          <p:cNvSpPr>
            <a:spLocks xmlns:a="http://schemas.openxmlformats.org/drawingml/2006/main" noGrp="1"/>
          </p:cNvSpPr>
          <p:nvPr/>
        </p:nvSpPr>
        <p:spPr>
          <a:xfrm xmlns:a="http://schemas.openxmlformats.org/drawingml/2006/main">
            <a:off x="685800" y="1238250"/>
            <a:ext cx="5905500" cy="1714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defRPr sz="3900" b="1">
                <a:solidFill>
                  <a:srgbClr val="FFFFFF"/>
                </a:solidFill>
                <a:latin typeface="Arial"/>
                <a:ea typeface="Arial"/>
                <a:cs typeface="Arial"/>
              </a:defRPr>
            </a:pPr>
            <a:r>
              <a:rPr sz="3900" b="1">
                <a:solidFill>
                  <a:srgbClr val="FFFFFF"/>
                </a:solidFill>
                <a:latin typeface="Arial"/>
                <a:ea typeface="Arial"/>
                <a:cs typeface="Arial"/>
              </a:rPr>
              <a:t>Community Organizing &amp; Coalition Building</a:t>
            </a:r>
          </a:p>
        </p:txBody>
      </p:sp>
      <p:sp>
        <p:nvSpPr>
          <p:cNvPr id="3" name="">
            <a:extLst xmlns:a="http://schemas.openxmlformats.org/drawingml/2006/main">
              <a:ext uri="{FF2B5EF4-FFF2-40B4-BE49-F238E27FC236}">
                <a16:creationId xmlns:a16="http://schemas.microsoft.com/office/drawing/2014/main" id="{D64046F6-1AF3-4EC2-BAB4-60E1E91DE328}"/>
              </a:ext>
            </a:extLst>
          </p:cNvPr>
          <p:cNvSpPr>
            <a:spLocks xmlns:a="http://schemas.openxmlformats.org/drawingml/2006/main" noGrp="1"/>
          </p:cNvSpPr>
          <p:nvPr/>
        </p:nvSpPr>
        <p:spPr>
          <a:xfrm xmlns:a="http://schemas.openxmlformats.org/drawingml/2006/main">
            <a:off x="704850" y="3333750"/>
            <a:ext cx="45720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defRPr sz="1500">
                <a:solidFill>
                  <a:srgbClr val="FFFFFF"/>
                </a:solidFill>
                <a:latin typeface="Arial"/>
                <a:ea typeface="Arial"/>
                <a:cs typeface="Arial"/>
              </a:defRPr>
            </a:pPr>
            <a:r>
              <a:rPr sz="1500">
                <a:solidFill>
                  <a:srgbClr val="FFFFFF"/>
                </a:solidFill>
                <a:latin typeface="Arial"/>
                <a:ea typeface="Arial"/>
                <a:cs typeface="Arial"/>
              </a:rPr>
              <a:t>School of Community &amp; Macro Practice</a:t>
            </a:r>
          </a:p>
          <a:p xmlns:a="http://schemas.openxmlformats.org/drawingml/2006/main">
            <a:pPr>
              <a:defRPr sz="1500">
                <a:solidFill>
                  <a:srgbClr val="FFFFFF"/>
                </a:solidFill>
                <a:latin typeface="Arial"/>
                <a:ea typeface="Arial"/>
                <a:cs typeface="Arial"/>
              </a:defRPr>
            </a:pPr>
            <a:r>
              <a:rPr sz="1500">
                <a:solidFill>
                  <a:srgbClr val="FFFFFF"/>
                </a:solidFill>
                <a:latin typeface="Arial"/>
                <a:ea typeface="Arial"/>
                <a:cs typeface="Arial"/>
              </a:rPr>
              <a:t>undefined</a:t>
            </a:r>
          </a:p>
        </p:txBody>
      </p:sp>
      <p:sp>
        <p:nvSpPr>
          <p:cNvPr id="4" name="">
            <a:extLst xmlns:a="http://schemas.openxmlformats.org/drawingml/2006/main">
              <a:ext uri="{FF2B5EF4-FFF2-40B4-BE49-F238E27FC236}">
                <a16:creationId xmlns:a16="http://schemas.microsoft.com/office/drawing/2014/main" id="{29B5FE40-50FD-481C-B034-32887A9A1DAE}"/>
              </a:ext>
            </a:extLst>
          </p:cNvPr>
          <p:cNvSpPr>
            <a:spLocks xmlns:a="http://schemas.openxmlformats.org/drawingml/2006/main" noGrp="1"/>
          </p:cNvSpPr>
          <p:nvPr/>
        </p:nvSpPr>
        <p:spPr>
          <a:xfrm xmlns:a="http://schemas.openxmlformats.org/drawingml/2006/main">
            <a:off x="704850" y="5953125"/>
            <a:ext cx="28575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defRPr sz="1275" b="1">
                <a:solidFill>
                  <a:srgbClr val="FFFFFF"/>
                </a:solidFill>
                <a:latin typeface="Arial"/>
                <a:ea typeface="Arial"/>
                <a:cs typeface="Arial"/>
              </a:defRPr>
            </a:pPr>
            <a:r>
              <a:rPr sz="1275" b="1">
                <a:solidFill>
                  <a:srgbClr val="FFFFFF"/>
                </a:solidFill>
                <a:latin typeface="Arial"/>
                <a:ea typeface="Arial"/>
                <a:cs typeface="Arial"/>
              </a:rPr>
              <a:t>SWEEP Academy</a:t>
            </a:r>
          </a:p>
        </p:txBody>
      </p:sp>
    </p:spTree>
    <p:extLst>
      <p:ext uri="{BB962C8B-B14F-4D97-AF65-F5344CB8AC3E}">
        <p14:creationId xmlns:p14="http://schemas.microsoft.com/office/powerpoint/2010/main" val="545262075"/>
      </p:ext>
    </p:extLst>
  </p:cSld>
</p:sld>
</file>

<file path=ppt/slides/slide2.xml><?xml version="1.0" encoding="utf-8"?>
<p:sld xmlns:p="http://schemas.openxmlformats.org/presentationml/2006/main">
  <p:cSld>
    <p:bg>
      <p:bgPr>
        <a:solidFill xmlns:a="http://schemas.openxmlformats.org/drawingml/2006/main">
          <a:srgbClr val="FAF8F2"/>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E92A3B7A-7CBA-4C8B-BF82-2CC198DCFF66}"/>
              </a:ext>
            </a:extLst>
          </p:cNvPr>
          <p:cNvSpPr>
            <a:spLocks xmlns:a="http://schemas.openxmlformats.org/drawingml/2006/main" noGrp="1"/>
          </p:cNvSpPr>
          <p:nvPr/>
        </p:nvSpPr>
        <p:spPr>
          <a:xfrm xmlns:a="http://schemas.openxmlformats.org/drawingml/2006/main">
            <a:off x="685800" y="647700"/>
            <a:ext cx="81915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99561"/>
          </a:bodyPr>
          <a:lstStyle xmlns:a="http://schemas.openxmlformats.org/drawingml/2006/main"/>
          <a:p xmlns:a="http://schemas.openxmlformats.org/drawingml/2006/main">
            <a:pPr>
              <a:defRPr sz="2850" b="1">
                <a:solidFill>
                  <a:srgbClr val="0B2C7A"/>
                </a:solidFill>
                <a:latin typeface="Arial"/>
                <a:ea typeface="Arial"/>
                <a:cs typeface="Arial"/>
              </a:defRPr>
            </a:pPr>
            <a:r>
              <a:rPr sz="2850" b="1">
                <a:solidFill>
                  <a:srgbClr val="0B2C7A"/>
                </a:solidFill>
                <a:latin typeface="Arial"/>
                <a:ea typeface="Arial"/>
                <a:cs typeface="Arial"/>
              </a:rPr>
              <a:t>Course outcome</a:t>
            </a:r>
          </a:p>
        </p:txBody>
      </p:sp>
      <p:sp>
        <p:nvSpPr>
          <p:cNvPr id="2" name="">
            <a:extLst xmlns:a="http://schemas.openxmlformats.org/drawingml/2006/main">
              <a:ext uri="{FF2B5EF4-FFF2-40B4-BE49-F238E27FC236}">
                <a16:creationId xmlns:a16="http://schemas.microsoft.com/office/drawing/2014/main" id="{3E5FB31C-E607-4210-A49C-FC48D1295090}"/>
              </a:ext>
            </a:extLst>
          </p:cNvPr>
          <p:cNvSpPr>
            <a:spLocks xmlns:a="http://schemas.openxmlformats.org/drawingml/2006/main" noGrp="1"/>
          </p:cNvSpPr>
          <p:nvPr/>
        </p:nvSpPr>
        <p:spPr>
          <a:xfrm xmlns:a="http://schemas.openxmlformats.org/drawingml/2006/main">
            <a:off x="685800" y="1676400"/>
            <a:ext cx="9525000" cy="1428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defRPr sz="2400" b="1">
                <a:solidFill>
                  <a:srgbClr val="17223B"/>
                </a:solidFill>
                <a:latin typeface="Arial"/>
                <a:ea typeface="Arial"/>
                <a:cs typeface="Arial"/>
              </a:defRPr>
            </a:pPr>
            <a:r>
              <a:rPr sz="2400" b="1">
                <a:solidFill>
                  <a:srgbClr val="17223B"/>
                </a:solidFill>
                <a:latin typeface="Arial"/>
                <a:ea typeface="Arial"/>
                <a:cs typeface="Arial"/>
              </a:rPr>
              <a:t>Mobilise communities and partners around shared, achievable goals.</a:t>
            </a:r>
          </a:p>
        </p:txBody>
      </p:sp>
      <p:sp>
        <p:nvSpPr>
          <p:cNvPr id="3" name="">
            <a:extLst xmlns:a="http://schemas.openxmlformats.org/drawingml/2006/main">
              <a:ext uri="{FF2B5EF4-FFF2-40B4-BE49-F238E27FC236}">
                <a16:creationId xmlns:a16="http://schemas.microsoft.com/office/drawing/2014/main" id="{AC9D722B-0182-46FB-959A-1DA1A3AF86F6}"/>
              </a:ext>
            </a:extLst>
          </p:cNvPr>
          <p:cNvSpPr>
            <a:spLocks xmlns:a="http://schemas.openxmlformats.org/drawingml/2006/main" noGrp="1"/>
          </p:cNvSpPr>
          <p:nvPr/>
        </p:nvSpPr>
        <p:spPr>
          <a:xfrm xmlns:a="http://schemas.openxmlformats.org/drawingml/2006/main">
            <a:off x="685800" y="3810000"/>
            <a:ext cx="2286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defRPr sz="1500" b="1">
                <a:solidFill>
                  <a:srgbClr val="4C8B1D"/>
                </a:solidFill>
                <a:latin typeface="Arial"/>
                <a:ea typeface="Arial"/>
                <a:cs typeface="Arial"/>
              </a:defRPr>
            </a:pPr>
            <a:r>
              <a:rPr sz="1500" b="1">
                <a:solidFill>
                  <a:srgbClr val="4C8B1D"/>
                </a:solidFill>
                <a:latin typeface="Arial"/>
                <a:ea typeface="Arial"/>
                <a:cs typeface="Arial"/>
              </a:rPr>
              <a:t>Practice notice</a:t>
            </a:r>
          </a:p>
        </p:txBody>
      </p:sp>
      <p:sp>
        <p:nvSpPr>
          <p:cNvPr id="4" name="">
            <a:extLst xmlns:a="http://schemas.openxmlformats.org/drawingml/2006/main">
              <a:ext uri="{FF2B5EF4-FFF2-40B4-BE49-F238E27FC236}">
                <a16:creationId xmlns:a16="http://schemas.microsoft.com/office/drawing/2014/main" id="{3ACC7CD6-1826-47C1-B0BD-B7A186CA6291}"/>
              </a:ext>
            </a:extLst>
          </p:cNvPr>
          <p:cNvSpPr>
            <a:spLocks xmlns:a="http://schemas.openxmlformats.org/drawingml/2006/main" noGrp="1"/>
          </p:cNvSpPr>
          <p:nvPr/>
        </p:nvSpPr>
        <p:spPr>
          <a:xfrm xmlns:a="http://schemas.openxmlformats.org/drawingml/2006/main">
            <a:off x="685800" y="4286250"/>
            <a:ext cx="9906000"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defRPr sz="1575">
                <a:solidFill>
                  <a:srgbClr val="17223B"/>
                </a:solidFill>
                <a:latin typeface="Arial"/>
                <a:ea typeface="Arial"/>
                <a:cs typeface="Arial"/>
              </a:defRPr>
            </a:pPr>
            <a:r>
              <a:rPr sz="1575">
                <a:solidFill>
                  <a:srgbClr val="17223B"/>
                </a:solidFill>
                <a:latin typeface="Arial"/>
                <a:ea typeface="Arial"/>
                <a:cs typeface="Arial"/>
              </a:rPr>
              <a:t>Apply the law, organisational policy, supervision requirements, and approved referral pathways that govern your setting. This course supports learning and does not replace urgent safeguarding, clinical, or legal procedures.</a:t>
            </a:r>
          </a:p>
        </p:txBody>
      </p:sp>
      <p:sp>
        <p:nvSpPr>
          <p:cNvPr id="5" name="">
            <a:extLst xmlns:a="http://schemas.openxmlformats.org/drawingml/2006/main">
              <a:ext uri="{FF2B5EF4-FFF2-40B4-BE49-F238E27FC236}">
                <a16:creationId xmlns:a16="http://schemas.microsoft.com/office/drawing/2014/main" id="{537FA448-D05F-4A13-B868-7463865F2034}"/>
              </a:ext>
            </a:extLst>
          </p:cNvPr>
          <p:cNvSpPr>
            <a:spLocks xmlns:a="http://schemas.openxmlformats.org/drawingml/2006/main" noGrp="1"/>
          </p:cNvSpPr>
          <p:nvPr/>
        </p:nvSpPr>
        <p:spPr>
          <a:xfrm xmlns:a="http://schemas.openxmlformats.org/drawingml/2006/main">
            <a:off x="666750" y="6419850"/>
            <a:ext cx="5715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86111"/>
          </a:bodyPr>
          <a:lstStyle xmlns:a="http://schemas.openxmlformats.org/drawingml/2006/main"/>
          <a:p xmlns:a="http://schemas.openxmlformats.org/drawingml/2006/main">
            <a:pPr>
              <a:defRPr sz="900">
                <a:solidFill>
                  <a:srgbClr val="52617D"/>
                </a:solidFill>
                <a:latin typeface="Arial"/>
                <a:ea typeface="Arial"/>
                <a:cs typeface="Arial"/>
              </a:defRPr>
            </a:pPr>
            <a:r>
              <a:rPr sz="900">
                <a:solidFill>
                  <a:srgbClr val="52617D"/>
                </a:solidFill>
                <a:latin typeface="Arial"/>
                <a:ea typeface="Arial"/>
                <a:cs typeface="Arial"/>
              </a:rPr>
              <a:t>undefined   SWEEP Academy</a:t>
            </a:r>
          </a:p>
        </p:txBody>
      </p:sp>
      <p:sp>
        <p:nvSpPr>
          <p:cNvPr id="6" name="">
            <a:extLst xmlns:a="http://schemas.openxmlformats.org/drawingml/2006/main">
              <a:ext uri="{FF2B5EF4-FFF2-40B4-BE49-F238E27FC236}">
                <a16:creationId xmlns:a16="http://schemas.microsoft.com/office/drawing/2014/main" id="{1FEC82A5-CA28-4768-85A7-AACEE585BA3F}"/>
              </a:ext>
            </a:extLst>
          </p:cNvPr>
          <p:cNvSpPr>
            <a:spLocks xmlns:a="http://schemas.openxmlformats.org/drawingml/2006/main" noGrp="1"/>
          </p:cNvSpPr>
          <p:nvPr/>
        </p:nvSpPr>
        <p:spPr>
          <a:xfrm xmlns:a="http://schemas.openxmlformats.org/drawingml/2006/main">
            <a:off x="11049000" y="6419850"/>
            <a:ext cx="4762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86111"/>
          </a:bodyPr>
          <a:lstStyle xmlns:a="http://schemas.openxmlformats.org/drawingml/2006/main"/>
          <a:p xmlns:a="http://schemas.openxmlformats.org/drawingml/2006/main">
            <a:pPr algn="r">
              <a:defRPr sz="900">
                <a:solidFill>
                  <a:srgbClr val="52617D"/>
                </a:solidFill>
                <a:latin typeface="Arial"/>
                <a:ea typeface="Arial"/>
                <a:cs typeface="Arial"/>
              </a:defRPr>
            </a:pPr>
            <a:r>
              <a:rPr sz="900">
                <a:solidFill>
                  <a:srgbClr val="52617D"/>
                </a:solidFill>
                <a:latin typeface="Arial"/>
                <a:ea typeface="Arial"/>
                <a:cs typeface="Arial"/>
              </a:rPr>
              <a:t>02</a:t>
            </a:r>
          </a:p>
        </p:txBody>
      </p:sp>
    </p:spTree>
    <p:extLst>
      <p:ext uri="{BB962C8B-B14F-4D97-AF65-F5344CB8AC3E}">
        <p14:creationId xmlns:p14="http://schemas.microsoft.com/office/powerpoint/2010/main" val="254643325"/>
      </p:ext>
    </p:extLst>
  </p:cSld>
</p:sld>
</file>

<file path=ppt/slides/slide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10F2C98A-6D5F-46E9-B14D-F36177AD2CA4}"/>
              </a:ext>
            </a:extLst>
          </p:cNvPr>
          <p:cNvSpPr>
            <a:spLocks xmlns:a="http://schemas.openxmlformats.org/drawingml/2006/main" noGrp="1"/>
          </p:cNvSpPr>
          <p:nvPr/>
        </p:nvSpPr>
        <p:spPr>
          <a:xfrm xmlns:a="http://schemas.openxmlformats.org/drawingml/2006/main">
            <a:off x="685800" y="590550"/>
            <a:ext cx="28575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defRPr sz="1500" b="1">
                <a:solidFill>
                  <a:srgbClr val="4C8B1D"/>
                </a:solidFill>
                <a:latin typeface="Arial"/>
                <a:ea typeface="Arial"/>
                <a:cs typeface="Arial"/>
              </a:defRPr>
            </a:pPr>
            <a:r>
              <a:rPr sz="1500" b="1">
                <a:solidFill>
                  <a:srgbClr val="4C8B1D"/>
                </a:solidFill>
                <a:latin typeface="Arial"/>
                <a:ea typeface="Arial"/>
                <a:cs typeface="Arial"/>
              </a:rPr>
              <a:t>Module 1</a:t>
            </a:r>
          </a:p>
        </p:txBody>
      </p:sp>
      <p:sp>
        <p:nvSpPr>
          <p:cNvPr id="2" name="">
            <a:extLst xmlns:a="http://schemas.openxmlformats.org/drawingml/2006/main">
              <a:ext uri="{FF2B5EF4-FFF2-40B4-BE49-F238E27FC236}">
                <a16:creationId xmlns:a16="http://schemas.microsoft.com/office/drawing/2014/main" id="{4031ABBB-4BAF-4390-9AE4-FED97DD9C253}"/>
              </a:ext>
            </a:extLst>
          </p:cNvPr>
          <p:cNvSpPr>
            <a:spLocks xmlns:a="http://schemas.openxmlformats.org/drawingml/2006/main" noGrp="1"/>
          </p:cNvSpPr>
          <p:nvPr/>
        </p:nvSpPr>
        <p:spPr>
          <a:xfrm xmlns:a="http://schemas.openxmlformats.org/drawingml/2006/main">
            <a:off x="685800" y="1047750"/>
            <a:ext cx="93345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defRPr sz="3000" b="1">
                <a:solidFill>
                  <a:srgbClr val="0B2C7A"/>
                </a:solidFill>
                <a:latin typeface="Arial"/>
                <a:ea typeface="Arial"/>
                <a:cs typeface="Arial"/>
              </a:defRPr>
            </a:pPr>
            <a:r>
              <a:rPr sz="3000" b="1">
                <a:solidFill>
                  <a:srgbClr val="0B2C7A"/>
                </a:solidFill>
                <a:latin typeface="Arial"/>
                <a:ea typeface="Arial"/>
                <a:cs typeface="Arial"/>
              </a:rPr>
              <a:t>Organising foundations</a:t>
            </a:r>
          </a:p>
        </p:txBody>
      </p:sp>
      <p:sp>
        <p:nvSpPr>
          <p:cNvPr id="3" name="">
            <a:extLst xmlns:a="http://schemas.openxmlformats.org/drawingml/2006/main">
              <a:ext uri="{FF2B5EF4-FFF2-40B4-BE49-F238E27FC236}">
                <a16:creationId xmlns:a16="http://schemas.microsoft.com/office/drawing/2014/main" id="{31543EF2-F80E-40F1-A549-EF071060CB0D}"/>
              </a:ext>
            </a:extLst>
          </p:cNvPr>
          <p:cNvSpPr>
            <a:spLocks xmlns:a="http://schemas.openxmlformats.org/drawingml/2006/main" noGrp="1"/>
          </p:cNvSpPr>
          <p:nvPr/>
        </p:nvSpPr>
        <p:spPr>
          <a:xfrm xmlns:a="http://schemas.openxmlformats.org/drawingml/2006/main">
            <a:off x="685800" y="2333625"/>
            <a:ext cx="100965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defRPr sz="1875" b="1">
                <a:solidFill>
                  <a:srgbClr val="17223B"/>
                </a:solidFill>
                <a:latin typeface="Arial"/>
                <a:ea typeface="Arial"/>
                <a:cs typeface="Arial"/>
              </a:defRPr>
            </a:pPr>
            <a:r>
              <a:rPr sz="1875" b="1">
                <a:solidFill>
                  <a:srgbClr val="17223B"/>
                </a:solidFill>
                <a:latin typeface="Arial"/>
                <a:ea typeface="Arial"/>
                <a:cs typeface="Arial"/>
              </a:rPr>
              <a:t>power analysis, community leadership, issue selection, and trust building</a:t>
            </a:r>
          </a:p>
        </p:txBody>
      </p:sp>
      <p:sp>
        <p:nvSpPr>
          <p:cNvPr id="4" name="">
            <a:extLst xmlns:a="http://schemas.openxmlformats.org/drawingml/2006/main">
              <a:ext uri="{FF2B5EF4-FFF2-40B4-BE49-F238E27FC236}">
                <a16:creationId xmlns:a16="http://schemas.microsoft.com/office/drawing/2014/main" id="{65D1790C-E2F5-45E4-A6CF-FA7D9A169211}"/>
              </a:ext>
            </a:extLst>
          </p:cNvPr>
          <p:cNvSpPr>
            <a:spLocks xmlns:a="http://schemas.openxmlformats.org/drawingml/2006/main" noGrp="1"/>
          </p:cNvSpPr>
          <p:nvPr/>
        </p:nvSpPr>
        <p:spPr>
          <a:xfrm xmlns:a="http://schemas.openxmlformats.org/drawingml/2006/main">
            <a:off x="685800" y="3714750"/>
            <a:ext cx="10001250" cy="1381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defRPr sz="1650">
                <a:solidFill>
                  <a:srgbClr val="17223B"/>
                </a:solidFill>
                <a:latin typeface="Arial"/>
                <a:ea typeface="Arial"/>
                <a:cs typeface="Arial"/>
              </a:defRPr>
            </a:pPr>
            <a:r>
              <a:rPr sz="1650">
                <a:solidFill>
                  <a:srgbClr val="17223B"/>
                </a:solidFill>
                <a:latin typeface="Arial"/>
                <a:ea typeface="Arial"/>
                <a:cs typeface="Arial"/>
              </a:rPr>
              <a:t>This module covers power analysis, community leadership, issue selection, and trust building. Work from the learner guide to separate observed information from assumptions, involve the person or community appropriately, and use supervision or local policy when the decision falls outside your authority.</a:t>
            </a:r>
          </a:p>
        </p:txBody>
      </p:sp>
      <p:sp>
        <p:nvSpPr>
          <p:cNvPr id="5" name="">
            <a:extLst xmlns:a="http://schemas.openxmlformats.org/drawingml/2006/main">
              <a:ext uri="{FF2B5EF4-FFF2-40B4-BE49-F238E27FC236}">
                <a16:creationId xmlns:a16="http://schemas.microsoft.com/office/drawing/2014/main" id="{B62BBECB-B009-4B43-9147-4D6CF4150B8D}"/>
              </a:ext>
            </a:extLst>
          </p:cNvPr>
          <p:cNvSpPr>
            <a:spLocks xmlns:a="http://schemas.openxmlformats.org/drawingml/2006/main" noGrp="1"/>
          </p:cNvSpPr>
          <p:nvPr/>
        </p:nvSpPr>
        <p:spPr>
          <a:xfrm xmlns:a="http://schemas.openxmlformats.org/drawingml/2006/main">
            <a:off x="685800" y="5381625"/>
            <a:ext cx="9810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defRPr sz="1350">
                <a:solidFill>
                  <a:srgbClr val="52617D"/>
                </a:solidFill>
                <a:latin typeface="Arial"/>
                <a:ea typeface="Arial"/>
                <a:cs typeface="Arial"/>
              </a:defRPr>
            </a:pPr>
            <a:r>
              <a:rPr sz="1350">
                <a:solidFill>
                  <a:srgbClr val="52617D"/>
                </a:solidFill>
                <a:latin typeface="Arial"/>
                <a:ea typeface="Arial"/>
                <a:cs typeface="Arial"/>
              </a:rPr>
              <a:t>Reflection: What information do you need to verify, and where would your local procedure set a limit or escalation point?</a:t>
            </a:r>
          </a:p>
        </p:txBody>
      </p:sp>
      <p:sp>
        <p:nvSpPr>
          <p:cNvPr id="6" name="">
            <a:extLst xmlns:a="http://schemas.openxmlformats.org/drawingml/2006/main">
              <a:ext uri="{FF2B5EF4-FFF2-40B4-BE49-F238E27FC236}">
                <a16:creationId xmlns:a16="http://schemas.microsoft.com/office/drawing/2014/main" id="{6B9D690D-5803-48D2-A2FD-F1AED480FA0D}"/>
              </a:ext>
            </a:extLst>
          </p:cNvPr>
          <p:cNvSpPr>
            <a:spLocks xmlns:a="http://schemas.openxmlformats.org/drawingml/2006/main" noGrp="1"/>
          </p:cNvSpPr>
          <p:nvPr/>
        </p:nvSpPr>
        <p:spPr>
          <a:xfrm xmlns:a="http://schemas.openxmlformats.org/drawingml/2006/main">
            <a:off x="666750" y="6419850"/>
            <a:ext cx="5715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86111"/>
          </a:bodyPr>
          <a:lstStyle xmlns:a="http://schemas.openxmlformats.org/drawingml/2006/main"/>
          <a:p xmlns:a="http://schemas.openxmlformats.org/drawingml/2006/main">
            <a:pPr>
              <a:defRPr sz="900">
                <a:solidFill>
                  <a:srgbClr val="52617D"/>
                </a:solidFill>
                <a:latin typeface="Arial"/>
                <a:ea typeface="Arial"/>
                <a:cs typeface="Arial"/>
              </a:defRPr>
            </a:pPr>
            <a:r>
              <a:rPr sz="900">
                <a:solidFill>
                  <a:srgbClr val="52617D"/>
                </a:solidFill>
                <a:latin typeface="Arial"/>
                <a:ea typeface="Arial"/>
                <a:cs typeface="Arial"/>
              </a:rPr>
              <a:t>undefined   SWEEP Academy</a:t>
            </a:r>
          </a:p>
        </p:txBody>
      </p:sp>
      <p:sp>
        <p:nvSpPr>
          <p:cNvPr id="7" name="">
            <a:extLst xmlns:a="http://schemas.openxmlformats.org/drawingml/2006/main">
              <a:ext uri="{FF2B5EF4-FFF2-40B4-BE49-F238E27FC236}">
                <a16:creationId xmlns:a16="http://schemas.microsoft.com/office/drawing/2014/main" id="{5C980D97-F24C-479C-A740-A3A981013943}"/>
              </a:ext>
            </a:extLst>
          </p:cNvPr>
          <p:cNvSpPr>
            <a:spLocks xmlns:a="http://schemas.openxmlformats.org/drawingml/2006/main" noGrp="1"/>
          </p:cNvSpPr>
          <p:nvPr/>
        </p:nvSpPr>
        <p:spPr>
          <a:xfrm xmlns:a="http://schemas.openxmlformats.org/drawingml/2006/main">
            <a:off x="11049000" y="6419850"/>
            <a:ext cx="4762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86111"/>
          </a:bodyPr>
          <a:lstStyle xmlns:a="http://schemas.openxmlformats.org/drawingml/2006/main"/>
          <a:p xmlns:a="http://schemas.openxmlformats.org/drawingml/2006/main">
            <a:pPr algn="r">
              <a:defRPr sz="900">
                <a:solidFill>
                  <a:srgbClr val="52617D"/>
                </a:solidFill>
                <a:latin typeface="Arial"/>
                <a:ea typeface="Arial"/>
                <a:cs typeface="Arial"/>
              </a:defRPr>
            </a:pPr>
            <a:r>
              <a:rPr sz="900">
                <a:solidFill>
                  <a:srgbClr val="52617D"/>
                </a:solidFill>
                <a:latin typeface="Arial"/>
                <a:ea typeface="Arial"/>
                <a:cs typeface="Arial"/>
              </a:rPr>
              <a:t>03</a:t>
            </a:r>
          </a:p>
        </p:txBody>
      </p:sp>
    </p:spTree>
    <p:extLst>
      <p:ext uri="{BB962C8B-B14F-4D97-AF65-F5344CB8AC3E}">
        <p14:creationId xmlns:p14="http://schemas.microsoft.com/office/powerpoint/2010/main" val="1523844582"/>
      </p:ext>
    </p:extLst>
  </p:cSld>
</p:sld>
</file>

<file path=ppt/slides/slide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DFBBBC92-CAB4-4097-A84F-F52DC0E24908}"/>
              </a:ext>
            </a:extLst>
          </p:cNvPr>
          <p:cNvSpPr>
            <a:spLocks xmlns:a="http://schemas.openxmlformats.org/drawingml/2006/main" noGrp="1"/>
          </p:cNvSpPr>
          <p:nvPr/>
        </p:nvSpPr>
        <p:spPr>
          <a:xfrm xmlns:a="http://schemas.openxmlformats.org/drawingml/2006/main">
            <a:off x="685800" y="590550"/>
            <a:ext cx="28575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defRPr sz="1500" b="1">
                <a:solidFill>
                  <a:srgbClr val="4C8B1D"/>
                </a:solidFill>
                <a:latin typeface="Arial"/>
                <a:ea typeface="Arial"/>
                <a:cs typeface="Arial"/>
              </a:defRPr>
            </a:pPr>
            <a:r>
              <a:rPr sz="1500" b="1">
                <a:solidFill>
                  <a:srgbClr val="4C8B1D"/>
                </a:solidFill>
                <a:latin typeface="Arial"/>
                <a:ea typeface="Arial"/>
                <a:cs typeface="Arial"/>
              </a:rPr>
              <a:t>Module 2</a:t>
            </a:r>
          </a:p>
        </p:txBody>
      </p:sp>
      <p:sp>
        <p:nvSpPr>
          <p:cNvPr id="2" name="">
            <a:extLst xmlns:a="http://schemas.openxmlformats.org/drawingml/2006/main">
              <a:ext uri="{FF2B5EF4-FFF2-40B4-BE49-F238E27FC236}">
                <a16:creationId xmlns:a16="http://schemas.microsoft.com/office/drawing/2014/main" id="{BB408290-01C6-4496-AD7A-DFEF53648590}"/>
              </a:ext>
            </a:extLst>
          </p:cNvPr>
          <p:cNvSpPr>
            <a:spLocks xmlns:a="http://schemas.openxmlformats.org/drawingml/2006/main" noGrp="1"/>
          </p:cNvSpPr>
          <p:nvPr/>
        </p:nvSpPr>
        <p:spPr>
          <a:xfrm xmlns:a="http://schemas.openxmlformats.org/drawingml/2006/main">
            <a:off x="685800" y="1047750"/>
            <a:ext cx="93345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defRPr sz="3000" b="1">
                <a:solidFill>
                  <a:srgbClr val="0B2C7A"/>
                </a:solidFill>
                <a:latin typeface="Arial"/>
                <a:ea typeface="Arial"/>
                <a:cs typeface="Arial"/>
              </a:defRPr>
            </a:pPr>
            <a:r>
              <a:rPr sz="3000" b="1">
                <a:solidFill>
                  <a:srgbClr val="0B2C7A"/>
                </a:solidFill>
                <a:latin typeface="Arial"/>
                <a:ea typeface="Arial"/>
                <a:cs typeface="Arial"/>
              </a:rPr>
              <a:t>Coalition formation</a:t>
            </a:r>
          </a:p>
        </p:txBody>
      </p:sp>
      <p:sp>
        <p:nvSpPr>
          <p:cNvPr id="3" name="">
            <a:extLst xmlns:a="http://schemas.openxmlformats.org/drawingml/2006/main">
              <a:ext uri="{FF2B5EF4-FFF2-40B4-BE49-F238E27FC236}">
                <a16:creationId xmlns:a16="http://schemas.microsoft.com/office/drawing/2014/main" id="{DB8BB695-D56E-4C8A-AF64-16772418DE88}"/>
              </a:ext>
            </a:extLst>
          </p:cNvPr>
          <p:cNvSpPr>
            <a:spLocks xmlns:a="http://schemas.openxmlformats.org/drawingml/2006/main" noGrp="1"/>
          </p:cNvSpPr>
          <p:nvPr/>
        </p:nvSpPr>
        <p:spPr>
          <a:xfrm xmlns:a="http://schemas.openxmlformats.org/drawingml/2006/main">
            <a:off x="685800" y="2333625"/>
            <a:ext cx="100965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defRPr sz="1875" b="1">
                <a:solidFill>
                  <a:srgbClr val="17223B"/>
                </a:solidFill>
                <a:latin typeface="Arial"/>
                <a:ea typeface="Arial"/>
                <a:cs typeface="Arial"/>
              </a:defRPr>
            </a:pPr>
            <a:r>
              <a:rPr sz="1875" b="1">
                <a:solidFill>
                  <a:srgbClr val="17223B"/>
                </a:solidFill>
                <a:latin typeface="Arial"/>
                <a:ea typeface="Arial"/>
                <a:cs typeface="Arial"/>
              </a:rPr>
              <a:t>partners, roles, governance, communication, conflict management, and inclusion</a:t>
            </a:r>
          </a:p>
        </p:txBody>
      </p:sp>
      <p:sp>
        <p:nvSpPr>
          <p:cNvPr id="4" name="">
            <a:extLst xmlns:a="http://schemas.openxmlformats.org/drawingml/2006/main">
              <a:ext uri="{FF2B5EF4-FFF2-40B4-BE49-F238E27FC236}">
                <a16:creationId xmlns:a16="http://schemas.microsoft.com/office/drawing/2014/main" id="{DC7FD645-8A27-4231-B68D-68D03A6306F9}"/>
              </a:ext>
            </a:extLst>
          </p:cNvPr>
          <p:cNvSpPr>
            <a:spLocks xmlns:a="http://schemas.openxmlformats.org/drawingml/2006/main" noGrp="1"/>
          </p:cNvSpPr>
          <p:nvPr/>
        </p:nvSpPr>
        <p:spPr>
          <a:xfrm xmlns:a="http://schemas.openxmlformats.org/drawingml/2006/main">
            <a:off x="685800" y="3714750"/>
            <a:ext cx="10001250" cy="1381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defRPr sz="1650">
                <a:solidFill>
                  <a:srgbClr val="17223B"/>
                </a:solidFill>
                <a:latin typeface="Arial"/>
                <a:ea typeface="Arial"/>
                <a:cs typeface="Arial"/>
              </a:defRPr>
            </a:pPr>
            <a:r>
              <a:rPr sz="1650">
                <a:solidFill>
                  <a:srgbClr val="17223B"/>
                </a:solidFill>
                <a:latin typeface="Arial"/>
                <a:ea typeface="Arial"/>
                <a:cs typeface="Arial"/>
              </a:rPr>
              <a:t>This module covers partners, roles, governance, communication, conflict management, and inclusion. Work from the learner guide to separate observed information from assumptions, involve the person or community appropriately, and use supervision or local policy when the decision falls outside your authority.</a:t>
            </a:r>
          </a:p>
        </p:txBody>
      </p:sp>
      <p:sp>
        <p:nvSpPr>
          <p:cNvPr id="5" name="">
            <a:extLst xmlns:a="http://schemas.openxmlformats.org/drawingml/2006/main">
              <a:ext uri="{FF2B5EF4-FFF2-40B4-BE49-F238E27FC236}">
                <a16:creationId xmlns:a16="http://schemas.microsoft.com/office/drawing/2014/main" id="{6D1E826F-BD23-4616-8DAA-FD0F55F7C8A7}"/>
              </a:ext>
            </a:extLst>
          </p:cNvPr>
          <p:cNvSpPr>
            <a:spLocks xmlns:a="http://schemas.openxmlformats.org/drawingml/2006/main" noGrp="1"/>
          </p:cNvSpPr>
          <p:nvPr/>
        </p:nvSpPr>
        <p:spPr>
          <a:xfrm xmlns:a="http://schemas.openxmlformats.org/drawingml/2006/main">
            <a:off x="685800" y="5381625"/>
            <a:ext cx="9810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defRPr sz="1350">
                <a:solidFill>
                  <a:srgbClr val="52617D"/>
                </a:solidFill>
                <a:latin typeface="Arial"/>
                <a:ea typeface="Arial"/>
                <a:cs typeface="Arial"/>
              </a:defRPr>
            </a:pPr>
            <a:r>
              <a:rPr sz="1350">
                <a:solidFill>
                  <a:srgbClr val="52617D"/>
                </a:solidFill>
                <a:latin typeface="Arial"/>
                <a:ea typeface="Arial"/>
                <a:cs typeface="Arial"/>
              </a:rPr>
              <a:t>Reflection: What information do you need to verify, and where would your local procedure set a limit or escalation point?</a:t>
            </a:r>
          </a:p>
        </p:txBody>
      </p:sp>
      <p:sp>
        <p:nvSpPr>
          <p:cNvPr id="6" name="">
            <a:extLst xmlns:a="http://schemas.openxmlformats.org/drawingml/2006/main">
              <a:ext uri="{FF2B5EF4-FFF2-40B4-BE49-F238E27FC236}">
                <a16:creationId xmlns:a16="http://schemas.microsoft.com/office/drawing/2014/main" id="{8952EA6E-60C3-4B43-A67A-F58C1970601E}"/>
              </a:ext>
            </a:extLst>
          </p:cNvPr>
          <p:cNvSpPr>
            <a:spLocks xmlns:a="http://schemas.openxmlformats.org/drawingml/2006/main" noGrp="1"/>
          </p:cNvSpPr>
          <p:nvPr/>
        </p:nvSpPr>
        <p:spPr>
          <a:xfrm xmlns:a="http://schemas.openxmlformats.org/drawingml/2006/main">
            <a:off x="666750" y="6419850"/>
            <a:ext cx="5715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86111"/>
          </a:bodyPr>
          <a:lstStyle xmlns:a="http://schemas.openxmlformats.org/drawingml/2006/main"/>
          <a:p xmlns:a="http://schemas.openxmlformats.org/drawingml/2006/main">
            <a:pPr>
              <a:defRPr sz="900">
                <a:solidFill>
                  <a:srgbClr val="52617D"/>
                </a:solidFill>
                <a:latin typeface="Arial"/>
                <a:ea typeface="Arial"/>
                <a:cs typeface="Arial"/>
              </a:defRPr>
            </a:pPr>
            <a:r>
              <a:rPr sz="900">
                <a:solidFill>
                  <a:srgbClr val="52617D"/>
                </a:solidFill>
                <a:latin typeface="Arial"/>
                <a:ea typeface="Arial"/>
                <a:cs typeface="Arial"/>
              </a:rPr>
              <a:t>undefined   SWEEP Academy</a:t>
            </a:r>
          </a:p>
        </p:txBody>
      </p:sp>
      <p:sp>
        <p:nvSpPr>
          <p:cNvPr id="7" name="">
            <a:extLst xmlns:a="http://schemas.openxmlformats.org/drawingml/2006/main">
              <a:ext uri="{FF2B5EF4-FFF2-40B4-BE49-F238E27FC236}">
                <a16:creationId xmlns:a16="http://schemas.microsoft.com/office/drawing/2014/main" id="{FB85DD9F-1CB8-4A32-AA87-67C6C3A86121}"/>
              </a:ext>
            </a:extLst>
          </p:cNvPr>
          <p:cNvSpPr>
            <a:spLocks xmlns:a="http://schemas.openxmlformats.org/drawingml/2006/main" noGrp="1"/>
          </p:cNvSpPr>
          <p:nvPr/>
        </p:nvSpPr>
        <p:spPr>
          <a:xfrm xmlns:a="http://schemas.openxmlformats.org/drawingml/2006/main">
            <a:off x="11049000" y="6419850"/>
            <a:ext cx="4762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86111"/>
          </a:bodyPr>
          <a:lstStyle xmlns:a="http://schemas.openxmlformats.org/drawingml/2006/main"/>
          <a:p xmlns:a="http://schemas.openxmlformats.org/drawingml/2006/main">
            <a:pPr algn="r">
              <a:defRPr sz="900">
                <a:solidFill>
                  <a:srgbClr val="52617D"/>
                </a:solidFill>
                <a:latin typeface="Arial"/>
                <a:ea typeface="Arial"/>
                <a:cs typeface="Arial"/>
              </a:defRPr>
            </a:pPr>
            <a:r>
              <a:rPr sz="900">
                <a:solidFill>
                  <a:srgbClr val="52617D"/>
                </a:solidFill>
                <a:latin typeface="Arial"/>
                <a:ea typeface="Arial"/>
                <a:cs typeface="Arial"/>
              </a:rPr>
              <a:t>04</a:t>
            </a:r>
          </a:p>
        </p:txBody>
      </p:sp>
    </p:spTree>
    <p:extLst>
      <p:ext uri="{BB962C8B-B14F-4D97-AF65-F5344CB8AC3E}">
        <p14:creationId xmlns:p14="http://schemas.microsoft.com/office/powerpoint/2010/main" val="567309800"/>
      </p:ext>
    </p:extLst>
  </p:cSld>
</p:sld>
</file>

<file path=ppt/slides/slide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7A7F81FF-F9F3-4C22-903B-D8165A5617E9}"/>
              </a:ext>
            </a:extLst>
          </p:cNvPr>
          <p:cNvSpPr>
            <a:spLocks xmlns:a="http://schemas.openxmlformats.org/drawingml/2006/main" noGrp="1"/>
          </p:cNvSpPr>
          <p:nvPr/>
        </p:nvSpPr>
        <p:spPr>
          <a:xfrm xmlns:a="http://schemas.openxmlformats.org/drawingml/2006/main">
            <a:off x="685800" y="590550"/>
            <a:ext cx="28575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defRPr sz="1500" b="1">
                <a:solidFill>
                  <a:srgbClr val="4C8B1D"/>
                </a:solidFill>
                <a:latin typeface="Arial"/>
                <a:ea typeface="Arial"/>
                <a:cs typeface="Arial"/>
              </a:defRPr>
            </a:pPr>
            <a:r>
              <a:rPr sz="1500" b="1">
                <a:solidFill>
                  <a:srgbClr val="4C8B1D"/>
                </a:solidFill>
                <a:latin typeface="Arial"/>
                <a:ea typeface="Arial"/>
                <a:cs typeface="Arial"/>
              </a:rPr>
              <a:t>Module 3</a:t>
            </a:r>
          </a:p>
        </p:txBody>
      </p:sp>
      <p:sp>
        <p:nvSpPr>
          <p:cNvPr id="2" name="">
            <a:extLst xmlns:a="http://schemas.openxmlformats.org/drawingml/2006/main">
              <a:ext uri="{FF2B5EF4-FFF2-40B4-BE49-F238E27FC236}">
                <a16:creationId xmlns:a16="http://schemas.microsoft.com/office/drawing/2014/main" id="{FC31C0D3-3F53-45B5-861C-2647BFD7E6AE}"/>
              </a:ext>
            </a:extLst>
          </p:cNvPr>
          <p:cNvSpPr>
            <a:spLocks xmlns:a="http://schemas.openxmlformats.org/drawingml/2006/main" noGrp="1"/>
          </p:cNvSpPr>
          <p:nvPr/>
        </p:nvSpPr>
        <p:spPr>
          <a:xfrm xmlns:a="http://schemas.openxmlformats.org/drawingml/2006/main">
            <a:off x="685800" y="1047750"/>
            <a:ext cx="93345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defRPr sz="3000" b="1">
                <a:solidFill>
                  <a:srgbClr val="0B2C7A"/>
                </a:solidFill>
                <a:latin typeface="Arial"/>
                <a:ea typeface="Arial"/>
                <a:cs typeface="Arial"/>
              </a:defRPr>
            </a:pPr>
            <a:r>
              <a:rPr sz="3000" b="1">
                <a:solidFill>
                  <a:srgbClr val="0B2C7A"/>
                </a:solidFill>
                <a:latin typeface="Arial"/>
                <a:ea typeface="Arial"/>
                <a:cs typeface="Arial"/>
              </a:rPr>
              <a:t>Campaign action</a:t>
            </a:r>
          </a:p>
        </p:txBody>
      </p:sp>
      <p:sp>
        <p:nvSpPr>
          <p:cNvPr id="3" name="">
            <a:extLst xmlns:a="http://schemas.openxmlformats.org/drawingml/2006/main">
              <a:ext uri="{FF2B5EF4-FFF2-40B4-BE49-F238E27FC236}">
                <a16:creationId xmlns:a16="http://schemas.microsoft.com/office/drawing/2014/main" id="{245834DC-1300-446C-A6A6-98AE9BCAE856}"/>
              </a:ext>
            </a:extLst>
          </p:cNvPr>
          <p:cNvSpPr>
            <a:spLocks xmlns:a="http://schemas.openxmlformats.org/drawingml/2006/main" noGrp="1"/>
          </p:cNvSpPr>
          <p:nvPr/>
        </p:nvSpPr>
        <p:spPr>
          <a:xfrm xmlns:a="http://schemas.openxmlformats.org/drawingml/2006/main">
            <a:off x="685800" y="2333625"/>
            <a:ext cx="100965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defRPr sz="1875" b="1">
                <a:solidFill>
                  <a:srgbClr val="17223B"/>
                </a:solidFill>
                <a:latin typeface="Arial"/>
                <a:ea typeface="Arial"/>
                <a:cs typeface="Arial"/>
              </a:defRPr>
            </a:pPr>
            <a:r>
              <a:rPr sz="1875" b="1">
                <a:solidFill>
                  <a:srgbClr val="17223B"/>
                </a:solidFill>
                <a:latin typeface="Arial"/>
                <a:ea typeface="Arial"/>
                <a:cs typeface="Arial"/>
              </a:rPr>
              <a:t>strategy, tactics, mobilisation, evaluation, and sustainability</a:t>
            </a:r>
          </a:p>
        </p:txBody>
      </p:sp>
      <p:sp>
        <p:nvSpPr>
          <p:cNvPr id="4" name="">
            <a:extLst xmlns:a="http://schemas.openxmlformats.org/drawingml/2006/main">
              <a:ext uri="{FF2B5EF4-FFF2-40B4-BE49-F238E27FC236}">
                <a16:creationId xmlns:a16="http://schemas.microsoft.com/office/drawing/2014/main" id="{A17C8104-6298-4003-8249-13CD254A5ED9}"/>
              </a:ext>
            </a:extLst>
          </p:cNvPr>
          <p:cNvSpPr>
            <a:spLocks xmlns:a="http://schemas.openxmlformats.org/drawingml/2006/main" noGrp="1"/>
          </p:cNvSpPr>
          <p:nvPr/>
        </p:nvSpPr>
        <p:spPr>
          <a:xfrm xmlns:a="http://schemas.openxmlformats.org/drawingml/2006/main">
            <a:off x="685800" y="3714750"/>
            <a:ext cx="10001250" cy="1381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defRPr sz="1650">
                <a:solidFill>
                  <a:srgbClr val="17223B"/>
                </a:solidFill>
                <a:latin typeface="Arial"/>
                <a:ea typeface="Arial"/>
                <a:cs typeface="Arial"/>
              </a:defRPr>
            </a:pPr>
            <a:r>
              <a:rPr sz="1650">
                <a:solidFill>
                  <a:srgbClr val="17223B"/>
                </a:solidFill>
                <a:latin typeface="Arial"/>
                <a:ea typeface="Arial"/>
                <a:cs typeface="Arial"/>
              </a:rPr>
              <a:t>This module covers strategy, tactics, mobilisation, evaluation, and sustainability. Work from the learner guide to separate observed information from assumptions, involve the person or community appropriately, and use supervision or local policy when the decision falls outside your authority.</a:t>
            </a:r>
          </a:p>
        </p:txBody>
      </p:sp>
      <p:sp>
        <p:nvSpPr>
          <p:cNvPr id="5" name="">
            <a:extLst xmlns:a="http://schemas.openxmlformats.org/drawingml/2006/main">
              <a:ext uri="{FF2B5EF4-FFF2-40B4-BE49-F238E27FC236}">
                <a16:creationId xmlns:a16="http://schemas.microsoft.com/office/drawing/2014/main" id="{230FB094-BCF9-4768-852B-924778FFF525}"/>
              </a:ext>
            </a:extLst>
          </p:cNvPr>
          <p:cNvSpPr>
            <a:spLocks xmlns:a="http://schemas.openxmlformats.org/drawingml/2006/main" noGrp="1"/>
          </p:cNvSpPr>
          <p:nvPr/>
        </p:nvSpPr>
        <p:spPr>
          <a:xfrm xmlns:a="http://schemas.openxmlformats.org/drawingml/2006/main">
            <a:off x="685800" y="5381625"/>
            <a:ext cx="9810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defRPr sz="1350">
                <a:solidFill>
                  <a:srgbClr val="52617D"/>
                </a:solidFill>
                <a:latin typeface="Arial"/>
                <a:ea typeface="Arial"/>
                <a:cs typeface="Arial"/>
              </a:defRPr>
            </a:pPr>
            <a:r>
              <a:rPr sz="1350">
                <a:solidFill>
                  <a:srgbClr val="52617D"/>
                </a:solidFill>
                <a:latin typeface="Arial"/>
                <a:ea typeface="Arial"/>
                <a:cs typeface="Arial"/>
              </a:rPr>
              <a:t>Reflection: What information do you need to verify, and where would your local procedure set a limit or escalation point?</a:t>
            </a:r>
          </a:p>
        </p:txBody>
      </p:sp>
      <p:sp>
        <p:nvSpPr>
          <p:cNvPr id="6" name="">
            <a:extLst xmlns:a="http://schemas.openxmlformats.org/drawingml/2006/main">
              <a:ext uri="{FF2B5EF4-FFF2-40B4-BE49-F238E27FC236}">
                <a16:creationId xmlns:a16="http://schemas.microsoft.com/office/drawing/2014/main" id="{B7CAED7C-44BE-4881-96B9-EAA83F28DEA8}"/>
              </a:ext>
            </a:extLst>
          </p:cNvPr>
          <p:cNvSpPr>
            <a:spLocks xmlns:a="http://schemas.openxmlformats.org/drawingml/2006/main" noGrp="1"/>
          </p:cNvSpPr>
          <p:nvPr/>
        </p:nvSpPr>
        <p:spPr>
          <a:xfrm xmlns:a="http://schemas.openxmlformats.org/drawingml/2006/main">
            <a:off x="666750" y="6419850"/>
            <a:ext cx="5715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86111"/>
          </a:bodyPr>
          <a:lstStyle xmlns:a="http://schemas.openxmlformats.org/drawingml/2006/main"/>
          <a:p xmlns:a="http://schemas.openxmlformats.org/drawingml/2006/main">
            <a:pPr>
              <a:defRPr sz="900">
                <a:solidFill>
                  <a:srgbClr val="52617D"/>
                </a:solidFill>
                <a:latin typeface="Arial"/>
                <a:ea typeface="Arial"/>
                <a:cs typeface="Arial"/>
              </a:defRPr>
            </a:pPr>
            <a:r>
              <a:rPr sz="900">
                <a:solidFill>
                  <a:srgbClr val="52617D"/>
                </a:solidFill>
                <a:latin typeface="Arial"/>
                <a:ea typeface="Arial"/>
                <a:cs typeface="Arial"/>
              </a:rPr>
              <a:t>undefined   SWEEP Academy</a:t>
            </a:r>
          </a:p>
        </p:txBody>
      </p:sp>
      <p:sp>
        <p:nvSpPr>
          <p:cNvPr id="7" name="">
            <a:extLst xmlns:a="http://schemas.openxmlformats.org/drawingml/2006/main">
              <a:ext uri="{FF2B5EF4-FFF2-40B4-BE49-F238E27FC236}">
                <a16:creationId xmlns:a16="http://schemas.microsoft.com/office/drawing/2014/main" id="{C8C426C6-8B4F-454B-89A2-58B636A2D586}"/>
              </a:ext>
            </a:extLst>
          </p:cNvPr>
          <p:cNvSpPr>
            <a:spLocks xmlns:a="http://schemas.openxmlformats.org/drawingml/2006/main" noGrp="1"/>
          </p:cNvSpPr>
          <p:nvPr/>
        </p:nvSpPr>
        <p:spPr>
          <a:xfrm xmlns:a="http://schemas.openxmlformats.org/drawingml/2006/main">
            <a:off x="11049000" y="6419850"/>
            <a:ext cx="4762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86111"/>
          </a:bodyPr>
          <a:lstStyle xmlns:a="http://schemas.openxmlformats.org/drawingml/2006/main"/>
          <a:p xmlns:a="http://schemas.openxmlformats.org/drawingml/2006/main">
            <a:pPr algn="r">
              <a:defRPr sz="900">
                <a:solidFill>
                  <a:srgbClr val="52617D"/>
                </a:solidFill>
                <a:latin typeface="Arial"/>
                <a:ea typeface="Arial"/>
                <a:cs typeface="Arial"/>
              </a:defRPr>
            </a:pPr>
            <a:r>
              <a:rPr sz="900">
                <a:solidFill>
                  <a:srgbClr val="52617D"/>
                </a:solidFill>
                <a:latin typeface="Arial"/>
                <a:ea typeface="Arial"/>
                <a:cs typeface="Arial"/>
              </a:rPr>
              <a:t>05</a:t>
            </a:r>
          </a:p>
        </p:txBody>
      </p:sp>
    </p:spTree>
    <p:extLst>
      <p:ext uri="{BB962C8B-B14F-4D97-AF65-F5344CB8AC3E}">
        <p14:creationId xmlns:p14="http://schemas.microsoft.com/office/powerpoint/2010/main" val="311862739"/>
      </p:ext>
    </p:extLst>
  </p:cSld>
</p:sld>
</file>

<file path=ppt/slides/slide6.xml><?xml version="1.0" encoding="utf-8"?>
<p:sld xmlns:p="http://schemas.openxmlformats.org/presentationml/2006/main">
  <p:cSld>
    <p:bg>
      <p:bgPr>
        <a:solidFill xmlns:a="http://schemas.openxmlformats.org/drawingml/2006/main">
          <a:srgbClr val="FAF8F2"/>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9B79622F-CE80-4736-A88B-C319E46C2AAD}"/>
              </a:ext>
            </a:extLst>
          </p:cNvPr>
          <p:cNvSpPr>
            <a:spLocks xmlns:a="http://schemas.openxmlformats.org/drawingml/2006/main" noGrp="1"/>
          </p:cNvSpPr>
          <p:nvPr/>
        </p:nvSpPr>
        <p:spPr>
          <a:xfrm xmlns:a="http://schemas.openxmlformats.org/drawingml/2006/main">
            <a:off x="685800" y="647700"/>
            <a:ext cx="100012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defRPr sz="2700" b="1">
                <a:solidFill>
                  <a:srgbClr val="0B2C7A"/>
                </a:solidFill>
                <a:latin typeface="Arial"/>
                <a:ea typeface="Arial"/>
                <a:cs typeface="Arial"/>
              </a:defRPr>
            </a:pPr>
            <a:r>
              <a:rPr sz="2700" b="1">
                <a:solidFill>
                  <a:srgbClr val="0B2C7A"/>
                </a:solidFill>
                <a:latin typeface="Arial"/>
                <a:ea typeface="Arial"/>
                <a:cs typeface="Arial"/>
              </a:rPr>
              <a:t>Practice activity and assessment preparation</a:t>
            </a:r>
          </a:p>
        </p:txBody>
      </p:sp>
      <p:sp>
        <p:nvSpPr>
          <p:cNvPr id="2" name="">
            <a:extLst xmlns:a="http://schemas.openxmlformats.org/drawingml/2006/main">
              <a:ext uri="{FF2B5EF4-FFF2-40B4-BE49-F238E27FC236}">
                <a16:creationId xmlns:a16="http://schemas.microsoft.com/office/drawing/2014/main" id="{FC3ADB1C-CD6C-4F7E-B1EC-5499DE3CA360}"/>
              </a:ext>
            </a:extLst>
          </p:cNvPr>
          <p:cNvSpPr>
            <a:spLocks xmlns:a="http://schemas.openxmlformats.org/drawingml/2006/main" noGrp="1"/>
          </p:cNvSpPr>
          <p:nvPr/>
        </p:nvSpPr>
        <p:spPr>
          <a:xfrm xmlns:a="http://schemas.openxmlformats.org/drawingml/2006/main">
            <a:off x="685800" y="1695450"/>
            <a:ext cx="990600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defRPr sz="1800">
                <a:solidFill>
                  <a:srgbClr val="17223B"/>
                </a:solidFill>
                <a:latin typeface="Arial"/>
                <a:ea typeface="Arial"/>
                <a:cs typeface="Arial"/>
              </a:defRPr>
            </a:pPr>
            <a:r>
              <a:rPr sz="1800">
                <a:solidFill>
                  <a:srgbClr val="17223B"/>
                </a:solidFill>
                <a:latin typeface="Arial"/>
                <a:ea typeface="Arial"/>
                <a:cs typeface="Arial"/>
              </a:rPr>
              <a:t>Use the course worksheet to apply the three modules to a de-identified case. Describe what you notice, the action that sits within your role, and what needs consultation, referral, or verification.</a:t>
            </a:r>
          </a:p>
        </p:txBody>
      </p:sp>
      <p:sp>
        <p:nvSpPr>
          <p:cNvPr id="3" name="">
            <a:extLst xmlns:a="http://schemas.openxmlformats.org/drawingml/2006/main">
              <a:ext uri="{FF2B5EF4-FFF2-40B4-BE49-F238E27FC236}">
                <a16:creationId xmlns:a16="http://schemas.microsoft.com/office/drawing/2014/main" id="{F48F5ADD-4AA2-4E0C-B7CB-3C9DADCB9DD8}"/>
              </a:ext>
            </a:extLst>
          </p:cNvPr>
          <p:cNvSpPr>
            <a:spLocks xmlns:a="http://schemas.openxmlformats.org/drawingml/2006/main" noGrp="1"/>
          </p:cNvSpPr>
          <p:nvPr/>
        </p:nvSpPr>
        <p:spPr>
          <a:xfrm xmlns:a="http://schemas.openxmlformats.org/drawingml/2006/main">
            <a:off x="685800" y="3524250"/>
            <a:ext cx="2476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92424"/>
          </a:bodyPr>
          <a:lstStyle xmlns:a="http://schemas.openxmlformats.org/drawingml/2006/main"/>
          <a:p xmlns:a="http://schemas.openxmlformats.org/drawingml/2006/main">
            <a:pPr>
              <a:defRPr sz="1650" b="1">
                <a:solidFill>
                  <a:srgbClr val="4C8B1D"/>
                </a:solidFill>
                <a:latin typeface="Arial"/>
                <a:ea typeface="Arial"/>
                <a:cs typeface="Arial"/>
              </a:defRPr>
            </a:pPr>
            <a:r>
              <a:rPr sz="1650" b="1">
                <a:solidFill>
                  <a:srgbClr val="4C8B1D"/>
                </a:solidFill>
                <a:latin typeface="Arial"/>
                <a:ea typeface="Arial"/>
                <a:cs typeface="Arial"/>
              </a:rPr>
              <a:t>Assessment focus</a:t>
            </a:r>
          </a:p>
        </p:txBody>
      </p:sp>
      <p:sp>
        <p:nvSpPr>
          <p:cNvPr id="4" name="">
            <a:extLst xmlns:a="http://schemas.openxmlformats.org/drawingml/2006/main">
              <a:ext uri="{FF2B5EF4-FFF2-40B4-BE49-F238E27FC236}">
                <a16:creationId xmlns:a16="http://schemas.microsoft.com/office/drawing/2014/main" id="{ABE1F344-8977-4E72-A246-9DB90FA0C220}"/>
              </a:ext>
            </a:extLst>
          </p:cNvPr>
          <p:cNvSpPr>
            <a:spLocks xmlns:a="http://schemas.openxmlformats.org/drawingml/2006/main" noGrp="1"/>
          </p:cNvSpPr>
          <p:nvPr/>
        </p:nvSpPr>
        <p:spPr>
          <a:xfrm xmlns:a="http://schemas.openxmlformats.org/drawingml/2006/main">
            <a:off x="685800" y="4048125"/>
            <a:ext cx="8763000"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defRPr sz="1650">
                <a:solidFill>
                  <a:srgbClr val="17223B"/>
                </a:solidFill>
                <a:latin typeface="Arial"/>
                <a:ea typeface="Arial"/>
                <a:cs typeface="Arial"/>
              </a:defRPr>
            </a:pPr>
            <a:r>
              <a:rPr sz="1650">
                <a:solidFill>
                  <a:srgbClr val="17223B"/>
                </a:solidFill>
                <a:latin typeface="Arial"/>
                <a:ea typeface="Arial"/>
                <a:cs typeface="Arial"/>
              </a:rPr>
              <a:t>1. organising principles</a:t>
            </a:r>
          </a:p>
          <a:p xmlns:a="http://schemas.openxmlformats.org/drawingml/2006/main">
            <a:pPr>
              <a:defRPr sz="1650">
                <a:solidFill>
                  <a:srgbClr val="17223B"/>
                </a:solidFill>
                <a:latin typeface="Arial"/>
                <a:ea typeface="Arial"/>
                <a:cs typeface="Arial"/>
              </a:defRPr>
            </a:pPr>
            <a:r>
              <a:rPr sz="1650">
                <a:solidFill>
                  <a:srgbClr val="17223B"/>
                </a:solidFill>
                <a:latin typeface="Arial"/>
                <a:ea typeface="Arial"/>
                <a:cs typeface="Arial"/>
              </a:rPr>
              <a:t>2. coalition roles</a:t>
            </a:r>
          </a:p>
          <a:p xmlns:a="http://schemas.openxmlformats.org/drawingml/2006/main">
            <a:pPr>
              <a:defRPr sz="1650">
                <a:solidFill>
                  <a:srgbClr val="17223B"/>
                </a:solidFill>
                <a:latin typeface="Arial"/>
                <a:ea typeface="Arial"/>
                <a:cs typeface="Arial"/>
              </a:defRPr>
            </a:pPr>
            <a:r>
              <a:rPr sz="1650">
                <a:solidFill>
                  <a:srgbClr val="17223B"/>
                </a:solidFill>
                <a:latin typeface="Arial"/>
                <a:ea typeface="Arial"/>
                <a:cs typeface="Arial"/>
              </a:rPr>
              <a:t>3. ethical mobilisation</a:t>
            </a:r>
          </a:p>
        </p:txBody>
      </p:sp>
      <p:sp>
        <p:nvSpPr>
          <p:cNvPr id="5" name="">
            <a:extLst xmlns:a="http://schemas.openxmlformats.org/drawingml/2006/main">
              <a:ext uri="{FF2B5EF4-FFF2-40B4-BE49-F238E27FC236}">
                <a16:creationId xmlns:a16="http://schemas.microsoft.com/office/drawing/2014/main" id="{724A8389-AB18-409D-9BCE-F8539103F1AF}"/>
              </a:ext>
            </a:extLst>
          </p:cNvPr>
          <p:cNvSpPr>
            <a:spLocks xmlns:a="http://schemas.openxmlformats.org/drawingml/2006/main" noGrp="1"/>
          </p:cNvSpPr>
          <p:nvPr/>
        </p:nvSpPr>
        <p:spPr>
          <a:xfrm xmlns:a="http://schemas.openxmlformats.org/drawingml/2006/main">
            <a:off x="685800" y="5638800"/>
            <a:ext cx="25717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defRPr sz="1350" b="1">
                <a:solidFill>
                  <a:srgbClr val="F5A400"/>
                </a:solidFill>
                <a:latin typeface="Arial"/>
                <a:ea typeface="Arial"/>
                <a:cs typeface="Arial"/>
              </a:defRPr>
            </a:pPr>
            <a:r>
              <a:rPr sz="1350" b="1">
                <a:solidFill>
                  <a:srgbClr val="F5A400"/>
                </a:solidFill>
                <a:latin typeface="Arial"/>
                <a:ea typeface="Arial"/>
                <a:cs typeface="Arial"/>
              </a:rPr>
              <a:t>Pass mark: 70%</a:t>
            </a:r>
          </a:p>
        </p:txBody>
      </p:sp>
      <p:sp>
        <p:nvSpPr>
          <p:cNvPr id="6" name="">
            <a:extLst xmlns:a="http://schemas.openxmlformats.org/drawingml/2006/main">
              <a:ext uri="{FF2B5EF4-FFF2-40B4-BE49-F238E27FC236}">
                <a16:creationId xmlns:a16="http://schemas.microsoft.com/office/drawing/2014/main" id="{B99DC502-9E50-4A7C-8ACA-A5CF605571A8}"/>
              </a:ext>
            </a:extLst>
          </p:cNvPr>
          <p:cNvSpPr>
            <a:spLocks xmlns:a="http://schemas.openxmlformats.org/drawingml/2006/main" noGrp="1"/>
          </p:cNvSpPr>
          <p:nvPr/>
        </p:nvSpPr>
        <p:spPr>
          <a:xfrm xmlns:a="http://schemas.openxmlformats.org/drawingml/2006/main">
            <a:off x="666750" y="6419850"/>
            <a:ext cx="5715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86111"/>
          </a:bodyPr>
          <a:lstStyle xmlns:a="http://schemas.openxmlformats.org/drawingml/2006/main"/>
          <a:p xmlns:a="http://schemas.openxmlformats.org/drawingml/2006/main">
            <a:pPr>
              <a:defRPr sz="900">
                <a:solidFill>
                  <a:srgbClr val="52617D"/>
                </a:solidFill>
                <a:latin typeface="Arial"/>
                <a:ea typeface="Arial"/>
                <a:cs typeface="Arial"/>
              </a:defRPr>
            </a:pPr>
            <a:r>
              <a:rPr sz="900">
                <a:solidFill>
                  <a:srgbClr val="52617D"/>
                </a:solidFill>
                <a:latin typeface="Arial"/>
                <a:ea typeface="Arial"/>
                <a:cs typeface="Arial"/>
              </a:rPr>
              <a:t>undefined   SWEEP Academy</a:t>
            </a:r>
          </a:p>
        </p:txBody>
      </p:sp>
      <p:sp>
        <p:nvSpPr>
          <p:cNvPr id="7" name="">
            <a:extLst xmlns:a="http://schemas.openxmlformats.org/drawingml/2006/main">
              <a:ext uri="{FF2B5EF4-FFF2-40B4-BE49-F238E27FC236}">
                <a16:creationId xmlns:a16="http://schemas.microsoft.com/office/drawing/2014/main" id="{50FAC3A7-A513-417E-AF4F-9A715BF69E9C}"/>
              </a:ext>
            </a:extLst>
          </p:cNvPr>
          <p:cNvSpPr>
            <a:spLocks xmlns:a="http://schemas.openxmlformats.org/drawingml/2006/main" noGrp="1"/>
          </p:cNvSpPr>
          <p:nvPr/>
        </p:nvSpPr>
        <p:spPr>
          <a:xfrm xmlns:a="http://schemas.openxmlformats.org/drawingml/2006/main">
            <a:off x="11049000" y="6419850"/>
            <a:ext cx="4762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86111"/>
          </a:bodyPr>
          <a:lstStyle xmlns:a="http://schemas.openxmlformats.org/drawingml/2006/main"/>
          <a:p xmlns:a="http://schemas.openxmlformats.org/drawingml/2006/main">
            <a:pPr algn="r">
              <a:defRPr sz="900">
                <a:solidFill>
                  <a:srgbClr val="52617D"/>
                </a:solidFill>
                <a:latin typeface="Arial"/>
                <a:ea typeface="Arial"/>
                <a:cs typeface="Arial"/>
              </a:defRPr>
            </a:pPr>
            <a:r>
              <a:rPr sz="900">
                <a:solidFill>
                  <a:srgbClr val="52617D"/>
                </a:solidFill>
                <a:latin typeface="Arial"/>
                <a:ea typeface="Arial"/>
                <a:cs typeface="Arial"/>
              </a:rPr>
              <a:t>06</a:t>
            </a:r>
          </a:p>
        </p:txBody>
      </p:sp>
    </p:spTree>
    <p:extLst>
      <p:ext uri="{BB962C8B-B14F-4D97-AF65-F5344CB8AC3E}">
        <p14:creationId xmlns:p14="http://schemas.microsoft.com/office/powerpoint/2010/main" val="1375233220"/>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2026-10-03T16:21:40.6930000Z</dcterms:created>
  <dcterms:modified xsi:type="dcterms:W3CDTF">2026-10-03T16:21:40.6930000Z</dcterms:modified>
</coreProperties>
</file>