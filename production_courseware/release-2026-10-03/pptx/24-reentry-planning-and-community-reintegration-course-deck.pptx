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9dd7c48c1aa4ee5" /><Relationship Type="http://schemas.openxmlformats.org/officeDocument/2006/relationships/extended-properties" Target="/docProps/app.xml" Id="R61ce4db708704435" /><Relationship Type="http://schemas.openxmlformats.org/officeDocument/2006/relationships/officeDocument" Target="/ppt/presentation.xml" Id="R44a521f419b14c42" /></Relationships>
</file>

<file path=ppt/presentation.xml><?xml version="1.0" encoding="utf-8"?>
<p:presentation xmlns:p="http://schemas.openxmlformats.org/presentationml/2006/main">
  <p:sldMasterIdLst>
    <p:sldMasterId xmlns:r="http://schemas.openxmlformats.org/officeDocument/2006/relationships" id="2147483648" r:id="R355a778be5bc45c0"/>
  </p:sldMasterIdLst>
  <p:notesMasterIdLst>
    <p:notesMasterId xmlns:r="http://schemas.openxmlformats.org/officeDocument/2006/relationships" r:id="Rc48196722a3b4405"/>
  </p:notesMasterIdLst>
  <p:sldIdLst>
    <p:sldId xmlns:r="http://schemas.openxmlformats.org/officeDocument/2006/relationships" id="256" r:id="R36023334b7474d13"/>
    <p:sldId xmlns:r="http://schemas.openxmlformats.org/officeDocument/2006/relationships" id="257" r:id="Rc4c2553955914aa5"/>
    <p:sldId xmlns:r="http://schemas.openxmlformats.org/officeDocument/2006/relationships" id="258" r:id="Rf4f66c82d52543ec"/>
    <p:sldId xmlns:r="http://schemas.openxmlformats.org/officeDocument/2006/relationships" id="259" r:id="Rb3ad344783974695"/>
    <p:sldId xmlns:r="http://schemas.openxmlformats.org/officeDocument/2006/relationships" id="260" r:id="R034b7ac6bd28493d"/>
    <p:sldId xmlns:r="http://schemas.openxmlformats.org/officeDocument/2006/relationships" id="261" r:id="R41830cd35e5f49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d136d727ee43a7" /><Relationship Type="http://schemas.openxmlformats.org/officeDocument/2006/relationships/slideMaster" Target="/ppt/slideMasters/slideMaster1.xml" Id="R355a778be5bc45c0" /><Relationship Type="http://schemas.openxmlformats.org/officeDocument/2006/relationships/notesMaster" Target="/ppt/notesMasters/notesMaster1.xml" Id="Rc48196722a3b4405" /><Relationship Type="http://schemas.openxmlformats.org/officeDocument/2006/relationships/presProps" Target="/ppt/presProps.xml" Id="Ra459256608e54379" /><Relationship Type="http://schemas.openxmlformats.org/officeDocument/2006/relationships/tableStyles" Target="/ppt/tableStyles.xml" Id="R1d97df215f6847d6" /><Relationship Type="http://schemas.openxmlformats.org/officeDocument/2006/relationships/slide" Target="/ppt/slides/slide1.xml" Id="R36023334b7474d13" /><Relationship Type="http://schemas.openxmlformats.org/officeDocument/2006/relationships/slide" Target="/ppt/slides/slide2.xml" Id="Rc4c2553955914aa5" /><Relationship Type="http://schemas.openxmlformats.org/officeDocument/2006/relationships/slide" Target="/ppt/slides/slide3.xml" Id="Rf4f66c82d52543ec" /><Relationship Type="http://schemas.openxmlformats.org/officeDocument/2006/relationships/slide" Target="/ppt/slides/slide4.xml" Id="Rb3ad344783974695" /><Relationship Type="http://schemas.openxmlformats.org/officeDocument/2006/relationships/slide" Target="/ppt/slides/slide5.xml" Id="R034b7ac6bd28493d" /><Relationship Type="http://schemas.openxmlformats.org/officeDocument/2006/relationships/slide" Target="/ppt/slides/slide6.xml" Id="R41830cd35e5f49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3043ee1f6d41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2f646b841d4fad" /><Relationship Type="http://schemas.openxmlformats.org/officeDocument/2006/relationships/notesMaster" Target="/ppt/notesMasters/notesMaster1.xml" Id="Re11ce886a02d4af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3349eaef0c4c8a" /><Relationship Type="http://schemas.openxmlformats.org/officeDocument/2006/relationships/notesMaster" Target="/ppt/notesMasters/notesMaster1.xml" Id="R52ded3ee132248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e8a147c2934b4d" /><Relationship Type="http://schemas.openxmlformats.org/officeDocument/2006/relationships/notesMaster" Target="/ppt/notesMasters/notesMaster1.xml" Id="R7cdb945bf46a46d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ee22eb6255b43cf" /><Relationship Type="http://schemas.openxmlformats.org/officeDocument/2006/relationships/notesMaster" Target="/ppt/notesMasters/notesMaster1.xml" Id="R2a02682662384f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0106bf3def482f" /><Relationship Type="http://schemas.openxmlformats.org/officeDocument/2006/relationships/notesMaster" Target="/ppt/notesMasters/notesMaster1.xml" Id="R8250c93de08c44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5d8f07fd1d4eaf" /><Relationship Type="http://schemas.openxmlformats.org/officeDocument/2006/relationships/notesMaster" Target="/ppt/notesMasters/notesMaster1.xml" Id="R5ba4dfac0e3347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Cover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Course outcome and delivery safeguard.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1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2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Module 3 teaching slide.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SWEEP Academy Course Content Outlines, approved catalogue. Practice activity and assessment preparation. The deck uses a SWEEP Academy generated illustration as the cover background. Facilitators must confirm local law, policy, and referral routes before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194f4f8d5445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bdca078beb45fa" /><Relationship Type="http://schemas.openxmlformats.org/officeDocument/2006/relationships/slideLayout" Target="/ppt/slideLayouts/slideLayout1.xml" Id="Rc784f80fded74d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84f80fded74d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ac94b84727454b" /><Relationship Type="http://schemas.openxmlformats.org/officeDocument/2006/relationships/image" Target="/ppt/media/image.png" Id="R5079ea2d1d654d4c" /><Relationship Type="http://schemas.openxmlformats.org/officeDocument/2006/relationships/notesSlide" Target="/ppt/notesSlides/notesSlide1.xml" Id="Rf9ae530d7bcb49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976d16e9db4458e" /><Relationship Type="http://schemas.openxmlformats.org/officeDocument/2006/relationships/notesSlide" Target="/ppt/notesSlides/notesSlide2.xml" Id="R279a44ad3ad342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39b05e7dabb4d56" /><Relationship Type="http://schemas.openxmlformats.org/officeDocument/2006/relationships/notesSlide" Target="/ppt/notesSlides/notesSlide3.xml" Id="R11617a76a91541c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e88cb7c39c94942" /><Relationship Type="http://schemas.openxmlformats.org/officeDocument/2006/relationships/notesSlide" Target="/ppt/notesSlides/notesSlide4.xml" Id="R3d04f63dd2864e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aa45c7fe64f4b57" /><Relationship Type="http://schemas.openxmlformats.org/officeDocument/2006/relationships/notesSlide" Target="/ppt/notesSlides/notesSlide5.xml" Id="R5b6c8313e9fd48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6a1dfa3f3454728" /><Relationship Type="http://schemas.openxmlformats.org/officeDocument/2006/relationships/notesSlide" Target="/ppt/notesSlides/notesSlide6.xml" Id="Rf06cc24ab18e4ae8" /></Relationships>
</file>

<file path=ppt/slides/slide1.xml><?xml version="1.0" encoding="utf-8"?>
<p:sld xmlns:p="http://schemas.openxmlformats.org/presentationml/2006/main">
  <p:cSld>
    <p:bg>
      <p:bgPr>
        <a:solidFill xmlns:a="http://schemas.openxmlformats.org/drawingml/2006/main">
          <a:srgbClr val="071D52"/>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5079ea2d1d654d4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F985A74-510C-4536-B77D-106BE3E2A8B0}"/>
              </a:ext>
            </a:extLst>
          </p:cNvPr>
          <p:cNvSpPr>
            <a:spLocks xmlns:a="http://schemas.openxmlformats.org/drawingml/2006/main" noGrp="1"/>
          </p:cNvSpPr>
          <p:nvPr/>
        </p:nvSpPr>
        <p:spPr>
          <a:xfrm xmlns:a="http://schemas.openxmlformats.org/drawingml/2006/main">
            <a:off x="685800" y="1238250"/>
            <a:ext cx="5905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618"/>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Reentry Planning &amp; Community Reintegration</a:t>
            </a:r>
          </a:p>
        </p:txBody>
      </p:sp>
      <p:sp>
        <p:nvSpPr>
          <p:cNvPr id="3" name="">
            <a:extLst xmlns:a="http://schemas.openxmlformats.org/drawingml/2006/main">
              <a:ext uri="{FF2B5EF4-FFF2-40B4-BE49-F238E27FC236}">
                <a16:creationId xmlns:a16="http://schemas.microsoft.com/office/drawing/2014/main" id="{548B1B08-079F-47B4-A82B-210319E04366}"/>
              </a:ext>
            </a:extLst>
          </p:cNvPr>
          <p:cNvSpPr>
            <a:spLocks xmlns:a="http://schemas.openxmlformats.org/drawingml/2006/main" noGrp="1"/>
          </p:cNvSpPr>
          <p:nvPr/>
        </p:nvSpPr>
        <p:spPr>
          <a:xfrm xmlns:a="http://schemas.openxmlformats.org/drawingml/2006/main">
            <a:off x="704850" y="333375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School of Criminal Justice &amp; Forensic Social Work</a:t>
            </a:r>
          </a:p>
          <a:p xmlns:a="http://schemas.openxmlformats.org/drawingml/2006/main">
            <a:pPr>
              <a:defRPr sz="1500">
                <a:solidFill>
                  <a:srgbClr val="FFFFFF"/>
                </a:solidFill>
                <a:latin typeface="Arial"/>
                <a:ea typeface="Arial"/>
                <a:cs typeface="Arial"/>
              </a:defRPr>
            </a:pPr>
            <a:r>
              <a:rPr sz="1500">
                <a:solidFill>
                  <a:srgbClr val="FFFFFF"/>
                </a:solidFill>
                <a:latin typeface="Arial"/>
                <a:ea typeface="Arial"/>
                <a:cs typeface="Arial"/>
              </a:rPr>
              <a:t>undefined</a:t>
            </a:r>
          </a:p>
        </p:txBody>
      </p:sp>
      <p:sp>
        <p:nvSpPr>
          <p:cNvPr id="4" name="">
            <a:extLst xmlns:a="http://schemas.openxmlformats.org/drawingml/2006/main">
              <a:ext uri="{FF2B5EF4-FFF2-40B4-BE49-F238E27FC236}">
                <a16:creationId xmlns:a16="http://schemas.microsoft.com/office/drawing/2014/main" id="{9807395E-6B5A-45E8-8C32-4E8E3953C62B}"/>
              </a:ext>
            </a:extLst>
          </p:cNvPr>
          <p:cNvSpPr>
            <a:spLocks xmlns:a="http://schemas.openxmlformats.org/drawingml/2006/main" noGrp="1"/>
          </p:cNvSpPr>
          <p:nvPr/>
        </p:nvSpPr>
        <p:spPr>
          <a:xfrm xmlns:a="http://schemas.openxmlformats.org/drawingml/2006/main">
            <a:off x="704850" y="59531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SWEEP Academy</a:t>
            </a:r>
          </a:p>
        </p:txBody>
      </p:sp>
    </p:spTree>
    <p:extLst>
      <p:ext uri="{BB962C8B-B14F-4D97-AF65-F5344CB8AC3E}">
        <p14:creationId xmlns:p14="http://schemas.microsoft.com/office/powerpoint/2010/main" val="1881382551"/>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E7C39B-7C47-43FE-A3CA-896DDAE4E3E7}"/>
              </a:ext>
            </a:extLst>
          </p:cNvPr>
          <p:cNvSpPr>
            <a:spLocks xmlns:a="http://schemas.openxmlformats.org/drawingml/2006/main" noGrp="1"/>
          </p:cNvSpPr>
          <p:nvPr/>
        </p:nvSpPr>
        <p:spPr>
          <a:xfrm xmlns:a="http://schemas.openxmlformats.org/drawingml/2006/main">
            <a:off x="685800" y="647700"/>
            <a:ext cx="819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561"/>
          </a:bodyPr>
          <a:lstStyle xmlns:a="http://schemas.openxmlformats.org/drawingml/2006/main"/>
          <a:p xmlns:a="http://schemas.openxmlformats.org/drawingml/2006/main">
            <a:pPr>
              <a:defRPr sz="2850" b="1">
                <a:solidFill>
                  <a:srgbClr val="0B2C7A"/>
                </a:solidFill>
                <a:latin typeface="Arial"/>
                <a:ea typeface="Arial"/>
                <a:cs typeface="Arial"/>
              </a:defRPr>
            </a:pPr>
            <a:r>
              <a:rPr sz="2850" b="1">
                <a:solidFill>
                  <a:srgbClr val="0B2C7A"/>
                </a:solidFill>
                <a:latin typeface="Arial"/>
                <a:ea typeface="Arial"/>
                <a:cs typeface="Arial"/>
              </a:rPr>
              <a:t>Course outcome</a:t>
            </a:r>
          </a:p>
        </p:txBody>
      </p:sp>
      <p:sp>
        <p:nvSpPr>
          <p:cNvPr id="2" name="">
            <a:extLst xmlns:a="http://schemas.openxmlformats.org/drawingml/2006/main">
              <a:ext uri="{FF2B5EF4-FFF2-40B4-BE49-F238E27FC236}">
                <a16:creationId xmlns:a16="http://schemas.microsoft.com/office/drawing/2014/main" id="{FF52D170-ECC0-4ECE-AB76-5D9D84699A2D}"/>
              </a:ext>
            </a:extLst>
          </p:cNvPr>
          <p:cNvSpPr>
            <a:spLocks xmlns:a="http://schemas.openxmlformats.org/drawingml/2006/main" noGrp="1"/>
          </p:cNvSpPr>
          <p:nvPr/>
        </p:nvSpPr>
        <p:spPr>
          <a:xfrm xmlns:a="http://schemas.openxmlformats.org/drawingml/2006/main">
            <a:off x="685800" y="1676400"/>
            <a:ext cx="952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400" b="1">
                <a:solidFill>
                  <a:srgbClr val="17223B"/>
                </a:solidFill>
                <a:latin typeface="Arial"/>
                <a:ea typeface="Arial"/>
                <a:cs typeface="Arial"/>
              </a:defRPr>
            </a:pPr>
            <a:r>
              <a:rPr sz="2400" b="1">
                <a:solidFill>
                  <a:srgbClr val="17223B"/>
                </a:solidFill>
                <a:latin typeface="Arial"/>
                <a:ea typeface="Arial"/>
                <a:cs typeface="Arial"/>
              </a:rPr>
              <a:t>Build coordinated plans that support safe reentry after detention or incarceration.</a:t>
            </a:r>
          </a:p>
        </p:txBody>
      </p:sp>
      <p:sp>
        <p:nvSpPr>
          <p:cNvPr id="3" name="">
            <a:extLst xmlns:a="http://schemas.openxmlformats.org/drawingml/2006/main">
              <a:ext uri="{FF2B5EF4-FFF2-40B4-BE49-F238E27FC236}">
                <a16:creationId xmlns:a16="http://schemas.microsoft.com/office/drawing/2014/main" id="{E587D9C8-8DDA-472C-A061-5E3D26936692}"/>
              </a:ext>
            </a:extLst>
          </p:cNvPr>
          <p:cNvSpPr>
            <a:spLocks xmlns:a="http://schemas.openxmlformats.org/drawingml/2006/main" noGrp="1"/>
          </p:cNvSpPr>
          <p:nvPr/>
        </p:nvSpPr>
        <p:spPr>
          <a:xfrm xmlns:a="http://schemas.openxmlformats.org/drawingml/2006/main">
            <a:off x="685800" y="38100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Practice notice</a:t>
            </a:r>
          </a:p>
        </p:txBody>
      </p:sp>
      <p:sp>
        <p:nvSpPr>
          <p:cNvPr id="4" name="">
            <a:extLst xmlns:a="http://schemas.openxmlformats.org/drawingml/2006/main">
              <a:ext uri="{FF2B5EF4-FFF2-40B4-BE49-F238E27FC236}">
                <a16:creationId xmlns:a16="http://schemas.microsoft.com/office/drawing/2014/main" id="{8417A841-3970-49C5-8DE0-9298975BDBF0}"/>
              </a:ext>
            </a:extLst>
          </p:cNvPr>
          <p:cNvSpPr>
            <a:spLocks xmlns:a="http://schemas.openxmlformats.org/drawingml/2006/main" noGrp="1"/>
          </p:cNvSpPr>
          <p:nvPr/>
        </p:nvSpPr>
        <p:spPr>
          <a:xfrm xmlns:a="http://schemas.openxmlformats.org/drawingml/2006/main">
            <a:off x="685800" y="4286250"/>
            <a:ext cx="9906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a:solidFill>
                  <a:srgbClr val="17223B"/>
                </a:solidFill>
                <a:latin typeface="Arial"/>
                <a:ea typeface="Arial"/>
                <a:cs typeface="Arial"/>
              </a:defRPr>
            </a:pPr>
            <a:r>
              <a:rPr sz="1575">
                <a:solidFill>
                  <a:srgbClr val="17223B"/>
                </a:solidFill>
                <a:latin typeface="Arial"/>
                <a:ea typeface="Arial"/>
                <a:cs typeface="Arial"/>
              </a:rPr>
              <a:t>Apply the law, organisational policy, supervision requirements, and approved referral pathways that govern your setting. This course supports learning and does not replace urgent safeguarding, clinical, or legal procedures.</a:t>
            </a:r>
          </a:p>
        </p:txBody>
      </p:sp>
      <p:sp>
        <p:nvSpPr>
          <p:cNvPr id="5" name="">
            <a:extLst xmlns:a="http://schemas.openxmlformats.org/drawingml/2006/main">
              <a:ext uri="{FF2B5EF4-FFF2-40B4-BE49-F238E27FC236}">
                <a16:creationId xmlns:a16="http://schemas.microsoft.com/office/drawing/2014/main" id="{78CDE0F3-069E-40E3-BBD2-130BD0A09CEB}"/>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6" name="">
            <a:extLst xmlns:a="http://schemas.openxmlformats.org/drawingml/2006/main">
              <a:ext uri="{FF2B5EF4-FFF2-40B4-BE49-F238E27FC236}">
                <a16:creationId xmlns:a16="http://schemas.microsoft.com/office/drawing/2014/main" id="{35342A51-0CBC-4287-83DC-086574F0F144}"/>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02</a:t>
            </a:r>
          </a:p>
        </p:txBody>
      </p:sp>
    </p:spTree>
    <p:extLst>
      <p:ext uri="{BB962C8B-B14F-4D97-AF65-F5344CB8AC3E}">
        <p14:creationId xmlns:p14="http://schemas.microsoft.com/office/powerpoint/2010/main" val="17134413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3F7603-E745-4B9C-A726-E6404A9E4A50}"/>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1</a:t>
            </a:r>
          </a:p>
        </p:txBody>
      </p:sp>
      <p:sp>
        <p:nvSpPr>
          <p:cNvPr id="2" name="">
            <a:extLst xmlns:a="http://schemas.openxmlformats.org/drawingml/2006/main">
              <a:ext uri="{FF2B5EF4-FFF2-40B4-BE49-F238E27FC236}">
                <a16:creationId xmlns:a16="http://schemas.microsoft.com/office/drawing/2014/main" id="{5328FF05-F0FA-49DD-9EA8-5F94D27FDCD8}"/>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Reentry needs</a:t>
            </a:r>
          </a:p>
        </p:txBody>
      </p:sp>
      <p:sp>
        <p:nvSpPr>
          <p:cNvPr id="3" name="">
            <a:extLst xmlns:a="http://schemas.openxmlformats.org/drawingml/2006/main">
              <a:ext uri="{FF2B5EF4-FFF2-40B4-BE49-F238E27FC236}">
                <a16:creationId xmlns:a16="http://schemas.microsoft.com/office/drawing/2014/main" id="{180A2765-2F05-4B04-99EB-01DA91D4AB89}"/>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housing, employment, health, identification, family, stigma, legal obligations, and risk</a:t>
            </a:r>
          </a:p>
        </p:txBody>
      </p:sp>
      <p:sp>
        <p:nvSpPr>
          <p:cNvPr id="4" name="">
            <a:extLst xmlns:a="http://schemas.openxmlformats.org/drawingml/2006/main">
              <a:ext uri="{FF2B5EF4-FFF2-40B4-BE49-F238E27FC236}">
                <a16:creationId xmlns:a16="http://schemas.microsoft.com/office/drawing/2014/main" id="{830EE6BA-ED46-4CBC-9BBF-FA23F635E0AC}"/>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housing, employment, health, identification, family, stigma, legal obligations, and risk.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65B1B845-2EFF-488E-806E-459E4A466297}"/>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EC10964C-A47A-497A-8981-86FD64FC5E9D}"/>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6AE01DD4-8776-411E-8009-83D12C21E1C9}"/>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03</a:t>
            </a:r>
          </a:p>
        </p:txBody>
      </p:sp>
    </p:spTree>
    <p:extLst>
      <p:ext uri="{BB962C8B-B14F-4D97-AF65-F5344CB8AC3E}">
        <p14:creationId xmlns:p14="http://schemas.microsoft.com/office/powerpoint/2010/main" val="13730133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C72827-A6BC-4C13-BEA9-C806300CD232}"/>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2</a:t>
            </a:r>
          </a:p>
        </p:txBody>
      </p:sp>
      <p:sp>
        <p:nvSpPr>
          <p:cNvPr id="2" name="">
            <a:extLst xmlns:a="http://schemas.openxmlformats.org/drawingml/2006/main">
              <a:ext uri="{FF2B5EF4-FFF2-40B4-BE49-F238E27FC236}">
                <a16:creationId xmlns:a16="http://schemas.microsoft.com/office/drawing/2014/main" id="{46490FDE-24A8-4938-9F88-643309580F09}"/>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Planning before release</a:t>
            </a:r>
          </a:p>
        </p:txBody>
      </p:sp>
      <p:sp>
        <p:nvSpPr>
          <p:cNvPr id="3" name="">
            <a:extLst xmlns:a="http://schemas.openxmlformats.org/drawingml/2006/main">
              <a:ext uri="{FF2B5EF4-FFF2-40B4-BE49-F238E27FC236}">
                <a16:creationId xmlns:a16="http://schemas.microsoft.com/office/drawing/2014/main" id="{719AA0AF-9AEE-449B-ADDF-B56DCA79338A}"/>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assessment, goal setting, records transfer, benefits, family preparation, and warm referrals</a:t>
            </a:r>
          </a:p>
        </p:txBody>
      </p:sp>
      <p:sp>
        <p:nvSpPr>
          <p:cNvPr id="4" name="">
            <a:extLst xmlns:a="http://schemas.openxmlformats.org/drawingml/2006/main">
              <a:ext uri="{FF2B5EF4-FFF2-40B4-BE49-F238E27FC236}">
                <a16:creationId xmlns:a16="http://schemas.microsoft.com/office/drawing/2014/main" id="{5C22E5FE-5E2C-4A55-97B5-035FE68AD7F2}"/>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assessment, goal setting, records transfer, benefits, family preparation, and warm referrals.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FDB9D3AB-1F6A-4756-9118-91A65F71CBC4}"/>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2D57E9C8-E339-4C4F-9689-FAEEEF4DEC73}"/>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436C57A5-FB94-4FCA-B3D9-2BCD7FF4A5CB}"/>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04</a:t>
            </a:r>
          </a:p>
        </p:txBody>
      </p:sp>
    </p:spTree>
    <p:extLst>
      <p:ext uri="{BB962C8B-B14F-4D97-AF65-F5344CB8AC3E}">
        <p14:creationId xmlns:p14="http://schemas.microsoft.com/office/powerpoint/2010/main" val="4938868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B353EA7-0B1A-41E3-98D8-E1539BF5E9BD}"/>
              </a:ext>
            </a:extLst>
          </p:cNvPr>
          <p:cNvSpPr>
            <a:spLocks xmlns:a="http://schemas.openxmlformats.org/drawingml/2006/main" noGrp="1"/>
          </p:cNvSpPr>
          <p:nvPr/>
        </p:nvSpPr>
        <p:spPr>
          <a:xfrm xmlns:a="http://schemas.openxmlformats.org/drawingml/2006/main">
            <a:off x="685800" y="590550"/>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1">
                <a:solidFill>
                  <a:srgbClr val="4C8B1D"/>
                </a:solidFill>
                <a:latin typeface="Arial"/>
                <a:ea typeface="Arial"/>
                <a:cs typeface="Arial"/>
              </a:defRPr>
            </a:pPr>
            <a:r>
              <a:rPr sz="1500" b="1">
                <a:solidFill>
                  <a:srgbClr val="4C8B1D"/>
                </a:solidFill>
                <a:latin typeface="Arial"/>
                <a:ea typeface="Arial"/>
                <a:cs typeface="Arial"/>
              </a:rPr>
              <a:t>Module 3</a:t>
            </a:r>
          </a:p>
        </p:txBody>
      </p:sp>
      <p:sp>
        <p:nvSpPr>
          <p:cNvPr id="2" name="">
            <a:extLst xmlns:a="http://schemas.openxmlformats.org/drawingml/2006/main">
              <a:ext uri="{FF2B5EF4-FFF2-40B4-BE49-F238E27FC236}">
                <a16:creationId xmlns:a16="http://schemas.microsoft.com/office/drawing/2014/main" id="{761C7CE4-6358-4BD4-8D08-E8FC66B18DD9}"/>
              </a:ext>
            </a:extLst>
          </p:cNvPr>
          <p:cNvSpPr>
            <a:spLocks xmlns:a="http://schemas.openxmlformats.org/drawingml/2006/main" noGrp="1"/>
          </p:cNvSpPr>
          <p:nvPr/>
        </p:nvSpPr>
        <p:spPr>
          <a:xfrm xmlns:a="http://schemas.openxmlformats.org/drawingml/2006/main">
            <a:off x="685800" y="1047750"/>
            <a:ext cx="933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2C7A"/>
                </a:solidFill>
                <a:latin typeface="Arial"/>
                <a:ea typeface="Arial"/>
                <a:cs typeface="Arial"/>
              </a:defRPr>
            </a:pPr>
            <a:r>
              <a:rPr sz="3000" b="1">
                <a:solidFill>
                  <a:srgbClr val="0B2C7A"/>
                </a:solidFill>
                <a:latin typeface="Arial"/>
                <a:ea typeface="Arial"/>
                <a:cs typeface="Arial"/>
              </a:rPr>
              <a:t>Community follow-up</a:t>
            </a:r>
          </a:p>
        </p:txBody>
      </p:sp>
      <p:sp>
        <p:nvSpPr>
          <p:cNvPr id="3" name="">
            <a:extLst xmlns:a="http://schemas.openxmlformats.org/drawingml/2006/main">
              <a:ext uri="{FF2B5EF4-FFF2-40B4-BE49-F238E27FC236}">
                <a16:creationId xmlns:a16="http://schemas.microsoft.com/office/drawing/2014/main" id="{6B59FB33-6A5A-464B-8833-DCB016D9900A}"/>
              </a:ext>
            </a:extLst>
          </p:cNvPr>
          <p:cNvSpPr>
            <a:spLocks xmlns:a="http://schemas.openxmlformats.org/drawingml/2006/main" noGrp="1"/>
          </p:cNvSpPr>
          <p:nvPr/>
        </p:nvSpPr>
        <p:spPr>
          <a:xfrm xmlns:a="http://schemas.openxmlformats.org/drawingml/2006/main">
            <a:off x="685800" y="2333625"/>
            <a:ext cx="1009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17223B"/>
                </a:solidFill>
                <a:latin typeface="Arial"/>
                <a:ea typeface="Arial"/>
                <a:cs typeface="Arial"/>
              </a:defRPr>
            </a:pPr>
            <a:r>
              <a:rPr sz="1875" b="1">
                <a:solidFill>
                  <a:srgbClr val="17223B"/>
                </a:solidFill>
                <a:latin typeface="Arial"/>
                <a:ea typeface="Arial"/>
                <a:cs typeface="Arial"/>
              </a:rPr>
              <a:t>continuity of care, peer support, crisis response, progress review, and advocacy</a:t>
            </a:r>
          </a:p>
        </p:txBody>
      </p:sp>
      <p:sp>
        <p:nvSpPr>
          <p:cNvPr id="4" name="">
            <a:extLst xmlns:a="http://schemas.openxmlformats.org/drawingml/2006/main">
              <a:ext uri="{FF2B5EF4-FFF2-40B4-BE49-F238E27FC236}">
                <a16:creationId xmlns:a16="http://schemas.microsoft.com/office/drawing/2014/main" id="{A366769B-4DD6-42DA-A163-A0EE1D6E0C35}"/>
              </a:ext>
            </a:extLst>
          </p:cNvPr>
          <p:cNvSpPr>
            <a:spLocks xmlns:a="http://schemas.openxmlformats.org/drawingml/2006/main" noGrp="1"/>
          </p:cNvSpPr>
          <p:nvPr/>
        </p:nvSpPr>
        <p:spPr>
          <a:xfrm xmlns:a="http://schemas.openxmlformats.org/drawingml/2006/main">
            <a:off x="685800" y="3714750"/>
            <a:ext cx="1000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This module covers continuity of care, peer support, crisis response, progress review, and advocacy. Work from the learner guide to separate observed information from assumptions, involve the person or community appropriately, and use supervision or local policy when the decision falls outside your authority.</a:t>
            </a:r>
          </a:p>
        </p:txBody>
      </p:sp>
      <p:sp>
        <p:nvSpPr>
          <p:cNvPr id="5" name="">
            <a:extLst xmlns:a="http://schemas.openxmlformats.org/drawingml/2006/main">
              <a:ext uri="{FF2B5EF4-FFF2-40B4-BE49-F238E27FC236}">
                <a16:creationId xmlns:a16="http://schemas.microsoft.com/office/drawing/2014/main" id="{F320B211-D50E-4ED5-A9B3-4A18C5DB02F2}"/>
              </a:ext>
            </a:extLst>
          </p:cNvPr>
          <p:cNvSpPr>
            <a:spLocks xmlns:a="http://schemas.openxmlformats.org/drawingml/2006/main" noGrp="1"/>
          </p:cNvSpPr>
          <p:nvPr/>
        </p:nvSpPr>
        <p:spPr>
          <a:xfrm xmlns:a="http://schemas.openxmlformats.org/drawingml/2006/main">
            <a:off x="685800" y="5381625"/>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a:solidFill>
                  <a:srgbClr val="52617D"/>
                </a:solidFill>
                <a:latin typeface="Arial"/>
                <a:ea typeface="Arial"/>
                <a:cs typeface="Arial"/>
              </a:defRPr>
            </a:pPr>
            <a:r>
              <a:rPr sz="1350">
                <a:solidFill>
                  <a:srgbClr val="52617D"/>
                </a:solidFill>
                <a:latin typeface="Arial"/>
                <a:ea typeface="Arial"/>
                <a:cs typeface="Arial"/>
              </a:rPr>
              <a:t>Reflection: What information do you need to verify, and where would your local procedure set a limit or escalation point?</a:t>
            </a:r>
          </a:p>
        </p:txBody>
      </p:sp>
      <p:sp>
        <p:nvSpPr>
          <p:cNvPr id="6" name="">
            <a:extLst xmlns:a="http://schemas.openxmlformats.org/drawingml/2006/main">
              <a:ext uri="{FF2B5EF4-FFF2-40B4-BE49-F238E27FC236}">
                <a16:creationId xmlns:a16="http://schemas.microsoft.com/office/drawing/2014/main" id="{9999C8F6-FD10-4F64-B8AA-63E5227D207E}"/>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F0CA21D3-902C-438A-BB7A-66EDE3B162F7}"/>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05</a:t>
            </a:r>
          </a:p>
        </p:txBody>
      </p:sp>
    </p:spTree>
    <p:extLst>
      <p:ext uri="{BB962C8B-B14F-4D97-AF65-F5344CB8AC3E}">
        <p14:creationId xmlns:p14="http://schemas.microsoft.com/office/powerpoint/2010/main" val="394096055"/>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31DB95-BDDD-49A9-B4A3-E415232812E0}"/>
              </a:ext>
            </a:extLst>
          </p:cNvPr>
          <p:cNvSpPr>
            <a:spLocks xmlns:a="http://schemas.openxmlformats.org/drawingml/2006/main" noGrp="1"/>
          </p:cNvSpPr>
          <p:nvPr/>
        </p:nvSpPr>
        <p:spPr>
          <a:xfrm xmlns:a="http://schemas.openxmlformats.org/drawingml/2006/main">
            <a:off x="685800" y="6477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700" b="1">
                <a:solidFill>
                  <a:srgbClr val="0B2C7A"/>
                </a:solidFill>
                <a:latin typeface="Arial"/>
                <a:ea typeface="Arial"/>
                <a:cs typeface="Arial"/>
              </a:defRPr>
            </a:pPr>
            <a:r>
              <a:rPr sz="2700" b="1">
                <a:solidFill>
                  <a:srgbClr val="0B2C7A"/>
                </a:solidFill>
                <a:latin typeface="Arial"/>
                <a:ea typeface="Arial"/>
                <a:cs typeface="Arial"/>
              </a:rPr>
              <a:t>Practice activity and assessment preparation</a:t>
            </a:r>
          </a:p>
        </p:txBody>
      </p:sp>
      <p:sp>
        <p:nvSpPr>
          <p:cNvPr id="2" name="">
            <a:extLst xmlns:a="http://schemas.openxmlformats.org/drawingml/2006/main">
              <a:ext uri="{FF2B5EF4-FFF2-40B4-BE49-F238E27FC236}">
                <a16:creationId xmlns:a16="http://schemas.microsoft.com/office/drawing/2014/main" id="{9508318B-445B-4D43-8F4A-93ECA3883602}"/>
              </a:ext>
            </a:extLst>
          </p:cNvPr>
          <p:cNvSpPr>
            <a:spLocks xmlns:a="http://schemas.openxmlformats.org/drawingml/2006/main" noGrp="1"/>
          </p:cNvSpPr>
          <p:nvPr/>
        </p:nvSpPr>
        <p:spPr>
          <a:xfrm xmlns:a="http://schemas.openxmlformats.org/drawingml/2006/main">
            <a:off x="685800" y="1695450"/>
            <a:ext cx="990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7223B"/>
                </a:solidFill>
                <a:latin typeface="Arial"/>
                <a:ea typeface="Arial"/>
                <a:cs typeface="Arial"/>
              </a:defRPr>
            </a:pPr>
            <a:r>
              <a:rPr sz="1800">
                <a:solidFill>
                  <a:srgbClr val="17223B"/>
                </a:solidFill>
                <a:latin typeface="Arial"/>
                <a:ea typeface="Arial"/>
                <a:cs typeface="Arial"/>
              </a:rPr>
              <a:t>Use the course worksheet to apply the three modules to a de-identified case. Describe what you notice, the action that sits within your role, and what needs consultation, referral, or verification.</a:t>
            </a:r>
          </a:p>
        </p:txBody>
      </p:sp>
      <p:sp>
        <p:nvSpPr>
          <p:cNvPr id="3" name="">
            <a:extLst xmlns:a="http://schemas.openxmlformats.org/drawingml/2006/main">
              <a:ext uri="{FF2B5EF4-FFF2-40B4-BE49-F238E27FC236}">
                <a16:creationId xmlns:a16="http://schemas.microsoft.com/office/drawing/2014/main" id="{D892EBFA-8D2A-421C-8CB9-BDFA1E8FE160}"/>
              </a:ext>
            </a:extLst>
          </p:cNvPr>
          <p:cNvSpPr>
            <a:spLocks xmlns:a="http://schemas.openxmlformats.org/drawingml/2006/main" noGrp="1"/>
          </p:cNvSpPr>
          <p:nvPr/>
        </p:nvSpPr>
        <p:spPr>
          <a:xfrm xmlns:a="http://schemas.openxmlformats.org/drawingml/2006/main">
            <a:off x="685800" y="3524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4C8B1D"/>
                </a:solidFill>
                <a:latin typeface="Arial"/>
                <a:ea typeface="Arial"/>
                <a:cs typeface="Arial"/>
              </a:defRPr>
            </a:pPr>
            <a:r>
              <a:rPr sz="1650" b="1">
                <a:solidFill>
                  <a:srgbClr val="4C8B1D"/>
                </a:solidFill>
                <a:latin typeface="Arial"/>
                <a:ea typeface="Arial"/>
                <a:cs typeface="Arial"/>
              </a:rPr>
              <a:t>Assessment focus</a:t>
            </a:r>
          </a:p>
        </p:txBody>
      </p:sp>
      <p:sp>
        <p:nvSpPr>
          <p:cNvPr id="4" name="">
            <a:extLst xmlns:a="http://schemas.openxmlformats.org/drawingml/2006/main">
              <a:ext uri="{FF2B5EF4-FFF2-40B4-BE49-F238E27FC236}">
                <a16:creationId xmlns:a16="http://schemas.microsoft.com/office/drawing/2014/main" id="{8540E6C7-9B23-499B-B439-4E73A99FDD75}"/>
              </a:ext>
            </a:extLst>
          </p:cNvPr>
          <p:cNvSpPr>
            <a:spLocks xmlns:a="http://schemas.openxmlformats.org/drawingml/2006/main" noGrp="1"/>
          </p:cNvSpPr>
          <p:nvPr/>
        </p:nvSpPr>
        <p:spPr>
          <a:xfrm xmlns:a="http://schemas.openxmlformats.org/drawingml/2006/main">
            <a:off x="685800" y="4048125"/>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1. needs assessment</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2. pre-release planning</a:t>
            </a:r>
          </a:p>
          <a:p xmlns:a="http://schemas.openxmlformats.org/drawingml/2006/main">
            <a:pPr>
              <a:defRPr sz="1650">
                <a:solidFill>
                  <a:srgbClr val="17223B"/>
                </a:solidFill>
                <a:latin typeface="Arial"/>
                <a:ea typeface="Arial"/>
                <a:cs typeface="Arial"/>
              </a:defRPr>
            </a:pPr>
            <a:r>
              <a:rPr sz="1650">
                <a:solidFill>
                  <a:srgbClr val="17223B"/>
                </a:solidFill>
                <a:latin typeface="Arial"/>
                <a:ea typeface="Arial"/>
                <a:cs typeface="Arial"/>
              </a:rPr>
              <a:t>3. continuity of care</a:t>
            </a:r>
          </a:p>
        </p:txBody>
      </p:sp>
      <p:sp>
        <p:nvSpPr>
          <p:cNvPr id="5" name="">
            <a:extLst xmlns:a="http://schemas.openxmlformats.org/drawingml/2006/main">
              <a:ext uri="{FF2B5EF4-FFF2-40B4-BE49-F238E27FC236}">
                <a16:creationId xmlns:a16="http://schemas.microsoft.com/office/drawing/2014/main" id="{7EAB7BC3-4744-4615-9239-2F2F2CA5F9A4}"/>
              </a:ext>
            </a:extLst>
          </p:cNvPr>
          <p:cNvSpPr>
            <a:spLocks xmlns:a="http://schemas.openxmlformats.org/drawingml/2006/main" noGrp="1"/>
          </p:cNvSpPr>
          <p:nvPr/>
        </p:nvSpPr>
        <p:spPr>
          <a:xfrm xmlns:a="http://schemas.openxmlformats.org/drawingml/2006/main">
            <a:off x="685800" y="563880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350" b="1">
                <a:solidFill>
                  <a:srgbClr val="F5A400"/>
                </a:solidFill>
                <a:latin typeface="Arial"/>
                <a:ea typeface="Arial"/>
                <a:cs typeface="Arial"/>
              </a:defRPr>
            </a:pPr>
            <a:r>
              <a:rPr sz="1350" b="1">
                <a:solidFill>
                  <a:srgbClr val="F5A400"/>
                </a:solidFill>
                <a:latin typeface="Arial"/>
                <a:ea typeface="Arial"/>
                <a:cs typeface="Arial"/>
              </a:rPr>
              <a:t>Pass mark: 70%</a:t>
            </a:r>
          </a:p>
        </p:txBody>
      </p:sp>
      <p:sp>
        <p:nvSpPr>
          <p:cNvPr id="6" name="">
            <a:extLst xmlns:a="http://schemas.openxmlformats.org/drawingml/2006/main">
              <a:ext uri="{FF2B5EF4-FFF2-40B4-BE49-F238E27FC236}">
                <a16:creationId xmlns:a16="http://schemas.microsoft.com/office/drawing/2014/main" id="{EF4B3D0B-51F0-4EA5-B279-BB0E34D28792}"/>
              </a:ext>
            </a:extLst>
          </p:cNvPr>
          <p:cNvSpPr>
            <a:spLocks xmlns:a="http://schemas.openxmlformats.org/drawingml/2006/main" noGrp="1"/>
          </p:cNvSpPr>
          <p:nvPr/>
        </p:nvSpPr>
        <p:spPr>
          <a:xfrm xmlns:a="http://schemas.openxmlformats.org/drawingml/2006/main">
            <a:off x="666750" y="6419850"/>
            <a:ext cx="571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defRPr sz="900">
                <a:solidFill>
                  <a:srgbClr val="52617D"/>
                </a:solidFill>
                <a:latin typeface="Arial"/>
                <a:ea typeface="Arial"/>
                <a:cs typeface="Arial"/>
              </a:defRPr>
            </a:pPr>
            <a:r>
              <a:rPr sz="900">
                <a:solidFill>
                  <a:srgbClr val="52617D"/>
                </a:solidFill>
                <a:latin typeface="Arial"/>
                <a:ea typeface="Arial"/>
                <a:cs typeface="Arial"/>
              </a:rPr>
              <a:t>undefined   SWEEP Academy</a:t>
            </a:r>
          </a:p>
        </p:txBody>
      </p:sp>
      <p:sp>
        <p:nvSpPr>
          <p:cNvPr id="7" name="">
            <a:extLst xmlns:a="http://schemas.openxmlformats.org/drawingml/2006/main">
              <a:ext uri="{FF2B5EF4-FFF2-40B4-BE49-F238E27FC236}">
                <a16:creationId xmlns:a16="http://schemas.microsoft.com/office/drawing/2014/main" id="{48EB2E77-CE56-4CBE-8B7B-7BF585AD83A8}"/>
              </a:ext>
            </a:extLst>
          </p:cNvPr>
          <p:cNvSpPr>
            <a:spLocks xmlns:a="http://schemas.openxmlformats.org/drawingml/2006/main" noGrp="1"/>
          </p:cNvSpPr>
          <p:nvPr/>
        </p:nvSpPr>
        <p:spPr>
          <a:xfrm xmlns:a="http://schemas.openxmlformats.org/drawingml/2006/main">
            <a:off x="11049000" y="6419850"/>
            <a:ext cx="47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r">
              <a:defRPr sz="900">
                <a:solidFill>
                  <a:srgbClr val="52617D"/>
                </a:solidFill>
                <a:latin typeface="Arial"/>
                <a:ea typeface="Arial"/>
                <a:cs typeface="Arial"/>
              </a:defRPr>
            </a:pPr>
            <a:r>
              <a:rPr sz="900">
                <a:solidFill>
                  <a:srgbClr val="52617D"/>
                </a:solidFill>
                <a:latin typeface="Arial"/>
                <a:ea typeface="Arial"/>
                <a:cs typeface="Arial"/>
              </a:rPr>
              <a:t>06</a:t>
            </a:r>
          </a:p>
        </p:txBody>
      </p:sp>
    </p:spTree>
    <p:extLst>
      <p:ext uri="{BB962C8B-B14F-4D97-AF65-F5344CB8AC3E}">
        <p14:creationId xmlns:p14="http://schemas.microsoft.com/office/powerpoint/2010/main" val="10610488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2026-10-03T16:23:04.3980000Z</dcterms:created>
  <dcterms:modified xsi:type="dcterms:W3CDTF">2026-10-03T16:23:04.3980000Z</dcterms:modified>
</coreProperties>
</file>